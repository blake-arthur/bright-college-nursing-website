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9" r:id="rId3"/>
    <p:sldMasterId id="2147483691" r:id="rId4"/>
    <p:sldMasterId id="2147483703" r:id="rId5"/>
    <p:sldMasterId id="2147483715" r:id="rId6"/>
    <p:sldMasterId id="2147483727" r:id="rId7"/>
    <p:sldMasterId id="2147483739" r:id="rId8"/>
  </p:sldMasterIdLst>
  <p:notesMasterIdLst>
    <p:notesMasterId r:id="rId107"/>
  </p:notesMasterIdLst>
  <p:sldIdLst>
    <p:sldId id="374" r:id="rId9"/>
    <p:sldId id="292" r:id="rId10"/>
    <p:sldId id="293" r:id="rId11"/>
    <p:sldId id="294" r:id="rId12"/>
    <p:sldId id="295" r:id="rId13"/>
    <p:sldId id="296" r:id="rId14"/>
    <p:sldId id="297" r:id="rId15"/>
    <p:sldId id="298" r:id="rId16"/>
    <p:sldId id="299" r:id="rId17"/>
    <p:sldId id="300" r:id="rId18"/>
    <p:sldId id="301" r:id="rId19"/>
    <p:sldId id="302" r:id="rId20"/>
    <p:sldId id="304" r:id="rId21"/>
    <p:sldId id="368" r:id="rId22"/>
    <p:sldId id="306" r:id="rId23"/>
    <p:sldId id="307" r:id="rId24"/>
    <p:sldId id="308" r:id="rId25"/>
    <p:sldId id="309" r:id="rId26"/>
    <p:sldId id="310" r:id="rId27"/>
    <p:sldId id="311" r:id="rId28"/>
    <p:sldId id="312" r:id="rId29"/>
    <p:sldId id="313" r:id="rId30"/>
    <p:sldId id="314" r:id="rId31"/>
    <p:sldId id="316" r:id="rId32"/>
    <p:sldId id="317" r:id="rId33"/>
    <p:sldId id="318" r:id="rId34"/>
    <p:sldId id="369" r:id="rId35"/>
    <p:sldId id="370" r:id="rId36"/>
    <p:sldId id="371" r:id="rId37"/>
    <p:sldId id="324" r:id="rId38"/>
    <p:sldId id="325" r:id="rId39"/>
    <p:sldId id="326" r:id="rId40"/>
    <p:sldId id="327" r:id="rId41"/>
    <p:sldId id="328" r:id="rId42"/>
    <p:sldId id="329" r:id="rId43"/>
    <p:sldId id="330" r:id="rId44"/>
    <p:sldId id="331" r:id="rId45"/>
    <p:sldId id="332" r:id="rId46"/>
    <p:sldId id="333" r:id="rId47"/>
    <p:sldId id="334" r:id="rId48"/>
    <p:sldId id="335" r:id="rId49"/>
    <p:sldId id="336" r:id="rId50"/>
    <p:sldId id="337" r:id="rId51"/>
    <p:sldId id="339" r:id="rId52"/>
    <p:sldId id="340" r:id="rId53"/>
    <p:sldId id="341" r:id="rId54"/>
    <p:sldId id="342" r:id="rId55"/>
    <p:sldId id="343" r:id="rId56"/>
    <p:sldId id="344" r:id="rId57"/>
    <p:sldId id="345" r:id="rId58"/>
    <p:sldId id="346" r:id="rId59"/>
    <p:sldId id="347" r:id="rId60"/>
    <p:sldId id="348" r:id="rId61"/>
    <p:sldId id="349" r:id="rId62"/>
    <p:sldId id="350" r:id="rId63"/>
    <p:sldId id="351" r:id="rId64"/>
    <p:sldId id="352" r:id="rId65"/>
    <p:sldId id="353" r:id="rId66"/>
    <p:sldId id="354" r:id="rId67"/>
    <p:sldId id="355" r:id="rId68"/>
    <p:sldId id="356" r:id="rId69"/>
    <p:sldId id="357" r:id="rId70"/>
    <p:sldId id="358" r:id="rId71"/>
    <p:sldId id="359" r:id="rId72"/>
    <p:sldId id="360" r:id="rId73"/>
    <p:sldId id="361" r:id="rId74"/>
    <p:sldId id="362" r:id="rId75"/>
    <p:sldId id="363" r:id="rId76"/>
    <p:sldId id="364" r:id="rId77"/>
    <p:sldId id="365" r:id="rId78"/>
    <p:sldId id="366" r:id="rId79"/>
    <p:sldId id="256" r:id="rId80"/>
    <p:sldId id="257" r:id="rId81"/>
    <p:sldId id="258" r:id="rId82"/>
    <p:sldId id="259" r:id="rId83"/>
    <p:sldId id="270" r:id="rId84"/>
    <p:sldId id="269" r:id="rId85"/>
    <p:sldId id="260" r:id="rId86"/>
    <p:sldId id="261" r:id="rId87"/>
    <p:sldId id="262" r:id="rId88"/>
    <p:sldId id="263" r:id="rId89"/>
    <p:sldId id="264" r:id="rId90"/>
    <p:sldId id="267" r:id="rId91"/>
    <p:sldId id="265" r:id="rId92"/>
    <p:sldId id="271" r:id="rId93"/>
    <p:sldId id="272" r:id="rId94"/>
    <p:sldId id="273" r:id="rId95"/>
    <p:sldId id="274" r:id="rId96"/>
    <p:sldId id="277" r:id="rId97"/>
    <p:sldId id="283" r:id="rId98"/>
    <p:sldId id="284" r:id="rId99"/>
    <p:sldId id="373" r:id="rId100"/>
    <p:sldId id="286" r:id="rId101"/>
    <p:sldId id="287" r:id="rId102"/>
    <p:sldId id="282" r:id="rId103"/>
    <p:sldId id="372" r:id="rId104"/>
    <p:sldId id="367" r:id="rId105"/>
    <p:sldId id="289"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32" autoAdjust="0"/>
  </p:normalViewPr>
  <p:slideViewPr>
    <p:cSldViewPr snapToGrid="0">
      <p:cViewPr varScale="1">
        <p:scale>
          <a:sx n="75" d="100"/>
          <a:sy n="75" d="100"/>
        </p:scale>
        <p:origin x="72" y="312"/>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6" Type="http://schemas.openxmlformats.org/officeDocument/2006/relationships/slide" Target="slides/slide8.xml"/><Relationship Id="rId107" Type="http://schemas.openxmlformats.org/officeDocument/2006/relationships/notesMaster" Target="notesMasters/notesMaster1.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presProps" Target="presProps.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6" Type="http://schemas.openxmlformats.org/officeDocument/2006/relationships/slide" Target="slides/slide98.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viewProps" Target="viewProps.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theme" Target="theme/theme1.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157E6D-C8F9-47D0-91C6-B6D8854C3E60}"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789BD3DD-1BC2-4484-AC38-22D3FA21E7C4}">
      <dgm:prSet/>
      <dgm:spPr/>
      <dgm:t>
        <a:bodyPr/>
        <a:lstStyle/>
        <a:p>
          <a:r>
            <a:rPr lang="en-AU" b="1"/>
            <a:t>Dummies,pacifiers,bottles</a:t>
          </a:r>
          <a:endParaRPr lang="en-US"/>
        </a:p>
      </dgm:t>
    </dgm:pt>
    <dgm:pt modelId="{71017251-FFC2-48B4-B2F4-095A7951C1FB}" type="parTrans" cxnId="{F5AFD18B-B6E3-4F2E-BD1A-D32F4E202FA3}">
      <dgm:prSet/>
      <dgm:spPr/>
      <dgm:t>
        <a:bodyPr/>
        <a:lstStyle/>
        <a:p>
          <a:endParaRPr lang="en-US"/>
        </a:p>
      </dgm:t>
    </dgm:pt>
    <dgm:pt modelId="{F2B23B6B-2C8D-464E-B2C0-0791B03AC8CB}" type="sibTrans" cxnId="{F5AFD18B-B6E3-4F2E-BD1A-D32F4E202FA3}">
      <dgm:prSet/>
      <dgm:spPr/>
      <dgm:t>
        <a:bodyPr/>
        <a:lstStyle/>
        <a:p>
          <a:endParaRPr lang="en-US"/>
        </a:p>
      </dgm:t>
    </dgm:pt>
    <dgm:pt modelId="{4DA79DC6-E2BF-4432-AC3E-1B19DA157D47}">
      <dgm:prSet/>
      <dgm:spPr/>
      <dgm:t>
        <a:bodyPr/>
        <a:lstStyle/>
        <a:p>
          <a:r>
            <a:rPr lang="en-AU" b="1" dirty="0"/>
            <a:t>Supplements: sugar water, gripe water, honey, breast milk substitutes </a:t>
          </a:r>
          <a:endParaRPr lang="en-US" dirty="0"/>
        </a:p>
      </dgm:t>
    </dgm:pt>
    <dgm:pt modelId="{283DEB8F-52BF-431D-AE1C-E803A0F0291F}" type="parTrans" cxnId="{781472F7-4767-44E6-847B-A8C2A9831E0E}">
      <dgm:prSet/>
      <dgm:spPr/>
      <dgm:t>
        <a:bodyPr/>
        <a:lstStyle/>
        <a:p>
          <a:endParaRPr lang="en-US"/>
        </a:p>
      </dgm:t>
    </dgm:pt>
    <dgm:pt modelId="{9229F724-B35A-48F6-AD72-F324ADEAFE24}" type="sibTrans" cxnId="{781472F7-4767-44E6-847B-A8C2A9831E0E}">
      <dgm:prSet/>
      <dgm:spPr/>
      <dgm:t>
        <a:bodyPr/>
        <a:lstStyle/>
        <a:p>
          <a:endParaRPr lang="en-US"/>
        </a:p>
      </dgm:t>
    </dgm:pt>
    <dgm:pt modelId="{53E143DA-D6C5-4E7C-B8B9-C61692D58875}">
      <dgm:prSet/>
      <dgm:spPr/>
      <dgm:t>
        <a:bodyPr/>
        <a:lstStyle/>
        <a:p>
          <a:r>
            <a:rPr lang="en-AU" b="1"/>
            <a:t>Painful breast conditions:sore,cracked nipples</a:t>
          </a:r>
          <a:endParaRPr lang="en-US"/>
        </a:p>
      </dgm:t>
    </dgm:pt>
    <dgm:pt modelId="{219016C3-6A52-489F-B03C-79A7415B4901}" type="parTrans" cxnId="{3895B973-D2DB-4691-A636-5E0F93A8B091}">
      <dgm:prSet/>
      <dgm:spPr/>
      <dgm:t>
        <a:bodyPr/>
        <a:lstStyle/>
        <a:p>
          <a:endParaRPr lang="en-US"/>
        </a:p>
      </dgm:t>
    </dgm:pt>
    <dgm:pt modelId="{88BFE3B6-3C0D-4E93-9B86-49D67BAB0F8C}" type="sibTrans" cxnId="{3895B973-D2DB-4691-A636-5E0F93A8B091}">
      <dgm:prSet/>
      <dgm:spPr/>
      <dgm:t>
        <a:bodyPr/>
        <a:lstStyle/>
        <a:p>
          <a:endParaRPr lang="en-US"/>
        </a:p>
      </dgm:t>
    </dgm:pt>
    <dgm:pt modelId="{AF67751A-E439-4240-9713-E27EB45033B4}">
      <dgm:prSet/>
      <dgm:spPr/>
      <dgm:t>
        <a:bodyPr/>
        <a:lstStyle/>
        <a:p>
          <a:r>
            <a:rPr lang="en-AU" b="1"/>
            <a:t>Lack of night feeding</a:t>
          </a:r>
          <a:endParaRPr lang="en-US"/>
        </a:p>
      </dgm:t>
    </dgm:pt>
    <dgm:pt modelId="{B6629A4D-041C-48EC-842B-AF2CEC43EED9}" type="parTrans" cxnId="{A01C8EAE-4CCA-4F87-AAB2-FB19630AF800}">
      <dgm:prSet/>
      <dgm:spPr/>
      <dgm:t>
        <a:bodyPr/>
        <a:lstStyle/>
        <a:p>
          <a:endParaRPr lang="en-US"/>
        </a:p>
      </dgm:t>
    </dgm:pt>
    <dgm:pt modelId="{3B0A9943-6B6E-477C-86E0-0DCF2EF97F85}" type="sibTrans" cxnId="{A01C8EAE-4CCA-4F87-AAB2-FB19630AF800}">
      <dgm:prSet/>
      <dgm:spPr/>
      <dgm:t>
        <a:bodyPr/>
        <a:lstStyle/>
        <a:p>
          <a:endParaRPr lang="en-US"/>
        </a:p>
      </dgm:t>
    </dgm:pt>
    <dgm:pt modelId="{EAA8E629-D5BF-438A-BAB4-4CB02146571A}" type="pres">
      <dgm:prSet presAssocID="{F4157E6D-C8F9-47D0-91C6-B6D8854C3E60}" presName="linear" presStyleCnt="0">
        <dgm:presLayoutVars>
          <dgm:animLvl val="lvl"/>
          <dgm:resizeHandles val="exact"/>
        </dgm:presLayoutVars>
      </dgm:prSet>
      <dgm:spPr/>
    </dgm:pt>
    <dgm:pt modelId="{617596F6-0BE0-4F9F-8EA7-9A31EE83E2AB}" type="pres">
      <dgm:prSet presAssocID="{789BD3DD-1BC2-4484-AC38-22D3FA21E7C4}" presName="parentText" presStyleLbl="node1" presStyleIdx="0" presStyleCnt="4">
        <dgm:presLayoutVars>
          <dgm:chMax val="0"/>
          <dgm:bulletEnabled val="1"/>
        </dgm:presLayoutVars>
      </dgm:prSet>
      <dgm:spPr/>
    </dgm:pt>
    <dgm:pt modelId="{4A10B2AF-C5AA-45B3-8D5A-F4EAC8E66C46}" type="pres">
      <dgm:prSet presAssocID="{F2B23B6B-2C8D-464E-B2C0-0791B03AC8CB}" presName="spacer" presStyleCnt="0"/>
      <dgm:spPr/>
    </dgm:pt>
    <dgm:pt modelId="{45139D58-C437-431B-9E54-ABA34CAD0E4E}" type="pres">
      <dgm:prSet presAssocID="{4DA79DC6-E2BF-4432-AC3E-1B19DA157D47}" presName="parentText" presStyleLbl="node1" presStyleIdx="1" presStyleCnt="4">
        <dgm:presLayoutVars>
          <dgm:chMax val="0"/>
          <dgm:bulletEnabled val="1"/>
        </dgm:presLayoutVars>
      </dgm:prSet>
      <dgm:spPr/>
    </dgm:pt>
    <dgm:pt modelId="{2A7DD885-BF42-4813-84B4-292666A4C586}" type="pres">
      <dgm:prSet presAssocID="{9229F724-B35A-48F6-AD72-F324ADEAFE24}" presName="spacer" presStyleCnt="0"/>
      <dgm:spPr/>
    </dgm:pt>
    <dgm:pt modelId="{9088CB8A-35D6-4AA9-8B85-60589CD918A9}" type="pres">
      <dgm:prSet presAssocID="{53E143DA-D6C5-4E7C-B8B9-C61692D58875}" presName="parentText" presStyleLbl="node1" presStyleIdx="2" presStyleCnt="4">
        <dgm:presLayoutVars>
          <dgm:chMax val="0"/>
          <dgm:bulletEnabled val="1"/>
        </dgm:presLayoutVars>
      </dgm:prSet>
      <dgm:spPr/>
    </dgm:pt>
    <dgm:pt modelId="{2C0BE69E-F987-4836-B29D-9612A444D581}" type="pres">
      <dgm:prSet presAssocID="{88BFE3B6-3C0D-4E93-9B86-49D67BAB0F8C}" presName="spacer" presStyleCnt="0"/>
      <dgm:spPr/>
    </dgm:pt>
    <dgm:pt modelId="{C16E8B99-D41D-444B-A226-D3CA1C063E3E}" type="pres">
      <dgm:prSet presAssocID="{AF67751A-E439-4240-9713-E27EB45033B4}" presName="parentText" presStyleLbl="node1" presStyleIdx="3" presStyleCnt="4">
        <dgm:presLayoutVars>
          <dgm:chMax val="0"/>
          <dgm:bulletEnabled val="1"/>
        </dgm:presLayoutVars>
      </dgm:prSet>
      <dgm:spPr/>
    </dgm:pt>
  </dgm:ptLst>
  <dgm:cxnLst>
    <dgm:cxn modelId="{C4D82205-0534-42DF-95E5-5BD0B4931653}" type="presOf" srcId="{F4157E6D-C8F9-47D0-91C6-B6D8854C3E60}" destId="{EAA8E629-D5BF-438A-BAB4-4CB02146571A}" srcOrd="0" destOrd="0" presId="urn:microsoft.com/office/officeart/2005/8/layout/vList2"/>
    <dgm:cxn modelId="{7D066326-ECE8-4BB6-AA24-91E106941CEA}" type="presOf" srcId="{789BD3DD-1BC2-4484-AC38-22D3FA21E7C4}" destId="{617596F6-0BE0-4F9F-8EA7-9A31EE83E2AB}" srcOrd="0" destOrd="0" presId="urn:microsoft.com/office/officeart/2005/8/layout/vList2"/>
    <dgm:cxn modelId="{3895B973-D2DB-4691-A636-5E0F93A8B091}" srcId="{F4157E6D-C8F9-47D0-91C6-B6D8854C3E60}" destId="{53E143DA-D6C5-4E7C-B8B9-C61692D58875}" srcOrd="2" destOrd="0" parTransId="{219016C3-6A52-489F-B03C-79A7415B4901}" sibTransId="{88BFE3B6-3C0D-4E93-9B86-49D67BAB0F8C}"/>
    <dgm:cxn modelId="{33F70180-FA8A-4FFC-807B-44F8636E5889}" type="presOf" srcId="{AF67751A-E439-4240-9713-E27EB45033B4}" destId="{C16E8B99-D41D-444B-A226-D3CA1C063E3E}" srcOrd="0" destOrd="0" presId="urn:microsoft.com/office/officeart/2005/8/layout/vList2"/>
    <dgm:cxn modelId="{F5AFD18B-B6E3-4F2E-BD1A-D32F4E202FA3}" srcId="{F4157E6D-C8F9-47D0-91C6-B6D8854C3E60}" destId="{789BD3DD-1BC2-4484-AC38-22D3FA21E7C4}" srcOrd="0" destOrd="0" parTransId="{71017251-FFC2-48B4-B2F4-095A7951C1FB}" sibTransId="{F2B23B6B-2C8D-464E-B2C0-0791B03AC8CB}"/>
    <dgm:cxn modelId="{A01C8EAE-4CCA-4F87-AAB2-FB19630AF800}" srcId="{F4157E6D-C8F9-47D0-91C6-B6D8854C3E60}" destId="{AF67751A-E439-4240-9713-E27EB45033B4}" srcOrd="3" destOrd="0" parTransId="{B6629A4D-041C-48EC-842B-AF2CEC43EED9}" sibTransId="{3B0A9943-6B6E-477C-86E0-0DCF2EF97F85}"/>
    <dgm:cxn modelId="{FBAA58B5-B80D-4A27-9796-54DC8757C43C}" type="presOf" srcId="{53E143DA-D6C5-4E7C-B8B9-C61692D58875}" destId="{9088CB8A-35D6-4AA9-8B85-60589CD918A9}" srcOrd="0" destOrd="0" presId="urn:microsoft.com/office/officeart/2005/8/layout/vList2"/>
    <dgm:cxn modelId="{D6CD8BE5-A1E9-4635-B480-1B8D38BF5719}" type="presOf" srcId="{4DA79DC6-E2BF-4432-AC3E-1B19DA157D47}" destId="{45139D58-C437-431B-9E54-ABA34CAD0E4E}" srcOrd="0" destOrd="0" presId="urn:microsoft.com/office/officeart/2005/8/layout/vList2"/>
    <dgm:cxn modelId="{781472F7-4767-44E6-847B-A8C2A9831E0E}" srcId="{F4157E6D-C8F9-47D0-91C6-B6D8854C3E60}" destId="{4DA79DC6-E2BF-4432-AC3E-1B19DA157D47}" srcOrd="1" destOrd="0" parTransId="{283DEB8F-52BF-431D-AE1C-E803A0F0291F}" sibTransId="{9229F724-B35A-48F6-AD72-F324ADEAFE24}"/>
    <dgm:cxn modelId="{27F42C14-3C0F-4728-9101-6D493E9E5785}" type="presParOf" srcId="{EAA8E629-D5BF-438A-BAB4-4CB02146571A}" destId="{617596F6-0BE0-4F9F-8EA7-9A31EE83E2AB}" srcOrd="0" destOrd="0" presId="urn:microsoft.com/office/officeart/2005/8/layout/vList2"/>
    <dgm:cxn modelId="{09978175-75C7-4AFE-AD0C-055DC9934960}" type="presParOf" srcId="{EAA8E629-D5BF-438A-BAB4-4CB02146571A}" destId="{4A10B2AF-C5AA-45B3-8D5A-F4EAC8E66C46}" srcOrd="1" destOrd="0" presId="urn:microsoft.com/office/officeart/2005/8/layout/vList2"/>
    <dgm:cxn modelId="{5FCAA600-2973-4374-83F6-B0D330023ED9}" type="presParOf" srcId="{EAA8E629-D5BF-438A-BAB4-4CB02146571A}" destId="{45139D58-C437-431B-9E54-ABA34CAD0E4E}" srcOrd="2" destOrd="0" presId="urn:microsoft.com/office/officeart/2005/8/layout/vList2"/>
    <dgm:cxn modelId="{B333A916-D448-40A8-B507-B32C55EBAAC5}" type="presParOf" srcId="{EAA8E629-D5BF-438A-BAB4-4CB02146571A}" destId="{2A7DD885-BF42-4813-84B4-292666A4C586}" srcOrd="3" destOrd="0" presId="urn:microsoft.com/office/officeart/2005/8/layout/vList2"/>
    <dgm:cxn modelId="{134DFA8A-A102-4FF3-ADF2-B7D674D01CF8}" type="presParOf" srcId="{EAA8E629-D5BF-438A-BAB4-4CB02146571A}" destId="{9088CB8A-35D6-4AA9-8B85-60589CD918A9}" srcOrd="4" destOrd="0" presId="urn:microsoft.com/office/officeart/2005/8/layout/vList2"/>
    <dgm:cxn modelId="{C14AAF5A-C48B-4D01-B508-497971BC53AA}" type="presParOf" srcId="{EAA8E629-D5BF-438A-BAB4-4CB02146571A}" destId="{2C0BE69E-F987-4836-B29D-9612A444D581}" srcOrd="5" destOrd="0" presId="urn:microsoft.com/office/officeart/2005/8/layout/vList2"/>
    <dgm:cxn modelId="{8E744ADD-919A-44F1-9E15-5A3E980D948A}" type="presParOf" srcId="{EAA8E629-D5BF-438A-BAB4-4CB02146571A}" destId="{C16E8B99-D41D-444B-A226-D3CA1C063E3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D896C9-0278-48FB-9313-58B4D3ECCC61}" type="doc">
      <dgm:prSet loTypeId="urn:microsoft.com/office/officeart/2005/8/layout/orgChart1" loCatId="hierarchy" qsTypeId="urn:microsoft.com/office/officeart/2005/8/quickstyle/simple2" qsCatId="simple" csTypeId="urn:microsoft.com/office/officeart/2005/8/colors/colorful1" csCatId="colorful"/>
      <dgm:spPr/>
    </dgm:pt>
    <dgm:pt modelId="{896045B8-F3DB-4277-ACA1-E6D1E8E4BD64}">
      <dgm:prSet/>
      <dgm:spPr/>
      <dgm:t>
        <a:body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effectLst/>
              <a:latin typeface="Arial" panose="020B0604020202020204" pitchFamily="34" charset="0"/>
              <a:cs typeface="Arial" panose="020B0604020202020204" pitchFamily="34" charset="0"/>
            </a:rPr>
            <a:t>Advantages</a:t>
          </a:r>
        </a:p>
      </dgm:t>
    </dgm:pt>
    <dgm:pt modelId="{891E0492-8694-4933-B66A-4B7F44726C77}" type="parTrans" cxnId="{A303650D-B784-4E52-B352-9072401974FB}">
      <dgm:prSet/>
      <dgm:spPr/>
    </dgm:pt>
    <dgm:pt modelId="{5A3C67F6-8EB7-40D2-BA0E-6B9FE2A22B3D}" type="sibTrans" cxnId="{A303650D-B784-4E52-B352-9072401974FB}">
      <dgm:prSet/>
      <dgm:spPr/>
    </dgm:pt>
    <dgm:pt modelId="{5B1FEBFB-49DF-4B13-B830-5765834F96CD}">
      <dgm:prSet/>
      <dgm:spPr/>
      <dgm:t>
        <a:body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effectLst/>
              <a:latin typeface="Arial" panose="020B0604020202020204" pitchFamily="34" charset="0"/>
              <a:cs typeface="Arial" panose="020B0604020202020204" pitchFamily="34" charset="0"/>
            </a:rPr>
            <a:t>Baby</a:t>
          </a:r>
        </a:p>
      </dgm:t>
    </dgm:pt>
    <dgm:pt modelId="{A185FF02-9331-401D-B8FF-7F0FB9C02698}" type="parTrans" cxnId="{4990D77D-14E3-41D8-8E31-FC94023A2833}">
      <dgm:prSet/>
      <dgm:spPr/>
    </dgm:pt>
    <dgm:pt modelId="{131D76B7-9959-4B2F-8F8B-6F9A5EC8E023}" type="sibTrans" cxnId="{4990D77D-14E3-41D8-8E31-FC94023A2833}">
      <dgm:prSet/>
      <dgm:spPr/>
    </dgm:pt>
    <dgm:pt modelId="{F6BC94F2-8A1D-49CF-86DB-F288A23D9734}">
      <dgm:prSet/>
      <dgm:spPr/>
      <dgm:t>
        <a:body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effectLst/>
              <a:latin typeface="Arial" panose="020B0604020202020204" pitchFamily="34" charset="0"/>
              <a:cs typeface="Arial" panose="020B0604020202020204" pitchFamily="34" charset="0"/>
            </a:rPr>
            <a:t>Mother</a:t>
          </a:r>
        </a:p>
      </dgm:t>
    </dgm:pt>
    <dgm:pt modelId="{7FA2C38F-C503-493A-9997-512697E4480F}" type="parTrans" cxnId="{E3C35BC4-F1D1-4768-AF81-15E98A7A3A09}">
      <dgm:prSet/>
      <dgm:spPr/>
    </dgm:pt>
    <dgm:pt modelId="{F9A5A782-97BE-4872-B887-7C891AE1D6F9}" type="sibTrans" cxnId="{E3C35BC4-F1D1-4768-AF81-15E98A7A3A09}">
      <dgm:prSet/>
      <dgm:spPr/>
    </dgm:pt>
    <dgm:pt modelId="{FDCCCB99-ECB6-4D89-ADF0-8F5E63B57829}">
      <dgm:prSet/>
      <dgm:spPr/>
      <dgm:t>
        <a:body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effectLst/>
              <a:latin typeface="Arial" panose="020B0604020202020204" pitchFamily="34" charset="0"/>
              <a:cs typeface="Arial" panose="020B0604020202020204" pitchFamily="34" charset="0"/>
            </a:rPr>
            <a:t>Family</a:t>
          </a:r>
        </a:p>
      </dgm:t>
    </dgm:pt>
    <dgm:pt modelId="{4307417F-7794-4A57-97F5-2012A1008B72}" type="parTrans" cxnId="{3E50062D-7756-4AFF-BEA6-2817C52F9E47}">
      <dgm:prSet/>
      <dgm:spPr/>
    </dgm:pt>
    <dgm:pt modelId="{84362D15-A13F-4C95-B2E0-AF285302A491}" type="sibTrans" cxnId="{3E50062D-7756-4AFF-BEA6-2817C52F9E47}">
      <dgm:prSet/>
      <dgm:spPr/>
    </dgm:pt>
    <dgm:pt modelId="{82E1EEC2-87C2-407F-A8D0-F020AEA77466}" type="pres">
      <dgm:prSet presAssocID="{CDD896C9-0278-48FB-9313-58B4D3ECCC61}" presName="hierChild1" presStyleCnt="0">
        <dgm:presLayoutVars>
          <dgm:orgChart val="1"/>
          <dgm:chPref val="1"/>
          <dgm:dir/>
          <dgm:animOne val="branch"/>
          <dgm:animLvl val="lvl"/>
          <dgm:resizeHandles/>
        </dgm:presLayoutVars>
      </dgm:prSet>
      <dgm:spPr/>
    </dgm:pt>
    <dgm:pt modelId="{9EF458F9-1137-41B0-B9AE-714B602A36BC}" type="pres">
      <dgm:prSet presAssocID="{896045B8-F3DB-4277-ACA1-E6D1E8E4BD64}" presName="hierRoot1" presStyleCnt="0">
        <dgm:presLayoutVars>
          <dgm:hierBranch val="init"/>
        </dgm:presLayoutVars>
      </dgm:prSet>
      <dgm:spPr/>
    </dgm:pt>
    <dgm:pt modelId="{7AD3C140-6E2D-4A6D-9A88-3D5FC6709F5C}" type="pres">
      <dgm:prSet presAssocID="{896045B8-F3DB-4277-ACA1-E6D1E8E4BD64}" presName="rootComposite1" presStyleCnt="0"/>
      <dgm:spPr/>
    </dgm:pt>
    <dgm:pt modelId="{D44E1392-FB72-421B-954E-988E7709D97C}" type="pres">
      <dgm:prSet presAssocID="{896045B8-F3DB-4277-ACA1-E6D1E8E4BD64}" presName="rootText1" presStyleLbl="node0" presStyleIdx="0" presStyleCnt="1">
        <dgm:presLayoutVars>
          <dgm:chPref val="3"/>
        </dgm:presLayoutVars>
      </dgm:prSet>
      <dgm:spPr/>
    </dgm:pt>
    <dgm:pt modelId="{EE7FF6A9-26EC-4752-9B5B-EB7ED3ECD348}" type="pres">
      <dgm:prSet presAssocID="{896045B8-F3DB-4277-ACA1-E6D1E8E4BD64}" presName="rootConnector1" presStyleLbl="node1" presStyleIdx="0" presStyleCnt="0"/>
      <dgm:spPr/>
    </dgm:pt>
    <dgm:pt modelId="{234B7CBB-9B93-496A-864F-36CA0E29A77D}" type="pres">
      <dgm:prSet presAssocID="{896045B8-F3DB-4277-ACA1-E6D1E8E4BD64}" presName="hierChild2" presStyleCnt="0"/>
      <dgm:spPr/>
    </dgm:pt>
    <dgm:pt modelId="{8ABC85F3-2F12-4281-8625-18F65F24C921}" type="pres">
      <dgm:prSet presAssocID="{A185FF02-9331-401D-B8FF-7F0FB9C02698}" presName="Name37" presStyleLbl="parChTrans1D2" presStyleIdx="0" presStyleCnt="3"/>
      <dgm:spPr/>
    </dgm:pt>
    <dgm:pt modelId="{C2034BC4-7D0A-4490-97D3-8483A99AA9AC}" type="pres">
      <dgm:prSet presAssocID="{5B1FEBFB-49DF-4B13-B830-5765834F96CD}" presName="hierRoot2" presStyleCnt="0">
        <dgm:presLayoutVars>
          <dgm:hierBranch val="init"/>
        </dgm:presLayoutVars>
      </dgm:prSet>
      <dgm:spPr/>
    </dgm:pt>
    <dgm:pt modelId="{1481BD66-6B2B-472C-9F6F-271150157039}" type="pres">
      <dgm:prSet presAssocID="{5B1FEBFB-49DF-4B13-B830-5765834F96CD}" presName="rootComposite" presStyleCnt="0"/>
      <dgm:spPr/>
    </dgm:pt>
    <dgm:pt modelId="{9309A3BA-11DB-4CC8-86C1-DE95A3F7A475}" type="pres">
      <dgm:prSet presAssocID="{5B1FEBFB-49DF-4B13-B830-5765834F96CD}" presName="rootText" presStyleLbl="node2" presStyleIdx="0" presStyleCnt="3">
        <dgm:presLayoutVars>
          <dgm:chPref val="3"/>
        </dgm:presLayoutVars>
      </dgm:prSet>
      <dgm:spPr/>
    </dgm:pt>
    <dgm:pt modelId="{CB2C1492-9CE5-499B-A820-C17D923BD924}" type="pres">
      <dgm:prSet presAssocID="{5B1FEBFB-49DF-4B13-B830-5765834F96CD}" presName="rootConnector" presStyleLbl="node2" presStyleIdx="0" presStyleCnt="3"/>
      <dgm:spPr/>
    </dgm:pt>
    <dgm:pt modelId="{76A53661-1F06-40E1-8511-9B6DAB058027}" type="pres">
      <dgm:prSet presAssocID="{5B1FEBFB-49DF-4B13-B830-5765834F96CD}" presName="hierChild4" presStyleCnt="0"/>
      <dgm:spPr/>
    </dgm:pt>
    <dgm:pt modelId="{B4D9CAFD-11A6-4F79-B037-A4BC09B008B5}" type="pres">
      <dgm:prSet presAssocID="{5B1FEBFB-49DF-4B13-B830-5765834F96CD}" presName="hierChild5" presStyleCnt="0"/>
      <dgm:spPr/>
    </dgm:pt>
    <dgm:pt modelId="{3AD8DD6A-6E85-4231-8FA1-490FB33A285A}" type="pres">
      <dgm:prSet presAssocID="{7FA2C38F-C503-493A-9997-512697E4480F}" presName="Name37" presStyleLbl="parChTrans1D2" presStyleIdx="1" presStyleCnt="3"/>
      <dgm:spPr/>
    </dgm:pt>
    <dgm:pt modelId="{CA1E4628-3A60-4F7E-9727-98745960A36D}" type="pres">
      <dgm:prSet presAssocID="{F6BC94F2-8A1D-49CF-86DB-F288A23D9734}" presName="hierRoot2" presStyleCnt="0">
        <dgm:presLayoutVars>
          <dgm:hierBranch val="init"/>
        </dgm:presLayoutVars>
      </dgm:prSet>
      <dgm:spPr/>
    </dgm:pt>
    <dgm:pt modelId="{7B8F262E-C0CA-46F3-BEC2-02DCEEEB9119}" type="pres">
      <dgm:prSet presAssocID="{F6BC94F2-8A1D-49CF-86DB-F288A23D9734}" presName="rootComposite" presStyleCnt="0"/>
      <dgm:spPr/>
    </dgm:pt>
    <dgm:pt modelId="{63BD1D0F-DEF6-4B9E-996E-B3AFADCF8117}" type="pres">
      <dgm:prSet presAssocID="{F6BC94F2-8A1D-49CF-86DB-F288A23D9734}" presName="rootText" presStyleLbl="node2" presStyleIdx="1" presStyleCnt="3">
        <dgm:presLayoutVars>
          <dgm:chPref val="3"/>
        </dgm:presLayoutVars>
      </dgm:prSet>
      <dgm:spPr/>
    </dgm:pt>
    <dgm:pt modelId="{E704083A-8F35-421C-BE7A-01915B3EFE57}" type="pres">
      <dgm:prSet presAssocID="{F6BC94F2-8A1D-49CF-86DB-F288A23D9734}" presName="rootConnector" presStyleLbl="node2" presStyleIdx="1" presStyleCnt="3"/>
      <dgm:spPr/>
    </dgm:pt>
    <dgm:pt modelId="{6CB1BDC8-6A93-4962-A93E-4DC0F59B0B97}" type="pres">
      <dgm:prSet presAssocID="{F6BC94F2-8A1D-49CF-86DB-F288A23D9734}" presName="hierChild4" presStyleCnt="0"/>
      <dgm:spPr/>
    </dgm:pt>
    <dgm:pt modelId="{5C1A3B75-ABEB-4639-9847-585AA38FD7CE}" type="pres">
      <dgm:prSet presAssocID="{F6BC94F2-8A1D-49CF-86DB-F288A23D9734}" presName="hierChild5" presStyleCnt="0"/>
      <dgm:spPr/>
    </dgm:pt>
    <dgm:pt modelId="{28730E99-0657-400A-89EB-67ABFB7377F2}" type="pres">
      <dgm:prSet presAssocID="{4307417F-7794-4A57-97F5-2012A1008B72}" presName="Name37" presStyleLbl="parChTrans1D2" presStyleIdx="2" presStyleCnt="3"/>
      <dgm:spPr/>
    </dgm:pt>
    <dgm:pt modelId="{A0638955-805A-4262-BCB8-DC8E212BBE00}" type="pres">
      <dgm:prSet presAssocID="{FDCCCB99-ECB6-4D89-ADF0-8F5E63B57829}" presName="hierRoot2" presStyleCnt="0">
        <dgm:presLayoutVars>
          <dgm:hierBranch val="init"/>
        </dgm:presLayoutVars>
      </dgm:prSet>
      <dgm:spPr/>
    </dgm:pt>
    <dgm:pt modelId="{D9F536EE-1DF9-4121-B356-DE6989F6304F}" type="pres">
      <dgm:prSet presAssocID="{FDCCCB99-ECB6-4D89-ADF0-8F5E63B57829}" presName="rootComposite" presStyleCnt="0"/>
      <dgm:spPr/>
    </dgm:pt>
    <dgm:pt modelId="{D867C235-1E77-4423-812A-F3757D18FA40}" type="pres">
      <dgm:prSet presAssocID="{FDCCCB99-ECB6-4D89-ADF0-8F5E63B57829}" presName="rootText" presStyleLbl="node2" presStyleIdx="2" presStyleCnt="3">
        <dgm:presLayoutVars>
          <dgm:chPref val="3"/>
        </dgm:presLayoutVars>
      </dgm:prSet>
      <dgm:spPr/>
    </dgm:pt>
    <dgm:pt modelId="{6B0CB223-C608-4D6A-8D70-17810E4DEB36}" type="pres">
      <dgm:prSet presAssocID="{FDCCCB99-ECB6-4D89-ADF0-8F5E63B57829}" presName="rootConnector" presStyleLbl="node2" presStyleIdx="2" presStyleCnt="3"/>
      <dgm:spPr/>
    </dgm:pt>
    <dgm:pt modelId="{A40B22F6-BF50-4585-B6D5-25570ECA6941}" type="pres">
      <dgm:prSet presAssocID="{FDCCCB99-ECB6-4D89-ADF0-8F5E63B57829}" presName="hierChild4" presStyleCnt="0"/>
      <dgm:spPr/>
    </dgm:pt>
    <dgm:pt modelId="{4E7F002D-B89B-4A70-981D-DA2459C6F8FB}" type="pres">
      <dgm:prSet presAssocID="{FDCCCB99-ECB6-4D89-ADF0-8F5E63B57829}" presName="hierChild5" presStyleCnt="0"/>
      <dgm:spPr/>
    </dgm:pt>
    <dgm:pt modelId="{7ADE65C7-7792-4166-B386-71FCB10BF2F9}" type="pres">
      <dgm:prSet presAssocID="{896045B8-F3DB-4277-ACA1-E6D1E8E4BD64}" presName="hierChild3" presStyleCnt="0"/>
      <dgm:spPr/>
    </dgm:pt>
  </dgm:ptLst>
  <dgm:cxnLst>
    <dgm:cxn modelId="{A303650D-B784-4E52-B352-9072401974FB}" srcId="{CDD896C9-0278-48FB-9313-58B4D3ECCC61}" destId="{896045B8-F3DB-4277-ACA1-E6D1E8E4BD64}" srcOrd="0" destOrd="0" parTransId="{891E0492-8694-4933-B66A-4B7F44726C77}" sibTransId="{5A3C67F6-8EB7-40D2-BA0E-6B9FE2A22B3D}"/>
    <dgm:cxn modelId="{7811372B-8F9F-450A-97EB-DE83886BD4C6}" type="presOf" srcId="{CDD896C9-0278-48FB-9313-58B4D3ECCC61}" destId="{82E1EEC2-87C2-407F-A8D0-F020AEA77466}" srcOrd="0" destOrd="0" presId="urn:microsoft.com/office/officeart/2005/8/layout/orgChart1"/>
    <dgm:cxn modelId="{3E50062D-7756-4AFF-BEA6-2817C52F9E47}" srcId="{896045B8-F3DB-4277-ACA1-E6D1E8E4BD64}" destId="{FDCCCB99-ECB6-4D89-ADF0-8F5E63B57829}" srcOrd="2" destOrd="0" parTransId="{4307417F-7794-4A57-97F5-2012A1008B72}" sibTransId="{84362D15-A13F-4C95-B2E0-AF285302A491}"/>
    <dgm:cxn modelId="{B37A7666-06A6-42AE-BDBA-6B2DD530F795}" type="presOf" srcId="{F6BC94F2-8A1D-49CF-86DB-F288A23D9734}" destId="{63BD1D0F-DEF6-4B9E-996E-B3AFADCF8117}" srcOrd="0" destOrd="0" presId="urn:microsoft.com/office/officeart/2005/8/layout/orgChart1"/>
    <dgm:cxn modelId="{5AE59B6B-B13C-40C4-8CDB-8EC1E84878DE}" type="presOf" srcId="{7FA2C38F-C503-493A-9997-512697E4480F}" destId="{3AD8DD6A-6E85-4231-8FA1-490FB33A285A}" srcOrd="0" destOrd="0" presId="urn:microsoft.com/office/officeart/2005/8/layout/orgChart1"/>
    <dgm:cxn modelId="{D15A0E4D-8662-427D-AC01-237DB3CDBA1A}" type="presOf" srcId="{4307417F-7794-4A57-97F5-2012A1008B72}" destId="{28730E99-0657-400A-89EB-67ABFB7377F2}" srcOrd="0" destOrd="0" presId="urn:microsoft.com/office/officeart/2005/8/layout/orgChart1"/>
    <dgm:cxn modelId="{4990D77D-14E3-41D8-8E31-FC94023A2833}" srcId="{896045B8-F3DB-4277-ACA1-E6D1E8E4BD64}" destId="{5B1FEBFB-49DF-4B13-B830-5765834F96CD}" srcOrd="0" destOrd="0" parTransId="{A185FF02-9331-401D-B8FF-7F0FB9C02698}" sibTransId="{131D76B7-9959-4B2F-8F8B-6F9A5EC8E023}"/>
    <dgm:cxn modelId="{765AFB7D-E855-4219-B8AD-8095CAB246B8}" type="presOf" srcId="{5B1FEBFB-49DF-4B13-B830-5765834F96CD}" destId="{CB2C1492-9CE5-499B-A820-C17D923BD924}" srcOrd="1" destOrd="0" presId="urn:microsoft.com/office/officeart/2005/8/layout/orgChart1"/>
    <dgm:cxn modelId="{448CC786-019A-4C91-A01F-9ABFCF46BA48}" type="presOf" srcId="{5B1FEBFB-49DF-4B13-B830-5765834F96CD}" destId="{9309A3BA-11DB-4CC8-86C1-DE95A3F7A475}" srcOrd="0" destOrd="0" presId="urn:microsoft.com/office/officeart/2005/8/layout/orgChart1"/>
    <dgm:cxn modelId="{5E5EAEA5-9C5D-4C14-B096-DE02201DCB2C}" type="presOf" srcId="{FDCCCB99-ECB6-4D89-ADF0-8F5E63B57829}" destId="{6B0CB223-C608-4D6A-8D70-17810E4DEB36}" srcOrd="1" destOrd="0" presId="urn:microsoft.com/office/officeart/2005/8/layout/orgChart1"/>
    <dgm:cxn modelId="{A6987DBB-4AC8-46D1-A7AE-065059CA6963}" type="presOf" srcId="{F6BC94F2-8A1D-49CF-86DB-F288A23D9734}" destId="{E704083A-8F35-421C-BE7A-01915B3EFE57}" srcOrd="1" destOrd="0" presId="urn:microsoft.com/office/officeart/2005/8/layout/orgChart1"/>
    <dgm:cxn modelId="{E3C35BC4-F1D1-4768-AF81-15E98A7A3A09}" srcId="{896045B8-F3DB-4277-ACA1-E6D1E8E4BD64}" destId="{F6BC94F2-8A1D-49CF-86DB-F288A23D9734}" srcOrd="1" destOrd="0" parTransId="{7FA2C38F-C503-493A-9997-512697E4480F}" sibTransId="{F9A5A782-97BE-4872-B887-7C891AE1D6F9}"/>
    <dgm:cxn modelId="{621961C5-4FD0-45A8-A325-DB2425C2DF47}" type="presOf" srcId="{896045B8-F3DB-4277-ACA1-E6D1E8E4BD64}" destId="{EE7FF6A9-26EC-4752-9B5B-EB7ED3ECD348}" srcOrd="1" destOrd="0" presId="urn:microsoft.com/office/officeart/2005/8/layout/orgChart1"/>
    <dgm:cxn modelId="{FC724DDF-883E-4192-B9FE-6C7F3A644FF4}" type="presOf" srcId="{896045B8-F3DB-4277-ACA1-E6D1E8E4BD64}" destId="{D44E1392-FB72-421B-954E-988E7709D97C}" srcOrd="0" destOrd="0" presId="urn:microsoft.com/office/officeart/2005/8/layout/orgChart1"/>
    <dgm:cxn modelId="{B0148BE1-ED0D-43D0-BF00-BD911AB0FDF9}" type="presOf" srcId="{A185FF02-9331-401D-B8FF-7F0FB9C02698}" destId="{8ABC85F3-2F12-4281-8625-18F65F24C921}" srcOrd="0" destOrd="0" presId="urn:microsoft.com/office/officeart/2005/8/layout/orgChart1"/>
    <dgm:cxn modelId="{665764E4-BD6E-4749-BA31-4980D21BDA7D}" type="presOf" srcId="{FDCCCB99-ECB6-4D89-ADF0-8F5E63B57829}" destId="{D867C235-1E77-4423-812A-F3757D18FA40}" srcOrd="0" destOrd="0" presId="urn:microsoft.com/office/officeart/2005/8/layout/orgChart1"/>
    <dgm:cxn modelId="{45E5B938-5D7C-476E-9C1D-62B9A2D428D0}" type="presParOf" srcId="{82E1EEC2-87C2-407F-A8D0-F020AEA77466}" destId="{9EF458F9-1137-41B0-B9AE-714B602A36BC}" srcOrd="0" destOrd="0" presId="urn:microsoft.com/office/officeart/2005/8/layout/orgChart1"/>
    <dgm:cxn modelId="{054E50E3-9CA7-4624-9903-790FEF24D044}" type="presParOf" srcId="{9EF458F9-1137-41B0-B9AE-714B602A36BC}" destId="{7AD3C140-6E2D-4A6D-9A88-3D5FC6709F5C}" srcOrd="0" destOrd="0" presId="urn:microsoft.com/office/officeart/2005/8/layout/orgChart1"/>
    <dgm:cxn modelId="{D8B1DB0B-B77F-460D-B2F1-EF4DC69123F4}" type="presParOf" srcId="{7AD3C140-6E2D-4A6D-9A88-3D5FC6709F5C}" destId="{D44E1392-FB72-421B-954E-988E7709D97C}" srcOrd="0" destOrd="0" presId="urn:microsoft.com/office/officeart/2005/8/layout/orgChart1"/>
    <dgm:cxn modelId="{46EDA18C-A1A4-48B5-8B35-4227A9C4E8FC}" type="presParOf" srcId="{7AD3C140-6E2D-4A6D-9A88-3D5FC6709F5C}" destId="{EE7FF6A9-26EC-4752-9B5B-EB7ED3ECD348}" srcOrd="1" destOrd="0" presId="urn:microsoft.com/office/officeart/2005/8/layout/orgChart1"/>
    <dgm:cxn modelId="{5F96882E-19D9-4AFA-A3F2-F8D37BA51C7F}" type="presParOf" srcId="{9EF458F9-1137-41B0-B9AE-714B602A36BC}" destId="{234B7CBB-9B93-496A-864F-36CA0E29A77D}" srcOrd="1" destOrd="0" presId="urn:microsoft.com/office/officeart/2005/8/layout/orgChart1"/>
    <dgm:cxn modelId="{238C5328-5206-40A0-8E2E-F0DCA5408635}" type="presParOf" srcId="{234B7CBB-9B93-496A-864F-36CA0E29A77D}" destId="{8ABC85F3-2F12-4281-8625-18F65F24C921}" srcOrd="0" destOrd="0" presId="urn:microsoft.com/office/officeart/2005/8/layout/orgChart1"/>
    <dgm:cxn modelId="{F59A0799-5CA0-4A43-8DCA-B2482E7E103C}" type="presParOf" srcId="{234B7CBB-9B93-496A-864F-36CA0E29A77D}" destId="{C2034BC4-7D0A-4490-97D3-8483A99AA9AC}" srcOrd="1" destOrd="0" presId="urn:microsoft.com/office/officeart/2005/8/layout/orgChart1"/>
    <dgm:cxn modelId="{7C4D2C6F-6EB9-4BEC-BB4D-98B3E15DEC2B}" type="presParOf" srcId="{C2034BC4-7D0A-4490-97D3-8483A99AA9AC}" destId="{1481BD66-6B2B-472C-9F6F-271150157039}" srcOrd="0" destOrd="0" presId="urn:microsoft.com/office/officeart/2005/8/layout/orgChart1"/>
    <dgm:cxn modelId="{91D7A2CA-0EB3-48F3-A87A-462441D75205}" type="presParOf" srcId="{1481BD66-6B2B-472C-9F6F-271150157039}" destId="{9309A3BA-11DB-4CC8-86C1-DE95A3F7A475}" srcOrd="0" destOrd="0" presId="urn:microsoft.com/office/officeart/2005/8/layout/orgChart1"/>
    <dgm:cxn modelId="{B27E74A6-E5EF-4761-9C2B-12C910604ECA}" type="presParOf" srcId="{1481BD66-6B2B-472C-9F6F-271150157039}" destId="{CB2C1492-9CE5-499B-A820-C17D923BD924}" srcOrd="1" destOrd="0" presId="urn:microsoft.com/office/officeart/2005/8/layout/orgChart1"/>
    <dgm:cxn modelId="{D41624F2-7CE4-45B3-A825-C3D235B88652}" type="presParOf" srcId="{C2034BC4-7D0A-4490-97D3-8483A99AA9AC}" destId="{76A53661-1F06-40E1-8511-9B6DAB058027}" srcOrd="1" destOrd="0" presId="urn:microsoft.com/office/officeart/2005/8/layout/orgChart1"/>
    <dgm:cxn modelId="{D7D7E2E3-58BE-460A-BED4-F64B3D13DD9B}" type="presParOf" srcId="{C2034BC4-7D0A-4490-97D3-8483A99AA9AC}" destId="{B4D9CAFD-11A6-4F79-B037-A4BC09B008B5}" srcOrd="2" destOrd="0" presId="urn:microsoft.com/office/officeart/2005/8/layout/orgChart1"/>
    <dgm:cxn modelId="{4A36F87B-1637-4F0D-9966-3F6ECD565553}" type="presParOf" srcId="{234B7CBB-9B93-496A-864F-36CA0E29A77D}" destId="{3AD8DD6A-6E85-4231-8FA1-490FB33A285A}" srcOrd="2" destOrd="0" presId="urn:microsoft.com/office/officeart/2005/8/layout/orgChart1"/>
    <dgm:cxn modelId="{DF15553B-846C-405B-8C23-1CA2CFE9E230}" type="presParOf" srcId="{234B7CBB-9B93-496A-864F-36CA0E29A77D}" destId="{CA1E4628-3A60-4F7E-9727-98745960A36D}" srcOrd="3" destOrd="0" presId="urn:microsoft.com/office/officeart/2005/8/layout/orgChart1"/>
    <dgm:cxn modelId="{B0226766-30BB-4219-81C3-B7C74662913A}" type="presParOf" srcId="{CA1E4628-3A60-4F7E-9727-98745960A36D}" destId="{7B8F262E-C0CA-46F3-BEC2-02DCEEEB9119}" srcOrd="0" destOrd="0" presId="urn:microsoft.com/office/officeart/2005/8/layout/orgChart1"/>
    <dgm:cxn modelId="{CAFE147F-6490-4FE6-9FA0-862BDDAA54EB}" type="presParOf" srcId="{7B8F262E-C0CA-46F3-BEC2-02DCEEEB9119}" destId="{63BD1D0F-DEF6-4B9E-996E-B3AFADCF8117}" srcOrd="0" destOrd="0" presId="urn:microsoft.com/office/officeart/2005/8/layout/orgChart1"/>
    <dgm:cxn modelId="{36A5AA0E-CE8B-4A5B-B5CF-5D3E8F886775}" type="presParOf" srcId="{7B8F262E-C0CA-46F3-BEC2-02DCEEEB9119}" destId="{E704083A-8F35-421C-BE7A-01915B3EFE57}" srcOrd="1" destOrd="0" presId="urn:microsoft.com/office/officeart/2005/8/layout/orgChart1"/>
    <dgm:cxn modelId="{15057441-1C3B-4625-9273-59148AEA5671}" type="presParOf" srcId="{CA1E4628-3A60-4F7E-9727-98745960A36D}" destId="{6CB1BDC8-6A93-4962-A93E-4DC0F59B0B97}" srcOrd="1" destOrd="0" presId="urn:microsoft.com/office/officeart/2005/8/layout/orgChart1"/>
    <dgm:cxn modelId="{52F41134-C435-4F16-868E-2C2E7CD59FDC}" type="presParOf" srcId="{CA1E4628-3A60-4F7E-9727-98745960A36D}" destId="{5C1A3B75-ABEB-4639-9847-585AA38FD7CE}" srcOrd="2" destOrd="0" presId="urn:microsoft.com/office/officeart/2005/8/layout/orgChart1"/>
    <dgm:cxn modelId="{40BF41CF-C0B1-4B96-8C52-931C0D20E43D}" type="presParOf" srcId="{234B7CBB-9B93-496A-864F-36CA0E29A77D}" destId="{28730E99-0657-400A-89EB-67ABFB7377F2}" srcOrd="4" destOrd="0" presId="urn:microsoft.com/office/officeart/2005/8/layout/orgChart1"/>
    <dgm:cxn modelId="{73F4FC48-B8DD-4640-8AFF-DB50A36112FE}" type="presParOf" srcId="{234B7CBB-9B93-496A-864F-36CA0E29A77D}" destId="{A0638955-805A-4262-BCB8-DC8E212BBE00}" srcOrd="5" destOrd="0" presId="urn:microsoft.com/office/officeart/2005/8/layout/orgChart1"/>
    <dgm:cxn modelId="{3F76DA1F-6986-488C-9C1E-1B3F67708556}" type="presParOf" srcId="{A0638955-805A-4262-BCB8-DC8E212BBE00}" destId="{D9F536EE-1DF9-4121-B356-DE6989F6304F}" srcOrd="0" destOrd="0" presId="urn:microsoft.com/office/officeart/2005/8/layout/orgChart1"/>
    <dgm:cxn modelId="{EC5AB284-3199-4BDA-AA11-75461D281617}" type="presParOf" srcId="{D9F536EE-1DF9-4121-B356-DE6989F6304F}" destId="{D867C235-1E77-4423-812A-F3757D18FA40}" srcOrd="0" destOrd="0" presId="urn:microsoft.com/office/officeart/2005/8/layout/orgChart1"/>
    <dgm:cxn modelId="{6CED5A05-A027-412C-B2E0-2E75447B550D}" type="presParOf" srcId="{D9F536EE-1DF9-4121-B356-DE6989F6304F}" destId="{6B0CB223-C608-4D6A-8D70-17810E4DEB36}" srcOrd="1" destOrd="0" presId="urn:microsoft.com/office/officeart/2005/8/layout/orgChart1"/>
    <dgm:cxn modelId="{EE75DBE8-B612-4ED7-A106-B78B06993AB4}" type="presParOf" srcId="{A0638955-805A-4262-BCB8-DC8E212BBE00}" destId="{A40B22F6-BF50-4585-B6D5-25570ECA6941}" srcOrd="1" destOrd="0" presId="urn:microsoft.com/office/officeart/2005/8/layout/orgChart1"/>
    <dgm:cxn modelId="{0AE905E3-9EA9-4E25-8DC6-5038DB2F2285}" type="presParOf" srcId="{A0638955-805A-4262-BCB8-DC8E212BBE00}" destId="{4E7F002D-B89B-4A70-981D-DA2459C6F8FB}" srcOrd="2" destOrd="0" presId="urn:microsoft.com/office/officeart/2005/8/layout/orgChart1"/>
    <dgm:cxn modelId="{4BC05A01-8312-410B-B3B0-D42455E6FAE2}" type="presParOf" srcId="{9EF458F9-1137-41B0-B9AE-714B602A36BC}" destId="{7ADE65C7-7792-4166-B386-71FCB10BF2F9}"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596F6-0BE0-4F9F-8EA7-9A31EE83E2AB}">
      <dsp:nvSpPr>
        <dsp:cNvPr id="0" name=""/>
        <dsp:cNvSpPr/>
      </dsp:nvSpPr>
      <dsp:spPr>
        <a:xfrm>
          <a:off x="0" y="46309"/>
          <a:ext cx="6666833" cy="1271205"/>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AU" sz="3200" b="1" kern="1200"/>
            <a:t>Dummies,pacifiers,bottles</a:t>
          </a:r>
          <a:endParaRPr lang="en-US" sz="3200" kern="1200"/>
        </a:p>
      </dsp:txBody>
      <dsp:txXfrm>
        <a:off x="62055" y="108364"/>
        <a:ext cx="6542723" cy="1147095"/>
      </dsp:txXfrm>
    </dsp:sp>
    <dsp:sp modelId="{45139D58-C437-431B-9E54-ABA34CAD0E4E}">
      <dsp:nvSpPr>
        <dsp:cNvPr id="0" name=""/>
        <dsp:cNvSpPr/>
      </dsp:nvSpPr>
      <dsp:spPr>
        <a:xfrm>
          <a:off x="0" y="1409674"/>
          <a:ext cx="6666833" cy="1271205"/>
        </a:xfrm>
        <a:prstGeom prst="roundRect">
          <a:avLst/>
        </a:prstGeom>
        <a:gradFill rotWithShape="0">
          <a:gsLst>
            <a:gs pos="0">
              <a:schemeClr val="accent5">
                <a:hueOff val="-3311292"/>
                <a:satOff val="13270"/>
                <a:lumOff val="2876"/>
                <a:alphaOff val="0"/>
                <a:shade val="51000"/>
                <a:satMod val="130000"/>
              </a:schemeClr>
            </a:gs>
            <a:gs pos="80000">
              <a:schemeClr val="accent5">
                <a:hueOff val="-3311292"/>
                <a:satOff val="13270"/>
                <a:lumOff val="2876"/>
                <a:alphaOff val="0"/>
                <a:shade val="93000"/>
                <a:satMod val="130000"/>
              </a:schemeClr>
            </a:gs>
            <a:gs pos="100000">
              <a:schemeClr val="accent5">
                <a:hueOff val="-3311292"/>
                <a:satOff val="13270"/>
                <a:lumOff val="287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AU" sz="3200" b="1" kern="1200" dirty="0"/>
            <a:t>Supplements: sugar water, gripe water, honey, breast milk substitutes </a:t>
          </a:r>
          <a:endParaRPr lang="en-US" sz="3200" kern="1200" dirty="0"/>
        </a:p>
      </dsp:txBody>
      <dsp:txXfrm>
        <a:off x="62055" y="1471729"/>
        <a:ext cx="6542723" cy="1147095"/>
      </dsp:txXfrm>
    </dsp:sp>
    <dsp:sp modelId="{9088CB8A-35D6-4AA9-8B85-60589CD918A9}">
      <dsp:nvSpPr>
        <dsp:cNvPr id="0" name=""/>
        <dsp:cNvSpPr/>
      </dsp:nvSpPr>
      <dsp:spPr>
        <a:xfrm>
          <a:off x="0" y="2773040"/>
          <a:ext cx="6666833" cy="1271205"/>
        </a:xfrm>
        <a:prstGeom prst="roundRect">
          <a:avLst/>
        </a:prstGeom>
        <a:gradFill rotWithShape="0">
          <a:gsLst>
            <a:gs pos="0">
              <a:schemeClr val="accent5">
                <a:hueOff val="-6622584"/>
                <a:satOff val="26541"/>
                <a:lumOff val="5752"/>
                <a:alphaOff val="0"/>
                <a:shade val="51000"/>
                <a:satMod val="130000"/>
              </a:schemeClr>
            </a:gs>
            <a:gs pos="80000">
              <a:schemeClr val="accent5">
                <a:hueOff val="-6622584"/>
                <a:satOff val="26541"/>
                <a:lumOff val="5752"/>
                <a:alphaOff val="0"/>
                <a:shade val="93000"/>
                <a:satMod val="130000"/>
              </a:schemeClr>
            </a:gs>
            <a:gs pos="100000">
              <a:schemeClr val="accent5">
                <a:hueOff val="-6622584"/>
                <a:satOff val="26541"/>
                <a:lumOff val="5752"/>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AU" sz="3200" b="1" kern="1200"/>
            <a:t>Painful breast conditions:sore,cracked nipples</a:t>
          </a:r>
          <a:endParaRPr lang="en-US" sz="3200" kern="1200"/>
        </a:p>
      </dsp:txBody>
      <dsp:txXfrm>
        <a:off x="62055" y="2835095"/>
        <a:ext cx="6542723" cy="1147095"/>
      </dsp:txXfrm>
    </dsp:sp>
    <dsp:sp modelId="{C16E8B99-D41D-444B-A226-D3CA1C063E3E}">
      <dsp:nvSpPr>
        <dsp:cNvPr id="0" name=""/>
        <dsp:cNvSpPr/>
      </dsp:nvSpPr>
      <dsp:spPr>
        <a:xfrm>
          <a:off x="0" y="4136405"/>
          <a:ext cx="6666833" cy="1271205"/>
        </a:xfrm>
        <a:prstGeom prst="round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AU" sz="3200" b="1" kern="1200"/>
            <a:t>Lack of night feeding</a:t>
          </a:r>
          <a:endParaRPr lang="en-US" sz="3200" kern="1200"/>
        </a:p>
      </dsp:txBody>
      <dsp:txXfrm>
        <a:off x="62055" y="4198460"/>
        <a:ext cx="6542723" cy="11470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30E99-0657-400A-89EB-67ABFB7377F2}">
      <dsp:nvSpPr>
        <dsp:cNvPr id="0" name=""/>
        <dsp:cNvSpPr/>
      </dsp:nvSpPr>
      <dsp:spPr>
        <a:xfrm>
          <a:off x="4800598" y="1371502"/>
          <a:ext cx="3318460" cy="575931"/>
        </a:xfrm>
        <a:custGeom>
          <a:avLst/>
          <a:gdLst/>
          <a:ahLst/>
          <a:cxnLst/>
          <a:rect l="0" t="0" r="0" b="0"/>
          <a:pathLst>
            <a:path>
              <a:moveTo>
                <a:pt x="0" y="0"/>
              </a:moveTo>
              <a:lnTo>
                <a:pt x="0" y="287965"/>
              </a:lnTo>
              <a:lnTo>
                <a:pt x="3318460" y="287965"/>
              </a:lnTo>
              <a:lnTo>
                <a:pt x="3318460" y="575931"/>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D8DD6A-6E85-4231-8FA1-490FB33A285A}">
      <dsp:nvSpPr>
        <dsp:cNvPr id="0" name=""/>
        <dsp:cNvSpPr/>
      </dsp:nvSpPr>
      <dsp:spPr>
        <a:xfrm>
          <a:off x="4754878" y="1371502"/>
          <a:ext cx="91440" cy="575931"/>
        </a:xfrm>
        <a:custGeom>
          <a:avLst/>
          <a:gdLst/>
          <a:ahLst/>
          <a:cxnLst/>
          <a:rect l="0" t="0" r="0" b="0"/>
          <a:pathLst>
            <a:path>
              <a:moveTo>
                <a:pt x="45720" y="0"/>
              </a:moveTo>
              <a:lnTo>
                <a:pt x="45720" y="575931"/>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BC85F3-2F12-4281-8625-18F65F24C921}">
      <dsp:nvSpPr>
        <dsp:cNvPr id="0" name=""/>
        <dsp:cNvSpPr/>
      </dsp:nvSpPr>
      <dsp:spPr>
        <a:xfrm>
          <a:off x="1482137" y="1371502"/>
          <a:ext cx="3318460" cy="575931"/>
        </a:xfrm>
        <a:custGeom>
          <a:avLst/>
          <a:gdLst/>
          <a:ahLst/>
          <a:cxnLst/>
          <a:rect l="0" t="0" r="0" b="0"/>
          <a:pathLst>
            <a:path>
              <a:moveTo>
                <a:pt x="3318460" y="0"/>
              </a:moveTo>
              <a:lnTo>
                <a:pt x="3318460" y="287965"/>
              </a:lnTo>
              <a:lnTo>
                <a:pt x="0" y="287965"/>
              </a:lnTo>
              <a:lnTo>
                <a:pt x="0" y="575931"/>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4E1392-FB72-421B-954E-988E7709D97C}">
      <dsp:nvSpPr>
        <dsp:cNvPr id="0" name=""/>
        <dsp:cNvSpPr/>
      </dsp:nvSpPr>
      <dsp:spPr>
        <a:xfrm>
          <a:off x="3429333" y="237"/>
          <a:ext cx="2742529" cy="137126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en-US" sz="4000" b="0" i="0" u="none" strike="noStrike" kern="1200" cap="none" normalizeH="0" baseline="0">
              <a:effectLst/>
              <a:latin typeface="Arial" panose="020B0604020202020204" pitchFamily="34" charset="0"/>
              <a:cs typeface="Arial" panose="020B0604020202020204" pitchFamily="34" charset="0"/>
            </a:rPr>
            <a:t>Advantages</a:t>
          </a:r>
        </a:p>
      </dsp:txBody>
      <dsp:txXfrm>
        <a:off x="3429333" y="237"/>
        <a:ext cx="2742529" cy="1371264"/>
      </dsp:txXfrm>
    </dsp:sp>
    <dsp:sp modelId="{9309A3BA-11DB-4CC8-86C1-DE95A3F7A475}">
      <dsp:nvSpPr>
        <dsp:cNvPr id="0" name=""/>
        <dsp:cNvSpPr/>
      </dsp:nvSpPr>
      <dsp:spPr>
        <a:xfrm>
          <a:off x="110873" y="1947433"/>
          <a:ext cx="2742529" cy="137126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en-US" sz="4000" b="0" i="0" u="none" strike="noStrike" kern="1200" cap="none" normalizeH="0" baseline="0">
              <a:effectLst/>
              <a:latin typeface="Arial" panose="020B0604020202020204" pitchFamily="34" charset="0"/>
              <a:cs typeface="Arial" panose="020B0604020202020204" pitchFamily="34" charset="0"/>
            </a:rPr>
            <a:t>Baby</a:t>
          </a:r>
        </a:p>
      </dsp:txBody>
      <dsp:txXfrm>
        <a:off x="110873" y="1947433"/>
        <a:ext cx="2742529" cy="1371264"/>
      </dsp:txXfrm>
    </dsp:sp>
    <dsp:sp modelId="{63BD1D0F-DEF6-4B9E-996E-B3AFADCF8117}">
      <dsp:nvSpPr>
        <dsp:cNvPr id="0" name=""/>
        <dsp:cNvSpPr/>
      </dsp:nvSpPr>
      <dsp:spPr>
        <a:xfrm>
          <a:off x="3429333" y="1947433"/>
          <a:ext cx="2742529" cy="137126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en-US" sz="4000" b="0" i="0" u="none" strike="noStrike" kern="1200" cap="none" normalizeH="0" baseline="0">
              <a:effectLst/>
              <a:latin typeface="Arial" panose="020B0604020202020204" pitchFamily="34" charset="0"/>
              <a:cs typeface="Arial" panose="020B0604020202020204" pitchFamily="34" charset="0"/>
            </a:rPr>
            <a:t>Mother</a:t>
          </a:r>
        </a:p>
      </dsp:txBody>
      <dsp:txXfrm>
        <a:off x="3429333" y="1947433"/>
        <a:ext cx="2742529" cy="1371264"/>
      </dsp:txXfrm>
    </dsp:sp>
    <dsp:sp modelId="{D867C235-1E77-4423-812A-F3757D18FA40}">
      <dsp:nvSpPr>
        <dsp:cNvPr id="0" name=""/>
        <dsp:cNvSpPr/>
      </dsp:nvSpPr>
      <dsp:spPr>
        <a:xfrm>
          <a:off x="6747793" y="1947433"/>
          <a:ext cx="2742529" cy="137126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en-US" sz="4000" b="0" i="0" u="none" strike="noStrike" kern="1200" cap="none" normalizeH="0" baseline="0">
              <a:effectLst/>
              <a:latin typeface="Arial" panose="020B0604020202020204" pitchFamily="34" charset="0"/>
              <a:cs typeface="Arial" panose="020B0604020202020204" pitchFamily="34" charset="0"/>
            </a:rPr>
            <a:t>Family</a:t>
          </a:r>
        </a:p>
      </dsp:txBody>
      <dsp:txXfrm>
        <a:off x="6747793" y="1947433"/>
        <a:ext cx="2742529" cy="137126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A9D261-98E2-492B-B1AA-F1B61BCE9744}" type="datetimeFigureOut">
              <a:rPr lang="en-US" smtClean="0"/>
              <a:t>24-Jul-25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E5506-B2FE-470B-BE8C-B51EED410E51}" type="slidenum">
              <a:rPr lang="en-US" smtClean="0"/>
              <a:t>‹#›</a:t>
            </a:fld>
            <a:endParaRPr lang="en-US"/>
          </a:p>
        </p:txBody>
      </p:sp>
    </p:spTree>
    <p:extLst>
      <p:ext uri="{BB962C8B-B14F-4D97-AF65-F5344CB8AC3E}">
        <p14:creationId xmlns:p14="http://schemas.microsoft.com/office/powerpoint/2010/main" val="1035388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en.wikipedia.org/wiki/Sucking_reflex" TargetMode="External"/><Relationship Id="rId3" Type="http://schemas.openxmlformats.org/officeDocument/2006/relationships/hyperlink" Target="https://en.wikipedia.org/wiki/Breastfeeding" TargetMode="External"/><Relationship Id="rId7" Type="http://schemas.openxmlformats.org/officeDocument/2006/relationships/hyperlink" Target="https://en.wikipedia.org/wiki/Mammary_gland" TargetMode="External"/><Relationship Id="rId12" Type="http://schemas.openxmlformats.org/officeDocument/2006/relationships/hyperlink" Target="https://en.wikipedia.org/wiki/Contraindicated" TargetMode="External"/><Relationship Id="rId2" Type="http://schemas.openxmlformats.org/officeDocument/2006/relationships/slide" Target="../slides/slide72.xml"/><Relationship Id="rId1" Type="http://schemas.openxmlformats.org/officeDocument/2006/relationships/notesMaster" Target="../notesMasters/notesMaster1.xml"/><Relationship Id="rId6" Type="http://schemas.openxmlformats.org/officeDocument/2006/relationships/hyperlink" Target="https://en.wikipedia.org/wiki/Milk" TargetMode="External"/><Relationship Id="rId11" Type="http://schemas.openxmlformats.org/officeDocument/2006/relationships/hyperlink" Target="https://en.wikipedia.org/wiki/Breastfeeding_difficulties#cite_note-Picciano_2001-1" TargetMode="External"/><Relationship Id="rId5" Type="http://schemas.openxmlformats.org/officeDocument/2006/relationships/hyperlink" Target="https://en.wikipedia.org/wiki/Child" TargetMode="External"/><Relationship Id="rId10" Type="http://schemas.openxmlformats.org/officeDocument/2006/relationships/hyperlink" Target="https://en.wikipedia.org/wiki/Nutrition" TargetMode="External"/><Relationship Id="rId4" Type="http://schemas.openxmlformats.org/officeDocument/2006/relationships/hyperlink" Target="https://en.wikipedia.org/wiki/Infant" TargetMode="External"/><Relationship Id="rId9" Type="http://schemas.openxmlformats.org/officeDocument/2006/relationships/hyperlink" Target="https://en.wikipedia.org/wiki/Breast_milk" TargetMode="External"/></Relationships>
</file>

<file path=ppt/notesSlides/_rels/notesSlide5.xml.rels><?xml version="1.0" encoding="UTF-8" standalone="yes"?>
<Relationships xmlns="http://schemas.openxmlformats.org/package/2006/relationships"><Relationship Id="rId26" Type="http://schemas.openxmlformats.org/officeDocument/2006/relationships/hyperlink" Target="https://en.wikipedia.org/wiki/Paget's_disease_of_the_breast" TargetMode="External"/><Relationship Id="rId21" Type="http://schemas.openxmlformats.org/officeDocument/2006/relationships/hyperlink" Target="https://en.wikipedia.org/wiki/Inverted_nipple#External_links" TargetMode="External"/><Relationship Id="rId42" Type="http://schemas.openxmlformats.org/officeDocument/2006/relationships/hyperlink" Target="https://en.wikipedia.org/wiki/Sphincter" TargetMode="External"/><Relationship Id="rId47" Type="http://schemas.openxmlformats.org/officeDocument/2006/relationships/hyperlink" Target="https://en.wikipedia.org/wiki/Inverted_nipple#cite_note-TT-5" TargetMode="External"/><Relationship Id="rId63" Type="http://schemas.openxmlformats.org/officeDocument/2006/relationships/hyperlink" Target="https://en.wikipedia.org/wiki/Soreness" TargetMode="External"/><Relationship Id="rId68" Type="http://schemas.openxmlformats.org/officeDocument/2006/relationships/hyperlink" Target="https://en.wikipedia.org/wiki/Inverted_nipple#cite_note-IN-9" TargetMode="External"/><Relationship Id="rId16" Type="http://schemas.openxmlformats.org/officeDocument/2006/relationships/hyperlink" Target="https://en.wikipedia.org/wiki/Inverted_nipple#Pregnancy_and_breastfeeding" TargetMode="External"/><Relationship Id="rId11" Type="http://schemas.openxmlformats.org/officeDocument/2006/relationships/hyperlink" Target="https://en.wikipedia.org/wiki/Nipple" TargetMode="External"/><Relationship Id="rId24" Type="http://schemas.openxmlformats.org/officeDocument/2006/relationships/hyperlink" Target="https://en.wikipedia.org/wiki/Ptosis_(breasts)" TargetMode="External"/><Relationship Id="rId32" Type="http://schemas.openxmlformats.org/officeDocument/2006/relationships/hyperlink" Target="https://en.wikipedia.org/w/index.php?title=Chromosome_2q_Deletion&amp;action=edit&amp;redlink=1" TargetMode="External"/><Relationship Id="rId37" Type="http://schemas.openxmlformats.org/officeDocument/2006/relationships/hyperlink" Target="https://en.wikipedia.org/wiki/Holoprosencephaly" TargetMode="External"/><Relationship Id="rId40" Type="http://schemas.openxmlformats.org/officeDocument/2006/relationships/hyperlink" Target="https://en.wikipedia.org/wiki/Inverted_nipple#cite_note-SH-2" TargetMode="External"/><Relationship Id="rId45" Type="http://schemas.openxmlformats.org/officeDocument/2006/relationships/hyperlink" Target="https://en.wikipedia.org/wiki/Milk_ducts" TargetMode="External"/><Relationship Id="rId53" Type="http://schemas.openxmlformats.org/officeDocument/2006/relationships/hyperlink" Target="https://en.wikipedia.org/wiki/Areola" TargetMode="External"/><Relationship Id="rId58" Type="http://schemas.openxmlformats.org/officeDocument/2006/relationships/hyperlink" Target="https://en.wikipedia.org/wiki/Plastic_surgery" TargetMode="External"/><Relationship Id="rId66" Type="http://schemas.openxmlformats.org/officeDocument/2006/relationships/hyperlink" Target="https://en.wikipedia.org/wiki/Inverted_nipple#cite_note-ETB-8" TargetMode="External"/><Relationship Id="rId74" Type="http://schemas.openxmlformats.org/officeDocument/2006/relationships/hyperlink" Target="https://en.wikipedia.org/wiki/Suction_cups" TargetMode="External"/><Relationship Id="rId79" Type="http://schemas.openxmlformats.org/officeDocument/2006/relationships/hyperlink" Target="https://en.wikipedia.org/wiki/Inverted_nipple#cite_note-10" TargetMode="External"/><Relationship Id="rId5" Type="http://schemas.openxmlformats.org/officeDocument/2006/relationships/hyperlink" Target="https://en.wikipedia.org/wiki/International_Statistical_Classification_of_Diseases_and_Related_Health_Problems" TargetMode="External"/><Relationship Id="rId61" Type="http://schemas.openxmlformats.org/officeDocument/2006/relationships/hyperlink" Target="https://en.wikipedia.org/wiki/Anesthesia" TargetMode="External"/><Relationship Id="rId19" Type="http://schemas.openxmlformats.org/officeDocument/2006/relationships/hyperlink" Target="https://en.wikipedia.org/wiki/Inverted_nipple#Other_corrective_strategies" TargetMode="External"/><Relationship Id="rId14" Type="http://schemas.openxmlformats.org/officeDocument/2006/relationships/hyperlink" Target="https://en.wikipedia.org/wiki/Inverted_nipple#Causes" TargetMode="External"/><Relationship Id="rId22" Type="http://schemas.openxmlformats.org/officeDocument/2006/relationships/hyperlink" Target="https://en.wikipedia.org/w/index.php?title=Inverted_nipple&amp;action=edit&amp;section=1" TargetMode="External"/><Relationship Id="rId27" Type="http://schemas.openxmlformats.org/officeDocument/2006/relationships/hyperlink" Target="https://en.wikipedia.org/wiki/Inflammatory_Breast_Cancer" TargetMode="External"/><Relationship Id="rId30" Type="http://schemas.openxmlformats.org/officeDocument/2006/relationships/hyperlink" Target="https://en.wikipedia.org/wiki/Weaver_syndrome" TargetMode="External"/><Relationship Id="rId35" Type="http://schemas.openxmlformats.org/officeDocument/2006/relationships/hyperlink" Target="https://en.wikipedia.org/wiki/Gynecomastia" TargetMode="External"/><Relationship Id="rId43" Type="http://schemas.openxmlformats.org/officeDocument/2006/relationships/hyperlink" Target="https://en.wikipedia.org/w/index.php?title=Inverted_nipple&amp;action=edit&amp;section=2" TargetMode="External"/><Relationship Id="rId48" Type="http://schemas.openxmlformats.org/officeDocument/2006/relationships/hyperlink" Target="https://en.wikipedia.org/wiki/Inverted_nipple#cite_note-SL-6" TargetMode="External"/><Relationship Id="rId56" Type="http://schemas.openxmlformats.org/officeDocument/2006/relationships/hyperlink" Target="https://en.wikipedia.org/wiki/Nipple_shield_(breastfeeding)" TargetMode="External"/><Relationship Id="rId64" Type="http://schemas.openxmlformats.org/officeDocument/2006/relationships/hyperlink" Target="https://en.wikipedia.org/wiki/Gauze" TargetMode="External"/><Relationship Id="rId69" Type="http://schemas.openxmlformats.org/officeDocument/2006/relationships/hyperlink" Target="https://en.wikipedia.org/w/index.php?title=Inverted_nipple&amp;action=edit&amp;section=5" TargetMode="External"/><Relationship Id="rId77" Type="http://schemas.openxmlformats.org/officeDocument/2006/relationships/hyperlink" Target="https://en.wikipedia.org/wiki/Breast_shell" TargetMode="External"/><Relationship Id="rId8" Type="http://schemas.openxmlformats.org/officeDocument/2006/relationships/hyperlink" Target="http://apps.who.int/classifications/icd10/browse/2015/en#/O92.0" TargetMode="External"/><Relationship Id="rId51" Type="http://schemas.openxmlformats.org/officeDocument/2006/relationships/hyperlink" Target="https://en.wikipedia.org/w/index.php?title=Inverted_nipple&amp;action=edit&amp;section=3" TargetMode="External"/><Relationship Id="rId72" Type="http://schemas.openxmlformats.org/officeDocument/2006/relationships/hyperlink" Target="https://en.wikipedia.org/w/index.php?title=Inverted_nipple&amp;action=edit&amp;section=6" TargetMode="External"/><Relationship Id="rId3" Type="http://schemas.openxmlformats.org/officeDocument/2006/relationships/hyperlink" Target="https://en.wikipedia.org/wiki/Inverted_nipple#mw-head" TargetMode="External"/><Relationship Id="rId12" Type="http://schemas.openxmlformats.org/officeDocument/2006/relationships/hyperlink" Target="https://en.wikipedia.org/wiki/Breast" TargetMode="External"/><Relationship Id="rId17" Type="http://schemas.openxmlformats.org/officeDocument/2006/relationships/hyperlink" Target="https://en.wikipedia.org/wiki/Inverted_nipple#Surgery" TargetMode="External"/><Relationship Id="rId25" Type="http://schemas.openxmlformats.org/officeDocument/2006/relationships/hyperlink" Target="https://en.wikipedia.org/wiki/Carcinoma" TargetMode="External"/><Relationship Id="rId33" Type="http://schemas.openxmlformats.org/officeDocument/2006/relationships/hyperlink" Target="https://en.wikipedia.org/wiki/Glycosylation" TargetMode="External"/><Relationship Id="rId38" Type="http://schemas.openxmlformats.org/officeDocument/2006/relationships/hyperlink" Target="https://en.wikipedia.org/wiki/Monocytosis" TargetMode="External"/><Relationship Id="rId46" Type="http://schemas.openxmlformats.org/officeDocument/2006/relationships/hyperlink" Target="https://en.wikipedia.org/wiki/Inverted_nipple#cite_note-PS-4" TargetMode="External"/><Relationship Id="rId59" Type="http://schemas.openxmlformats.org/officeDocument/2006/relationships/hyperlink" Target="https://en.wikipedia.org/wiki/Breastfeed" TargetMode="External"/><Relationship Id="rId67" Type="http://schemas.openxmlformats.org/officeDocument/2006/relationships/hyperlink" Target="https://en.wikipedia.org/wiki/Infection" TargetMode="External"/><Relationship Id="rId20" Type="http://schemas.openxmlformats.org/officeDocument/2006/relationships/hyperlink" Target="https://en.wikipedia.org/wiki/Inverted_nipple#References" TargetMode="External"/><Relationship Id="rId41" Type="http://schemas.openxmlformats.org/officeDocument/2006/relationships/hyperlink" Target="https://en.wikipedia.org/wiki/Inverted_nipple#cite_note-EI-3" TargetMode="External"/><Relationship Id="rId54" Type="http://schemas.openxmlformats.org/officeDocument/2006/relationships/hyperlink" Target="https://en.wikipedia.org/wiki/Infant" TargetMode="External"/><Relationship Id="rId62" Type="http://schemas.openxmlformats.org/officeDocument/2006/relationships/hyperlink" Target="https://en.wikipedia.org/wiki/Inverted_nipple#cite_note-PSPortal-7" TargetMode="External"/><Relationship Id="rId70" Type="http://schemas.openxmlformats.org/officeDocument/2006/relationships/hyperlink" Target="https://en.wikipedia.org/wiki/Body_piercing" TargetMode="External"/><Relationship Id="rId75" Type="http://schemas.openxmlformats.org/officeDocument/2006/relationships/hyperlink" Target="https://en.wikipedia.org/wiki/Nipple_clamp" TargetMode="External"/><Relationship Id="rId1" Type="http://schemas.openxmlformats.org/officeDocument/2006/relationships/notesMaster" Target="../notesMasters/notesMaster1.xml"/><Relationship Id="rId6" Type="http://schemas.openxmlformats.org/officeDocument/2006/relationships/hyperlink" Target="https://en.wikipedia.org/wiki/ICD-10" TargetMode="External"/><Relationship Id="rId15" Type="http://schemas.openxmlformats.org/officeDocument/2006/relationships/hyperlink" Target="https://en.wikipedia.org/wiki/Inverted_nipple#Grading_system" TargetMode="External"/><Relationship Id="rId23" Type="http://schemas.openxmlformats.org/officeDocument/2006/relationships/hyperlink" Target="https://en.wikipedia.org/wiki/Necrosis" TargetMode="External"/><Relationship Id="rId28" Type="http://schemas.openxmlformats.org/officeDocument/2006/relationships/hyperlink" Target="https://en.wikipedia.org/wiki/Mammary_duct_ectasia" TargetMode="External"/><Relationship Id="rId36" Type="http://schemas.openxmlformats.org/officeDocument/2006/relationships/hyperlink" Target="https://en.wikipedia.org/wiki/Inverted_nipple#cite_note-BPS-1" TargetMode="External"/><Relationship Id="rId49" Type="http://schemas.openxmlformats.org/officeDocument/2006/relationships/hyperlink" Target="https://en.wikipedia.org/wiki/Collagenous" TargetMode="External"/><Relationship Id="rId57" Type="http://schemas.openxmlformats.org/officeDocument/2006/relationships/hyperlink" Target="https://en.wikipedia.org/w/index.php?title=Inverted_nipple&amp;action=edit&amp;section=4" TargetMode="External"/><Relationship Id="rId10" Type="http://schemas.openxmlformats.org/officeDocument/2006/relationships/hyperlink" Target="http://www.icd9data.com/getICD9Code.ashx?icd9=611.8" TargetMode="External"/><Relationship Id="rId31" Type="http://schemas.openxmlformats.org/officeDocument/2006/relationships/hyperlink" Target="https://en.wikipedia.org/w/index.php?title=Fryns-Aftimos_syndrome&amp;action=edit&amp;redlink=1" TargetMode="External"/><Relationship Id="rId44" Type="http://schemas.openxmlformats.org/officeDocument/2006/relationships/hyperlink" Target="https://en.wikipedia.org/wiki/Fibrosis" TargetMode="External"/><Relationship Id="rId52" Type="http://schemas.openxmlformats.org/officeDocument/2006/relationships/hyperlink" Target="https://en.wikipedia.org/wiki/Breastfeeding" TargetMode="External"/><Relationship Id="rId60" Type="http://schemas.openxmlformats.org/officeDocument/2006/relationships/hyperlink" Target="https://en.wikipedia.org/wiki/Outpatient_procedure#Outpatients_and_inpatients" TargetMode="External"/><Relationship Id="rId65" Type="http://schemas.openxmlformats.org/officeDocument/2006/relationships/hyperlink" Target="https://en.wikipedia.org/wiki/Groggy" TargetMode="External"/><Relationship Id="rId73" Type="http://schemas.openxmlformats.org/officeDocument/2006/relationships/hyperlink" Target="https://en.wikipedia.org/wiki/Sex_toy" TargetMode="External"/><Relationship Id="rId78" Type="http://schemas.openxmlformats.org/officeDocument/2006/relationships/hyperlink" Target="https://en.wikipedia.org/wiki/Brassiere" TargetMode="External"/><Relationship Id="rId4" Type="http://schemas.openxmlformats.org/officeDocument/2006/relationships/hyperlink" Target="https://en.wikipedia.org/wiki/Inverted_nipple#p-search" TargetMode="External"/><Relationship Id="rId9" Type="http://schemas.openxmlformats.org/officeDocument/2006/relationships/hyperlink" Target="https://en.wikipedia.org/wiki/List_of_ICD-9_codes" TargetMode="External"/><Relationship Id="rId13" Type="http://schemas.openxmlformats.org/officeDocument/2006/relationships/hyperlink" Target="https://en.wikipedia.org/wiki/Inverted_nipple" TargetMode="External"/><Relationship Id="rId18" Type="http://schemas.openxmlformats.org/officeDocument/2006/relationships/hyperlink" Target="https://en.wikipedia.org/wiki/Inverted_nipple#Piercing" TargetMode="External"/><Relationship Id="rId39" Type="http://schemas.openxmlformats.org/officeDocument/2006/relationships/hyperlink" Target="https://en.wikipedia.org/wiki/Tuberculosis" TargetMode="External"/><Relationship Id="rId34" Type="http://schemas.openxmlformats.org/officeDocument/2006/relationships/hyperlink" Target="https://en.wikipedia.org/w/index.php?title=Kennerknecht-Sorgo-Oberhoffer_syndrome&amp;action=edit&amp;redlink=1" TargetMode="External"/><Relationship Id="rId50" Type="http://schemas.openxmlformats.org/officeDocument/2006/relationships/hyperlink" Target="https://en.wikipedia.org/wiki/Atrophic" TargetMode="External"/><Relationship Id="rId55" Type="http://schemas.openxmlformats.org/officeDocument/2006/relationships/hyperlink" Target="https://en.wikipedia.org/wiki/Breast_pump" TargetMode="External"/><Relationship Id="rId76" Type="http://schemas.openxmlformats.org/officeDocument/2006/relationships/hyperlink" Target="https://en.wikipedia.org/wiki/Syringe" TargetMode="External"/><Relationship Id="rId7" Type="http://schemas.openxmlformats.org/officeDocument/2006/relationships/hyperlink" Target="http://apps.who.int/classifications/icd10/browse/2015/en#/N64.5" TargetMode="External"/><Relationship Id="rId71" Type="http://schemas.openxmlformats.org/officeDocument/2006/relationships/hyperlink" Target="https://en.wikipedia.org/wiki/Wikipedia:Citation_needed" TargetMode="External"/><Relationship Id="rId2" Type="http://schemas.openxmlformats.org/officeDocument/2006/relationships/slide" Target="../slides/slide73.xml"/><Relationship Id="rId29" Type="http://schemas.openxmlformats.org/officeDocument/2006/relationships/hyperlink" Target="https://en.wikipedia.org/wiki/Mastiti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en.wikipedia.org/wiki/Non-steroidal_anti-inflammatory_drugs" TargetMode="External"/><Relationship Id="rId3" Type="http://schemas.openxmlformats.org/officeDocument/2006/relationships/hyperlink" Target="https://en.wikipedia.org/w/index.php?title=Breastfeeding_difficulties&amp;action=edit&amp;section=4" TargetMode="External"/><Relationship Id="rId7" Type="http://schemas.openxmlformats.org/officeDocument/2006/relationships/hyperlink" Target="https://en.wikipedia.org/wiki/Breastfeeding_difficulties#cite_note-Nikodem_1993-16" TargetMode="External"/><Relationship Id="rId2" Type="http://schemas.openxmlformats.org/officeDocument/2006/relationships/slide" Target="../slides/slide75.xml"/><Relationship Id="rId1" Type="http://schemas.openxmlformats.org/officeDocument/2006/relationships/notesMaster" Target="../notesMasters/notesMaster1.xml"/><Relationship Id="rId6" Type="http://schemas.openxmlformats.org/officeDocument/2006/relationships/hyperlink" Target="https://en.wikipedia.org/wiki/Breast_pump" TargetMode="External"/><Relationship Id="rId5" Type="http://schemas.openxmlformats.org/officeDocument/2006/relationships/hyperlink" Target="https://en.wikipedia.org/wiki/Breastfeeding_difficulties#cite_note-Hill_1994-15" TargetMode="External"/><Relationship Id="rId4" Type="http://schemas.openxmlformats.org/officeDocument/2006/relationships/hyperlink" Target="https://en.wikipedia.org/wiki/Breast_engorgement" TargetMode="External"/><Relationship Id="rId9" Type="http://schemas.openxmlformats.org/officeDocument/2006/relationships/hyperlink" Target="https://en.wikipedia.org/wiki/Paracetamol" TargetMode="Externa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en.wikipedia.org/wiki/Mastitis" TargetMode="External"/><Relationship Id="rId13" Type="http://schemas.openxmlformats.org/officeDocument/2006/relationships/hyperlink" Target="https://en.wikipedia.org/wiki/Breast_engorgement#Diagnosis" TargetMode="External"/><Relationship Id="rId18" Type="http://schemas.openxmlformats.org/officeDocument/2006/relationships/hyperlink" Target="https://en.wikipedia.org/wiki/Edematous" TargetMode="External"/><Relationship Id="rId26" Type="http://schemas.openxmlformats.org/officeDocument/2006/relationships/hyperlink" Target="https://en.wikipedia.org/wiki/Inflammatory_breast_cancer" TargetMode="External"/><Relationship Id="rId3" Type="http://schemas.openxmlformats.org/officeDocument/2006/relationships/hyperlink" Target="https://en.wikipedia.org/wiki/Mammary_glands" TargetMode="External"/><Relationship Id="rId21" Type="http://schemas.openxmlformats.org/officeDocument/2006/relationships/hyperlink" Target="https://en.wikipedia.org/wiki/Breast_pump" TargetMode="External"/><Relationship Id="rId7" Type="http://schemas.openxmlformats.org/officeDocument/2006/relationships/hyperlink" Target="https://en.wikipedia.org/wiki/Pain_and_nociception" TargetMode="External"/><Relationship Id="rId12" Type="http://schemas.openxmlformats.org/officeDocument/2006/relationships/hyperlink" Target="https://en.wikipedia.org/wiki/Breast_engorgement#Causes" TargetMode="External"/><Relationship Id="rId17" Type="http://schemas.openxmlformats.org/officeDocument/2006/relationships/hyperlink" Target="https://en.wikipedia.org/w/index.php?title=Breast_engorgement&amp;action=edit&amp;section=1" TargetMode="External"/><Relationship Id="rId25" Type="http://schemas.openxmlformats.org/officeDocument/2006/relationships/hyperlink" Target="https://en.wikipedia.org/w/index.php?title=Breast_engorgement&amp;action=edit&amp;section=3" TargetMode="External"/><Relationship Id="rId2" Type="http://schemas.openxmlformats.org/officeDocument/2006/relationships/slide" Target="../slides/slide76.xml"/><Relationship Id="rId16" Type="http://schemas.openxmlformats.org/officeDocument/2006/relationships/hyperlink" Target="https://en.wikipedia.org/wiki/Breast_engorgement#External_links" TargetMode="External"/><Relationship Id="rId20" Type="http://schemas.openxmlformats.org/officeDocument/2006/relationships/hyperlink" Target="https://en.wikipedia.org/w/index.php?title=Breast_engorgement&amp;action=edit&amp;section=2" TargetMode="External"/><Relationship Id="rId29" Type="http://schemas.openxmlformats.org/officeDocument/2006/relationships/hyperlink" Target="https://en.wikipedia.org/wiki/Breast_engorgement#cite_note-Breast_Engorgement-4" TargetMode="External"/><Relationship Id="rId1" Type="http://schemas.openxmlformats.org/officeDocument/2006/relationships/notesMaster" Target="../notesMasters/notesMaster1.xml"/><Relationship Id="rId6" Type="http://schemas.openxmlformats.org/officeDocument/2006/relationships/hyperlink" Target="https://en.wikipedia.org/wiki/Breastfeeding" TargetMode="External"/><Relationship Id="rId11" Type="http://schemas.openxmlformats.org/officeDocument/2006/relationships/hyperlink" Target="https://en.wikipedia.org/wiki/Breast_engorgement#Signs_and_symptoms" TargetMode="External"/><Relationship Id="rId24" Type="http://schemas.openxmlformats.org/officeDocument/2006/relationships/hyperlink" Target="https://en.wikipedia.org/wiki/Infection" TargetMode="External"/><Relationship Id="rId5" Type="http://schemas.openxmlformats.org/officeDocument/2006/relationships/hyperlink" Target="https://en.wikipedia.org/wiki/Colostrum" TargetMode="External"/><Relationship Id="rId15" Type="http://schemas.openxmlformats.org/officeDocument/2006/relationships/hyperlink" Target="https://en.wikipedia.org/wiki/Breast_engorgement#References" TargetMode="External"/><Relationship Id="rId23" Type="http://schemas.openxmlformats.org/officeDocument/2006/relationships/hyperlink" Target="https://en.wikipedia.org/wiki/Hypoplasia" TargetMode="External"/><Relationship Id="rId28" Type="http://schemas.openxmlformats.org/officeDocument/2006/relationships/hyperlink" Target="https://en.wikipedia.org/wiki/Breast_engorgement#cite_note-Magnesi_2010-3" TargetMode="External"/><Relationship Id="rId10" Type="http://schemas.openxmlformats.org/officeDocument/2006/relationships/hyperlink" Target="https://en.wikipedia.org/wiki/Breast_engorgement" TargetMode="External"/><Relationship Id="rId19" Type="http://schemas.openxmlformats.org/officeDocument/2006/relationships/hyperlink" Target="https://en.wikipedia.org/wiki/Breast_engorgement#cite_note-W2014-1" TargetMode="External"/><Relationship Id="rId4" Type="http://schemas.openxmlformats.org/officeDocument/2006/relationships/hyperlink" Target="https://en.wikipedia.org/wiki/Breast_milk" TargetMode="External"/><Relationship Id="rId9" Type="http://schemas.openxmlformats.org/officeDocument/2006/relationships/hyperlink" Target="https://en.wikipedia.org/wiki/Flu-like_symptoms" TargetMode="External"/><Relationship Id="rId14" Type="http://schemas.openxmlformats.org/officeDocument/2006/relationships/hyperlink" Target="https://en.wikipedia.org/wiki/Breast_engorgement#Treatment" TargetMode="External"/><Relationship Id="rId22" Type="http://schemas.openxmlformats.org/officeDocument/2006/relationships/hyperlink" Target="https://en.wikipedia.org/wiki/Breast_engorgement#cite_note-LLLI_Breastfeeding_and_Engorgement-2" TargetMode="External"/><Relationship Id="rId27" Type="http://schemas.openxmlformats.org/officeDocument/2006/relationships/hyperlink" Target="https://en.wikipedia.org/w/index.php?title=Breast_engorgement&amp;action=edit&amp;section=4" TargetMode="External"/></Relationships>
</file>

<file path=ppt/notesSlides/_rels/notesSlide9.xml.rels><?xml version="1.0" encoding="UTF-8" standalone="yes"?>
<Relationships xmlns="http://schemas.openxmlformats.org/package/2006/relationships"><Relationship Id="rId117" Type="http://schemas.openxmlformats.org/officeDocument/2006/relationships/hyperlink" Target="https://en.wikipedia.org/wiki/Fluconazole" TargetMode="External"/><Relationship Id="rId21" Type="http://schemas.openxmlformats.org/officeDocument/2006/relationships/hyperlink" Target="https://en.wikipedia.org/wiki/Staphylococcus_epidermidis" TargetMode="External"/><Relationship Id="rId42" Type="http://schemas.openxmlformats.org/officeDocument/2006/relationships/hyperlink" Target="https://en.wikipedia.org/wiki/Mastitis#Tests_and_diagnosis" TargetMode="External"/><Relationship Id="rId63" Type="http://schemas.openxmlformats.org/officeDocument/2006/relationships/hyperlink" Target="https://en.wikipedia.org/wiki/Mastitis#cite_note-5" TargetMode="External"/><Relationship Id="rId84" Type="http://schemas.openxmlformats.org/officeDocument/2006/relationships/hyperlink" Target="https://en.wikipedia.org/wiki/Milk" TargetMode="External"/><Relationship Id="rId138" Type="http://schemas.openxmlformats.org/officeDocument/2006/relationships/hyperlink" Target="https://en.wikipedia.org/wiki/Relapse" TargetMode="External"/><Relationship Id="rId159" Type="http://schemas.openxmlformats.org/officeDocument/2006/relationships/hyperlink" Target="https://en.wikipedia.org/wiki/Chasteberry" TargetMode="External"/><Relationship Id="rId170" Type="http://schemas.openxmlformats.org/officeDocument/2006/relationships/hyperlink" Target="https://en.wikipedia.org/wiki/Breast_biopsy" TargetMode="External"/><Relationship Id="rId191" Type="http://schemas.openxmlformats.org/officeDocument/2006/relationships/hyperlink" Target="https://en.wikipedia.org/wiki/Suffering" TargetMode="External"/><Relationship Id="rId107" Type="http://schemas.openxmlformats.org/officeDocument/2006/relationships/hyperlink" Target="https://en.wikipedia.org/wiki/Piercing" TargetMode="External"/><Relationship Id="rId11" Type="http://schemas.openxmlformats.org/officeDocument/2006/relationships/hyperlink" Target="http://www.diseasesdatabase.com/ddb7861.htm" TargetMode="External"/><Relationship Id="rId32" Type="http://schemas.openxmlformats.org/officeDocument/2006/relationships/hyperlink" Target="https://en.wikipedia.org/wiki/Mastitis#Nonpuerperal" TargetMode="External"/><Relationship Id="rId53" Type="http://schemas.openxmlformats.org/officeDocument/2006/relationships/hyperlink" Target="https://en.wikipedia.org/wiki/Lactating" TargetMode="External"/><Relationship Id="rId74" Type="http://schemas.openxmlformats.org/officeDocument/2006/relationships/hyperlink" Target="https://en.wikipedia.org/wiki/Mastitis#cite_note-7" TargetMode="External"/><Relationship Id="rId128" Type="http://schemas.openxmlformats.org/officeDocument/2006/relationships/hyperlink" Target="https://en.wikipedia.org/wiki/Therapeutic_irrigation" TargetMode="External"/><Relationship Id="rId149" Type="http://schemas.openxmlformats.org/officeDocument/2006/relationships/hyperlink" Target="https://en.wikipedia.org/wiki/Chronic_illness" TargetMode="External"/><Relationship Id="rId5" Type="http://schemas.openxmlformats.org/officeDocument/2006/relationships/hyperlink" Target="https://en.wikipedia.org/wiki/International_Statistical_Classification_of_Diseases_and_Related_Health_Problems" TargetMode="External"/><Relationship Id="rId95" Type="http://schemas.openxmlformats.org/officeDocument/2006/relationships/hyperlink" Target="https://en.wikipedia.org/wiki/Gram-negative" TargetMode="External"/><Relationship Id="rId160" Type="http://schemas.openxmlformats.org/officeDocument/2006/relationships/hyperlink" Target="https://en.wikipedia.org/wiki/Bromocriptine" TargetMode="External"/><Relationship Id="rId181" Type="http://schemas.openxmlformats.org/officeDocument/2006/relationships/hyperlink" Target="https://en.wikipedia.org/wiki/Mastitis#cite_note-38" TargetMode="External"/><Relationship Id="rId22" Type="http://schemas.openxmlformats.org/officeDocument/2006/relationships/hyperlink" Target="https://en.wikipedia.org/wiki/Streptococci" TargetMode="External"/><Relationship Id="rId43" Type="http://schemas.openxmlformats.org/officeDocument/2006/relationships/hyperlink" Target="https://en.wikipedia.org/wiki/Mastitis#Breast_cancer" TargetMode="External"/><Relationship Id="rId64" Type="http://schemas.openxmlformats.org/officeDocument/2006/relationships/hyperlink" Target="https://en.wikipedia.org/wiki/Breast_tenderness" TargetMode="External"/><Relationship Id="rId118" Type="http://schemas.openxmlformats.org/officeDocument/2006/relationships/hyperlink" Target="https://en.wikipedia.org/w/index.php?title=Mastitis&amp;action=edit&amp;section=9" TargetMode="External"/><Relationship Id="rId139" Type="http://schemas.openxmlformats.org/officeDocument/2006/relationships/hyperlink" Target="https://en.wikipedia.org/wiki/Mastitis#cite_note-trop-etal-2013-abstract-26" TargetMode="External"/><Relationship Id="rId85" Type="http://schemas.openxmlformats.org/officeDocument/2006/relationships/hyperlink" Target="https://en.wikipedia.org/wiki/Mastitis#cite_note-9" TargetMode="External"/><Relationship Id="rId150" Type="http://schemas.openxmlformats.org/officeDocument/2006/relationships/hyperlink" Target="https://en.wikipedia.org/wiki/AIDS" TargetMode="External"/><Relationship Id="rId171" Type="http://schemas.openxmlformats.org/officeDocument/2006/relationships/hyperlink" Target="https://en.wikipedia.org/w/index.php?title=Mastitis&amp;action=edit&amp;section=15" TargetMode="External"/><Relationship Id="rId192" Type="http://schemas.openxmlformats.org/officeDocument/2006/relationships/hyperlink" Target="https://en.wikipedia.org/wiki/Dairy_industry" TargetMode="External"/><Relationship Id="rId12" Type="http://schemas.openxmlformats.org/officeDocument/2006/relationships/hyperlink" Target="https://en.wikipedia.org/wiki/MedlinePlus" TargetMode="External"/><Relationship Id="rId33" Type="http://schemas.openxmlformats.org/officeDocument/2006/relationships/hyperlink" Target="https://en.wikipedia.org/wiki/Mastitis#Symptoms" TargetMode="External"/><Relationship Id="rId108" Type="http://schemas.openxmlformats.org/officeDocument/2006/relationships/hyperlink" Target="https://en.wikipedia.org/wiki/Mastitis#cite_note-bmj-best-practice-2014-09-05-18" TargetMode="External"/><Relationship Id="rId129" Type="http://schemas.openxmlformats.org/officeDocument/2006/relationships/hyperlink" Target="https://en.wikipedia.org/wiki/Mastitis#cite_note-trop-etal-2013-fig9-22" TargetMode="External"/><Relationship Id="rId54" Type="http://schemas.openxmlformats.org/officeDocument/2006/relationships/hyperlink" Target="https://en.wikipedia.org/wiki/Inflammatory_breast_cancer" TargetMode="External"/><Relationship Id="rId75" Type="http://schemas.openxmlformats.org/officeDocument/2006/relationships/hyperlink" Target="https://en.wikipedia.org/wiki/Nipples" TargetMode="External"/><Relationship Id="rId96" Type="http://schemas.openxmlformats.org/officeDocument/2006/relationships/hyperlink" Target="https://en.wikipedia.org/wiki/Escherichia_coli" TargetMode="External"/><Relationship Id="rId140" Type="http://schemas.openxmlformats.org/officeDocument/2006/relationships/hyperlink" Target="https://en.wikipedia.org/wiki/Diabetes_mellitus" TargetMode="External"/><Relationship Id="rId161" Type="http://schemas.openxmlformats.org/officeDocument/2006/relationships/hyperlink" Target="https://en.wikipedia.org/wiki/Cabergoline" TargetMode="External"/><Relationship Id="rId182" Type="http://schemas.openxmlformats.org/officeDocument/2006/relationships/hyperlink" Target="https://en.wikipedia.org/wiki/Mastitis#cite_note-39" TargetMode="External"/><Relationship Id="rId6" Type="http://schemas.openxmlformats.org/officeDocument/2006/relationships/hyperlink" Target="https://en.wikipedia.org/wiki/ICD-10" TargetMode="External"/><Relationship Id="rId23" Type="http://schemas.openxmlformats.org/officeDocument/2006/relationships/hyperlink" Target="https://en.wikipedia.org/wiki/Mastitis#cite_note-2" TargetMode="External"/><Relationship Id="rId119" Type="http://schemas.openxmlformats.org/officeDocument/2006/relationships/hyperlink" Target="https://en.wikipedia.org/wiki/Breast_ultrasound" TargetMode="External"/><Relationship Id="rId44" Type="http://schemas.openxmlformats.org/officeDocument/2006/relationships/hyperlink" Target="https://en.wikipedia.org/wiki/Mastitis#In_domestic_animals" TargetMode="External"/><Relationship Id="rId65" Type="http://schemas.openxmlformats.org/officeDocument/2006/relationships/hyperlink" Target="https://en.wikipedia.org/wiki/Swelling_(medical)" TargetMode="External"/><Relationship Id="rId86" Type="http://schemas.openxmlformats.org/officeDocument/2006/relationships/hyperlink" Target="https://en.wikipedia.org/wiki/Clothing" TargetMode="External"/><Relationship Id="rId130" Type="http://schemas.openxmlformats.org/officeDocument/2006/relationships/hyperlink" Target="https://en.wikipedia.org/wiki/Antibiotic_sensitivity" TargetMode="External"/><Relationship Id="rId151" Type="http://schemas.openxmlformats.org/officeDocument/2006/relationships/hyperlink" Target="https://en.wikipedia.org/w/index.php?title=Mastitis&amp;action=edit&amp;section=12" TargetMode="External"/><Relationship Id="rId172" Type="http://schemas.openxmlformats.org/officeDocument/2006/relationships/hyperlink" Target="https://en.wikipedia.org/wiki/Breast_cancer" TargetMode="External"/><Relationship Id="rId193" Type="http://schemas.openxmlformats.org/officeDocument/2006/relationships/hyperlink" Target="https://en.wikipedia.org/wiki/Public_health" TargetMode="External"/><Relationship Id="rId13" Type="http://schemas.openxmlformats.org/officeDocument/2006/relationships/hyperlink" Target="http://www.nlm.nih.gov/medlineplus/ency/article/001490.htm" TargetMode="External"/><Relationship Id="rId109" Type="http://schemas.openxmlformats.org/officeDocument/2006/relationships/hyperlink" Target="https://en.wikipedia.org/w/index.php?title=Mastitis&amp;action=edit&amp;section=8" TargetMode="External"/><Relationship Id="rId34" Type="http://schemas.openxmlformats.org/officeDocument/2006/relationships/hyperlink" Target="https://en.wikipedia.org/wiki/Mastitis#Breast_abscess" TargetMode="External"/><Relationship Id="rId55" Type="http://schemas.openxmlformats.org/officeDocument/2006/relationships/hyperlink" Target="https://en.wikipedia.org/w/index.php?title=Mastitis&amp;action=edit&amp;section=3" TargetMode="External"/><Relationship Id="rId76" Type="http://schemas.openxmlformats.org/officeDocument/2006/relationships/hyperlink" Target="https://en.wikipedia.org/w/index.php?title=Mastitis&amp;action=edit&amp;section=6" TargetMode="External"/><Relationship Id="rId97" Type="http://schemas.openxmlformats.org/officeDocument/2006/relationships/hyperlink" Target="https://en.wikipedia.org/wiki/Salmonella" TargetMode="External"/><Relationship Id="rId120" Type="http://schemas.openxmlformats.org/officeDocument/2006/relationships/hyperlink" Target="https://en.wikipedia.org/wiki/Fine-needle_aspiration" TargetMode="External"/><Relationship Id="rId141" Type="http://schemas.openxmlformats.org/officeDocument/2006/relationships/hyperlink" Target="https://en.wikipedia.org/wiki/Mastitis#cite_note-pmid20349659-27" TargetMode="External"/><Relationship Id="rId7" Type="http://schemas.openxmlformats.org/officeDocument/2006/relationships/hyperlink" Target="http://apps.who.int/classifications/icd10/browse/2015/en#/N61" TargetMode="External"/><Relationship Id="rId71" Type="http://schemas.openxmlformats.org/officeDocument/2006/relationships/hyperlink" Target="https://en.wikipedia.org/wiki/Chills" TargetMode="External"/><Relationship Id="rId92" Type="http://schemas.openxmlformats.org/officeDocument/2006/relationships/hyperlink" Target="https://en.wikipedia.org/wiki/Mastitis#cite_note-autogenerated1-12" TargetMode="External"/><Relationship Id="rId162" Type="http://schemas.openxmlformats.org/officeDocument/2006/relationships/hyperlink" Target="https://en.wikipedia.org/wiki/Lisuride" TargetMode="External"/><Relationship Id="rId183" Type="http://schemas.openxmlformats.org/officeDocument/2006/relationships/hyperlink" Target="https://en.wikipedia.org/wiki/Mastitis#cite_note-40" TargetMode="External"/><Relationship Id="rId2" Type="http://schemas.openxmlformats.org/officeDocument/2006/relationships/slide" Target="../slides/slide78.xml"/><Relationship Id="rId29" Type="http://schemas.openxmlformats.org/officeDocument/2006/relationships/hyperlink" Target="https://en.wikipedia.org/wiki/Mastitis#Terminology" TargetMode="External"/><Relationship Id="rId24" Type="http://schemas.openxmlformats.org/officeDocument/2006/relationships/hyperlink" Target="https://en.wikipedia.org/wiki/Flu-like_symptoms" TargetMode="External"/><Relationship Id="rId40" Type="http://schemas.openxmlformats.org/officeDocument/2006/relationships/hyperlink" Target="https://en.wikipedia.org/wiki/Mastitis#Weaning" TargetMode="External"/><Relationship Id="rId45" Type="http://schemas.openxmlformats.org/officeDocument/2006/relationships/hyperlink" Target="https://en.wikipedia.org/wiki/Mastitis#See_also" TargetMode="External"/><Relationship Id="rId66" Type="http://schemas.openxmlformats.org/officeDocument/2006/relationships/hyperlink" Target="https://en.wikipedia.org/wiki/Pain" TargetMode="External"/><Relationship Id="rId87" Type="http://schemas.openxmlformats.org/officeDocument/2006/relationships/hyperlink" Target="https://en.wikipedia.org/wiki/Skin" TargetMode="External"/><Relationship Id="rId110" Type="http://schemas.openxmlformats.org/officeDocument/2006/relationships/hyperlink" Target="https://en.wikipedia.org/wiki/Antibiotics" TargetMode="External"/><Relationship Id="rId115" Type="http://schemas.openxmlformats.org/officeDocument/2006/relationships/hyperlink" Target="https://en.wikipedia.org/wiki/Granulomatous_mastitis#Treatment" TargetMode="External"/><Relationship Id="rId131" Type="http://schemas.openxmlformats.org/officeDocument/2006/relationships/hyperlink" Target="https://en.wikipedia.org/wiki/Antibiogram" TargetMode="External"/><Relationship Id="rId136" Type="http://schemas.openxmlformats.org/officeDocument/2006/relationships/hyperlink" Target="https://en.wikipedia.org/wiki/Breast_surgery" TargetMode="External"/><Relationship Id="rId157" Type="http://schemas.openxmlformats.org/officeDocument/2006/relationships/hyperlink" Target="https://en.wikipedia.org/wiki/Thyroid" TargetMode="External"/><Relationship Id="rId178" Type="http://schemas.openxmlformats.org/officeDocument/2006/relationships/hyperlink" Target="https://en.wikipedia.org/wiki/NF-%CE%BAB" TargetMode="External"/><Relationship Id="rId61" Type="http://schemas.openxmlformats.org/officeDocument/2006/relationships/hyperlink" Target="https://en.wikipedia.org/wiki/Zuska's_disease" TargetMode="External"/><Relationship Id="rId82" Type="http://schemas.openxmlformats.org/officeDocument/2006/relationships/hyperlink" Target="https://en.wikipedia.org/w/index.php?title=Mastitis&amp;action=edit&amp;section=7" TargetMode="External"/><Relationship Id="rId152" Type="http://schemas.openxmlformats.org/officeDocument/2006/relationships/hyperlink" Target="https://en.wikipedia.org/wiki/Wikipedia:Citing_sources" TargetMode="External"/><Relationship Id="rId173" Type="http://schemas.openxmlformats.org/officeDocument/2006/relationships/hyperlink" Target="https://en.wikipedia.org/wiki/Mastitis#cite_note-33" TargetMode="External"/><Relationship Id="rId194" Type="http://schemas.openxmlformats.org/officeDocument/2006/relationships/hyperlink" Target="https://en.wikipedia.org/wiki/Sheep" TargetMode="External"/><Relationship Id="rId199" Type="http://schemas.openxmlformats.org/officeDocument/2006/relationships/hyperlink" Target="https://en.wikipedia.org/wiki/Veterinary_physician" TargetMode="External"/><Relationship Id="rId19" Type="http://schemas.openxmlformats.org/officeDocument/2006/relationships/hyperlink" Target="https://en.wikipedia.org/wiki/Staphylococcus_aureus" TargetMode="External"/><Relationship Id="rId14" Type="http://schemas.openxmlformats.org/officeDocument/2006/relationships/hyperlink" Target="https://en.wikipedia.org/wiki/Medical_Subject_Headings" TargetMode="External"/><Relationship Id="rId30" Type="http://schemas.openxmlformats.org/officeDocument/2006/relationships/hyperlink" Target="https://en.wikipedia.org/wiki/Mastitis#Types" TargetMode="External"/><Relationship Id="rId35" Type="http://schemas.openxmlformats.org/officeDocument/2006/relationships/hyperlink" Target="https://en.wikipedia.org/wiki/Mastitis#Causes" TargetMode="External"/><Relationship Id="rId56" Type="http://schemas.openxmlformats.org/officeDocument/2006/relationships/hyperlink" Target="https://en.wikipedia.org/wiki/Breastfeeding" TargetMode="External"/><Relationship Id="rId77" Type="http://schemas.openxmlformats.org/officeDocument/2006/relationships/hyperlink" Target="https://en.wikipedia.org/wiki/Abscess" TargetMode="External"/><Relationship Id="rId100" Type="http://schemas.openxmlformats.org/officeDocument/2006/relationships/hyperlink" Target="https://en.wikipedia.org/wiki/Cryptococcus_(fungus)" TargetMode="External"/><Relationship Id="rId105" Type="http://schemas.openxmlformats.org/officeDocument/2006/relationships/hyperlink" Target="https://en.wikipedia.org/wiki/Mastitis#cite_note-PatelGreydanus2010-17" TargetMode="External"/><Relationship Id="rId126" Type="http://schemas.openxmlformats.org/officeDocument/2006/relationships/hyperlink" Target="https://en.wikipedia.org/wiki/Hypodermic_needle" TargetMode="External"/><Relationship Id="rId147" Type="http://schemas.openxmlformats.org/officeDocument/2006/relationships/hyperlink" Target="https://en.wikipedia.org/wiki/Mastitis#cite_note-31" TargetMode="External"/><Relationship Id="rId168" Type="http://schemas.openxmlformats.org/officeDocument/2006/relationships/hyperlink" Target="https://en.wikipedia.org/wiki/Tumor" TargetMode="External"/><Relationship Id="rId8" Type="http://schemas.openxmlformats.org/officeDocument/2006/relationships/hyperlink" Target="https://en.wikipedia.org/wiki/List_of_ICD-9_codes" TargetMode="External"/><Relationship Id="rId51" Type="http://schemas.openxmlformats.org/officeDocument/2006/relationships/hyperlink" Target="https://en.wikipedia.org/w/index.php?title=Mastitis&amp;action=edit&amp;section=2" TargetMode="External"/><Relationship Id="rId72" Type="http://schemas.openxmlformats.org/officeDocument/2006/relationships/hyperlink" Target="https://en.wikipedia.org/wiki/Anxious" TargetMode="External"/><Relationship Id="rId93" Type="http://schemas.openxmlformats.org/officeDocument/2006/relationships/hyperlink" Target="https://en.wikipedia.org/wiki/Mastitis#cite_note-13" TargetMode="External"/><Relationship Id="rId98" Type="http://schemas.openxmlformats.org/officeDocument/2006/relationships/hyperlink" Target="https://en.wikipedia.org/wiki/Mycobacteria" TargetMode="External"/><Relationship Id="rId121" Type="http://schemas.openxmlformats.org/officeDocument/2006/relationships/hyperlink" Target="https://en.wikipedia.org/wiki/Incision_and_drainage" TargetMode="External"/><Relationship Id="rId142" Type="http://schemas.openxmlformats.org/officeDocument/2006/relationships/hyperlink" Target="https://en.wikipedia.org/wiki/Mastitis#cite_note-pmid22395343-28" TargetMode="External"/><Relationship Id="rId163" Type="http://schemas.openxmlformats.org/officeDocument/2006/relationships/hyperlink" Target="https://en.wikipedia.org/wiki/Granulomatous_mastitis" TargetMode="External"/><Relationship Id="rId184" Type="http://schemas.openxmlformats.org/officeDocument/2006/relationships/hyperlink" Target="https://en.wikipedia.org/w/index.php?title=Mastitis&amp;action=edit&amp;section=16" TargetMode="External"/><Relationship Id="rId189" Type="http://schemas.openxmlformats.org/officeDocument/2006/relationships/hyperlink" Target="https://en.wikipedia.org/wiki/Udder" TargetMode="External"/><Relationship Id="rId3" Type="http://schemas.openxmlformats.org/officeDocument/2006/relationships/hyperlink" Target="https://en.wikipedia.org/wiki/Mastitis#mw-head" TargetMode="External"/><Relationship Id="rId25" Type="http://schemas.openxmlformats.org/officeDocument/2006/relationships/hyperlink" Target="https://en.wikipedia.org/wiki/Infant" TargetMode="External"/><Relationship Id="rId46" Type="http://schemas.openxmlformats.org/officeDocument/2006/relationships/hyperlink" Target="https://en.wikipedia.org/wiki/Mastitis#References" TargetMode="External"/><Relationship Id="rId67" Type="http://schemas.openxmlformats.org/officeDocument/2006/relationships/hyperlink" Target="https://en.wikipedia.org/wiki/Fever" TargetMode="External"/><Relationship Id="rId116" Type="http://schemas.openxmlformats.org/officeDocument/2006/relationships/hyperlink" Target="https://en.wikipedia.org/wiki/BMJ" TargetMode="External"/><Relationship Id="rId137" Type="http://schemas.openxmlformats.org/officeDocument/2006/relationships/hyperlink" Target="https://en.wikipedia.org/wiki/Mastitis#cite_note-trop-etal-2011-p1694-25" TargetMode="External"/><Relationship Id="rId158" Type="http://schemas.openxmlformats.org/officeDocument/2006/relationships/hyperlink" Target="https://en.wikipedia.org/wiki/Salvia_officinalis" TargetMode="External"/><Relationship Id="rId20" Type="http://schemas.openxmlformats.org/officeDocument/2006/relationships/hyperlink" Target="https://en.wikipedia.org/wiki/Etiology_(medicine)" TargetMode="External"/><Relationship Id="rId41" Type="http://schemas.openxmlformats.org/officeDocument/2006/relationships/hyperlink" Target="https://en.wikipedia.org/wiki/Mastitis#Complications" TargetMode="External"/><Relationship Id="rId62" Type="http://schemas.openxmlformats.org/officeDocument/2006/relationships/hyperlink" Target="https://en.wikipedia.org/w/index.php?title=Mastitis&amp;action=edit&amp;section=5" TargetMode="External"/><Relationship Id="rId83" Type="http://schemas.openxmlformats.org/officeDocument/2006/relationships/hyperlink" Target="https://en.wikipedia.org/wiki/Mastitis#cite_note-pmid18394188-8" TargetMode="External"/><Relationship Id="rId88" Type="http://schemas.openxmlformats.org/officeDocument/2006/relationships/hyperlink" Target="https://en.wikipedia.org/wiki/Mouth" TargetMode="External"/><Relationship Id="rId111" Type="http://schemas.openxmlformats.org/officeDocument/2006/relationships/hyperlink" Target="https://en.wikipedia.org/wiki/Dicloxacillin" TargetMode="External"/><Relationship Id="rId132" Type="http://schemas.openxmlformats.org/officeDocument/2006/relationships/hyperlink" Target="https://en.wikipedia.org/wiki/Mastitis#cite_note-trop-etal-2011-p1691-23" TargetMode="External"/><Relationship Id="rId153" Type="http://schemas.openxmlformats.org/officeDocument/2006/relationships/hyperlink" Target="https://en.wikipedia.org/wiki/Wikipedia:Verifiability" TargetMode="External"/><Relationship Id="rId174" Type="http://schemas.openxmlformats.org/officeDocument/2006/relationships/hyperlink" Target="https://en.wikipedia.org/wiki/Mastitis#cite_note-pmid10888783-34" TargetMode="External"/><Relationship Id="rId179" Type="http://schemas.openxmlformats.org/officeDocument/2006/relationships/hyperlink" Target="https://en.wikipedia.org/wiki/Mastitis#cite_note-36" TargetMode="External"/><Relationship Id="rId195" Type="http://schemas.openxmlformats.org/officeDocument/2006/relationships/hyperlink" Target="https://en.wikipedia.org/wiki/Goats" TargetMode="External"/><Relationship Id="rId190" Type="http://schemas.openxmlformats.org/officeDocument/2006/relationships/hyperlink" Target="https://en.wikipedia.org/wiki/Dairy_cows" TargetMode="External"/><Relationship Id="rId15" Type="http://schemas.openxmlformats.org/officeDocument/2006/relationships/hyperlink" Target="https://www.nlm.nih.gov/cgi/mesh/2015/MB_cgi?field=uid&amp;term=D008413" TargetMode="External"/><Relationship Id="rId36" Type="http://schemas.openxmlformats.org/officeDocument/2006/relationships/hyperlink" Target="https://en.wikipedia.org/wiki/Mastitis#Treatment" TargetMode="External"/><Relationship Id="rId57" Type="http://schemas.openxmlformats.org/officeDocument/2006/relationships/hyperlink" Target="https://en.wikipedia.org/wiki/Lactiferous_duct" TargetMode="External"/><Relationship Id="rId106" Type="http://schemas.openxmlformats.org/officeDocument/2006/relationships/hyperlink" Target="https://en.wikipedia.org/wiki/Seat_belt" TargetMode="External"/><Relationship Id="rId127" Type="http://schemas.openxmlformats.org/officeDocument/2006/relationships/hyperlink" Target="https://en.wikipedia.org/wiki/Saline_(medicine)" TargetMode="External"/><Relationship Id="rId10" Type="http://schemas.openxmlformats.org/officeDocument/2006/relationships/hyperlink" Target="https://en.wikipedia.org/wiki/Diseases_Database" TargetMode="External"/><Relationship Id="rId31" Type="http://schemas.openxmlformats.org/officeDocument/2006/relationships/hyperlink" Target="https://en.wikipedia.org/wiki/Mastitis#Puerperal" TargetMode="External"/><Relationship Id="rId52" Type="http://schemas.openxmlformats.org/officeDocument/2006/relationships/hyperlink" Target="https://en.wiktionary.org/wiki/puerperal" TargetMode="External"/><Relationship Id="rId73" Type="http://schemas.openxmlformats.org/officeDocument/2006/relationships/hyperlink" Target="https://en.wikipedia.org/wiki/Fatigue_(medical)" TargetMode="External"/><Relationship Id="rId78" Type="http://schemas.openxmlformats.org/officeDocument/2006/relationships/hyperlink" Target="https://en.wikipedia.org/wiki/Pus" TargetMode="External"/><Relationship Id="rId94" Type="http://schemas.openxmlformats.org/officeDocument/2006/relationships/hyperlink" Target="https://en.wikipedia.org/wiki/Streptococcus" TargetMode="External"/><Relationship Id="rId99" Type="http://schemas.openxmlformats.org/officeDocument/2006/relationships/hyperlink" Target="https://en.wikipedia.org/wiki/Candida_(genus)" TargetMode="External"/><Relationship Id="rId101" Type="http://schemas.openxmlformats.org/officeDocument/2006/relationships/hyperlink" Target="https://en.wikipedia.org/wiki/Mastitis#cite_note-14" TargetMode="External"/><Relationship Id="rId122" Type="http://schemas.openxmlformats.org/officeDocument/2006/relationships/hyperlink" Target="https://en.wikipedia.org/wiki/Mastitis#cite_note-trop-etal-2011-p1684-20" TargetMode="External"/><Relationship Id="rId143" Type="http://schemas.openxmlformats.org/officeDocument/2006/relationships/hyperlink" Target="https://en.wikipedia.org/w/index.php?title=Mastitis&amp;action=edit&amp;section=10" TargetMode="External"/><Relationship Id="rId148" Type="http://schemas.openxmlformats.org/officeDocument/2006/relationships/hyperlink" Target="https://en.wikipedia.org/wiki/Diabetes" TargetMode="External"/><Relationship Id="rId164" Type="http://schemas.openxmlformats.org/officeDocument/2006/relationships/hyperlink" Target="https://en.wikipedia.org/w/index.php?title=Mastitis&amp;action=edit&amp;section=13" TargetMode="External"/><Relationship Id="rId169" Type="http://schemas.openxmlformats.org/officeDocument/2006/relationships/hyperlink" Target="https://en.wikipedia.org/wiki/Mammograms" TargetMode="External"/><Relationship Id="rId185" Type="http://schemas.openxmlformats.org/officeDocument/2006/relationships/hyperlink" Target="https://en.wikipedia.org/w/index.php?title=Roux_du_Valais&amp;action=edit&amp;redlink=1" TargetMode="External"/><Relationship Id="rId4" Type="http://schemas.openxmlformats.org/officeDocument/2006/relationships/hyperlink" Target="https://en.wikipedia.org/wiki/Mastitis#p-search" TargetMode="External"/><Relationship Id="rId9" Type="http://schemas.openxmlformats.org/officeDocument/2006/relationships/hyperlink" Target="http://www.icd9data.com/getICD9Code.ashx?icd9=611.0" TargetMode="External"/><Relationship Id="rId180" Type="http://schemas.openxmlformats.org/officeDocument/2006/relationships/hyperlink" Target="https://en.wikipedia.org/wiki/Mastitis#cite_note-37" TargetMode="External"/><Relationship Id="rId26" Type="http://schemas.openxmlformats.org/officeDocument/2006/relationships/hyperlink" Target="https://en.wikipedia.org/wiki/Mastitis#cite_note-Peters15112132-3" TargetMode="External"/><Relationship Id="rId47" Type="http://schemas.openxmlformats.org/officeDocument/2006/relationships/hyperlink" Target="https://en.wikipedia.org/wiki/Mastitis#External_links" TargetMode="External"/><Relationship Id="rId68" Type="http://schemas.openxmlformats.org/officeDocument/2006/relationships/hyperlink" Target="https://en.wikipedia.org/wiki/Mastitis#cite_note-6" TargetMode="External"/><Relationship Id="rId89" Type="http://schemas.openxmlformats.org/officeDocument/2006/relationships/hyperlink" Target="https://en.wikipedia.org/wiki/Mastitis#cite_note-10" TargetMode="External"/><Relationship Id="rId112" Type="http://schemas.openxmlformats.org/officeDocument/2006/relationships/hyperlink" Target="https://en.wikipedia.org/wiki/Cephalexin" TargetMode="External"/><Relationship Id="rId133" Type="http://schemas.openxmlformats.org/officeDocument/2006/relationships/hyperlink" Target="https://en.wikipedia.org/wiki/Mammography" TargetMode="External"/><Relationship Id="rId154" Type="http://schemas.openxmlformats.org/officeDocument/2006/relationships/hyperlink" Target="https://en.wikipedia.org/wiki/Help:Introduction_to_referencing/1" TargetMode="External"/><Relationship Id="rId175" Type="http://schemas.openxmlformats.org/officeDocument/2006/relationships/hyperlink" Target="https://en.wikipedia.org/wiki/Mastitis#cite_note-35" TargetMode="External"/><Relationship Id="rId196" Type="http://schemas.openxmlformats.org/officeDocument/2006/relationships/hyperlink" Target="https://en.wikipedia.org/wiki/Pig" TargetMode="External"/><Relationship Id="rId200" Type="http://schemas.openxmlformats.org/officeDocument/2006/relationships/hyperlink" Target="https://en.wikipedia.org/w/index.php?title=Mastitis&amp;action=edit&amp;section=17" TargetMode="External"/><Relationship Id="rId16" Type="http://schemas.openxmlformats.org/officeDocument/2006/relationships/hyperlink" Target="https://en.wikipedia.org/wiki/Inflammation" TargetMode="External"/><Relationship Id="rId37" Type="http://schemas.openxmlformats.org/officeDocument/2006/relationships/hyperlink" Target="https://en.wikipedia.org/wiki/Mastitis#Treatment_of_breast_abscess" TargetMode="External"/><Relationship Id="rId58" Type="http://schemas.openxmlformats.org/officeDocument/2006/relationships/hyperlink" Target="https://en.wikipedia.org/wiki/Breast_engorgement" TargetMode="External"/><Relationship Id="rId79" Type="http://schemas.openxmlformats.org/officeDocument/2006/relationships/hyperlink" Target="https://en.wikipedia.org/wiki/Wikipedia:Citation_needed" TargetMode="External"/><Relationship Id="rId102" Type="http://schemas.openxmlformats.org/officeDocument/2006/relationships/hyperlink" Target="https://en.wikipedia.org/wiki/Mastitis#cite_note-15" TargetMode="External"/><Relationship Id="rId123" Type="http://schemas.openxmlformats.org/officeDocument/2006/relationships/hyperlink" Target="https://en.wikipedia.org/wiki/Fine_needle_aspiration" TargetMode="External"/><Relationship Id="rId144" Type="http://schemas.openxmlformats.org/officeDocument/2006/relationships/hyperlink" Target="https://en.wikipedia.org/wiki/Mastitis#cite_note-29" TargetMode="External"/><Relationship Id="rId90" Type="http://schemas.openxmlformats.org/officeDocument/2006/relationships/hyperlink" Target="https://en.wikipedia.org/wiki/Mastitis#cite_note-autogenerated2-11" TargetMode="External"/><Relationship Id="rId165" Type="http://schemas.openxmlformats.org/officeDocument/2006/relationships/hyperlink" Target="https://en.wikipedia.org/wiki/Mastitis#cite_note-32" TargetMode="External"/><Relationship Id="rId186" Type="http://schemas.openxmlformats.org/officeDocument/2006/relationships/hyperlink" Target="https://en.wikipedia.org/wiki/Mastitis#cite_note-41" TargetMode="External"/><Relationship Id="rId27" Type="http://schemas.openxmlformats.org/officeDocument/2006/relationships/hyperlink" Target="https://en.wikipedia.org/wiki/Mastitis#cite_note-Barbosa-4" TargetMode="External"/><Relationship Id="rId48" Type="http://schemas.openxmlformats.org/officeDocument/2006/relationships/hyperlink" Target="https://en.wikipedia.org/w/index.php?title=Mastitis&amp;action=edit&amp;section=1" TargetMode="External"/><Relationship Id="rId69" Type="http://schemas.openxmlformats.org/officeDocument/2006/relationships/hyperlink" Target="https://en.wikipedia.org/wiki/Influenza" TargetMode="External"/><Relationship Id="rId113" Type="http://schemas.openxmlformats.org/officeDocument/2006/relationships/hyperlink" Target="https://en.wikipedia.org/wiki/Mastitis#cite_note-pmid18819238-19" TargetMode="External"/><Relationship Id="rId134" Type="http://schemas.openxmlformats.org/officeDocument/2006/relationships/hyperlink" Target="https://en.wikipedia.org/wiki/Mastitis#cite_note-trop-etal-2013-p1692-1693-24" TargetMode="External"/><Relationship Id="rId80" Type="http://schemas.openxmlformats.org/officeDocument/2006/relationships/hyperlink" Target="https://en.wikipedia.org/wiki/Wikipedia:Please_clarify" TargetMode="External"/><Relationship Id="rId155" Type="http://schemas.openxmlformats.org/officeDocument/2006/relationships/hyperlink" Target="https://en.wikipedia.org/wiki/Wikipedia:Verifiability#Burden_of_evidence" TargetMode="External"/><Relationship Id="rId176" Type="http://schemas.openxmlformats.org/officeDocument/2006/relationships/hyperlink" Target="https://en.wikipedia.org/wiki/Hyperplasia" TargetMode="External"/><Relationship Id="rId197" Type="http://schemas.openxmlformats.org/officeDocument/2006/relationships/hyperlink" Target="https://en.wikipedia.org/wiki/Cat" TargetMode="External"/><Relationship Id="rId17" Type="http://schemas.openxmlformats.org/officeDocument/2006/relationships/hyperlink" Target="https://en.wikipedia.org/wiki/Breast" TargetMode="External"/><Relationship Id="rId38" Type="http://schemas.openxmlformats.org/officeDocument/2006/relationships/hyperlink" Target="https://en.wikipedia.org/wiki/Mastitis#Prognosis" TargetMode="External"/><Relationship Id="rId59" Type="http://schemas.openxmlformats.org/officeDocument/2006/relationships/hyperlink" Target="https://en.wikipedia.org/w/index.php?title=Mastitis&amp;action=edit&amp;section=4" TargetMode="External"/><Relationship Id="rId103" Type="http://schemas.openxmlformats.org/officeDocument/2006/relationships/hyperlink" Target="https://en.wikipedia.org/wiki/Mastitis#cite_note-16" TargetMode="External"/><Relationship Id="rId124" Type="http://schemas.openxmlformats.org/officeDocument/2006/relationships/hyperlink" Target="https://en.wikipedia.org/wiki/Mastitis#cite_note-SilbermanSilberman2012-21" TargetMode="External"/><Relationship Id="rId70" Type="http://schemas.openxmlformats.org/officeDocument/2006/relationships/hyperlink" Target="https://en.wikipedia.org/wiki/Shivering" TargetMode="External"/><Relationship Id="rId91" Type="http://schemas.openxmlformats.org/officeDocument/2006/relationships/hyperlink" Target="https://en.wikipedia.org/wiki/Weaning" TargetMode="External"/><Relationship Id="rId145" Type="http://schemas.openxmlformats.org/officeDocument/2006/relationships/hyperlink" Target="https://en.wikipedia.org/wiki/Mastitis#cite_note-30" TargetMode="External"/><Relationship Id="rId166" Type="http://schemas.openxmlformats.org/officeDocument/2006/relationships/hyperlink" Target="https://en.wikipedia.org/w/index.php?title=Mastitis&amp;action=edit&amp;section=14" TargetMode="External"/><Relationship Id="rId187" Type="http://schemas.openxmlformats.org/officeDocument/2006/relationships/hyperlink" Target="https://en.wikipedia.org/wiki/Mastitis_in_dairy_cattle" TargetMode="External"/><Relationship Id="rId1" Type="http://schemas.openxmlformats.org/officeDocument/2006/relationships/notesMaster" Target="../notesMasters/notesMaster1.xml"/><Relationship Id="rId28" Type="http://schemas.openxmlformats.org/officeDocument/2006/relationships/hyperlink" Target="https://en.wikipedia.org/wiki/Mastitis" TargetMode="External"/><Relationship Id="rId49" Type="http://schemas.openxmlformats.org/officeDocument/2006/relationships/hyperlink" Target="https://en.wikipedia.org/wiki/Puerperal" TargetMode="External"/><Relationship Id="rId114" Type="http://schemas.openxmlformats.org/officeDocument/2006/relationships/hyperlink" Target="https://en.wikipedia.org/wiki/Subareolar_abscess#Treatment" TargetMode="External"/><Relationship Id="rId60" Type="http://schemas.openxmlformats.org/officeDocument/2006/relationships/hyperlink" Target="https://en.wikipedia.org/wiki/Nonpuerperal_mastitis" TargetMode="External"/><Relationship Id="rId81" Type="http://schemas.openxmlformats.org/officeDocument/2006/relationships/hyperlink" Target="https://en.wikipedia.org/wiki/Subareolar_abscess" TargetMode="External"/><Relationship Id="rId135" Type="http://schemas.openxmlformats.org/officeDocument/2006/relationships/hyperlink" Target="https://en.wikipedia.org/wiki/Catheter" TargetMode="External"/><Relationship Id="rId156" Type="http://schemas.openxmlformats.org/officeDocument/2006/relationships/hyperlink" Target="https://en.wikipedia.org/wiki/Hyperprolactinemia" TargetMode="External"/><Relationship Id="rId177" Type="http://schemas.openxmlformats.org/officeDocument/2006/relationships/hyperlink" Target="https://en.wikipedia.org/wiki/Phenotype" TargetMode="External"/><Relationship Id="rId198" Type="http://schemas.openxmlformats.org/officeDocument/2006/relationships/hyperlink" Target="https://en.wikipedia.org/wiki/Horse" TargetMode="External"/><Relationship Id="rId18" Type="http://schemas.openxmlformats.org/officeDocument/2006/relationships/hyperlink" Target="https://en.wikipedia.org/wiki/Mastitis#cite_note-1" TargetMode="External"/><Relationship Id="rId39" Type="http://schemas.openxmlformats.org/officeDocument/2006/relationships/hyperlink" Target="https://en.wikipedia.org/wiki/Mastitis#Risk_factors" TargetMode="External"/><Relationship Id="rId50" Type="http://schemas.openxmlformats.org/officeDocument/2006/relationships/hyperlink" Target="https://en.wikipedia.org/wiki/Chronic_cystic_mastitis" TargetMode="External"/><Relationship Id="rId104" Type="http://schemas.openxmlformats.org/officeDocument/2006/relationships/hyperlink" Target="https://en.wikipedia.org/wiki/Trauma_(medicine)" TargetMode="External"/><Relationship Id="rId125" Type="http://schemas.openxmlformats.org/officeDocument/2006/relationships/hyperlink" Target="https://en.wikipedia.org/wiki/Needle_gauge_comparison_chart" TargetMode="External"/><Relationship Id="rId146" Type="http://schemas.openxmlformats.org/officeDocument/2006/relationships/hyperlink" Target="https://en.wikipedia.org/w/index.php?title=Mastitis&amp;action=edit&amp;section=11" TargetMode="External"/><Relationship Id="rId167" Type="http://schemas.openxmlformats.org/officeDocument/2006/relationships/hyperlink" Target="https://en.wikipedia.org/wiki/Physical_examination" TargetMode="External"/><Relationship Id="rId188" Type="http://schemas.openxmlformats.org/officeDocument/2006/relationships/hyperlink" Target="https://en.wikipedia.org/wiki/Livestock"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3" Type="http://schemas.openxmlformats.org/officeDocument/2006/relationships/hyperlink" Target="http://www.ncbi.nlm.nih.gov/pmc/articles/PMC3725852/#B9" TargetMode="External"/><Relationship Id="rId18" Type="http://schemas.openxmlformats.org/officeDocument/2006/relationships/hyperlink" Target="http://www.ncbi.nlm.nih.gov/pmc/articles/PMC3725852/#B15" TargetMode="External"/><Relationship Id="rId26" Type="http://schemas.openxmlformats.org/officeDocument/2006/relationships/hyperlink" Target="http://www.ncbi.nlm.nih.gov/pmc/articles/PMC3725852/#B22" TargetMode="External"/><Relationship Id="rId39" Type="http://schemas.openxmlformats.org/officeDocument/2006/relationships/hyperlink" Target="http://www.ncbi.nlm.nih.gov/pmc/articles/PMC3725852/#B36" TargetMode="External"/><Relationship Id="rId21" Type="http://schemas.openxmlformats.org/officeDocument/2006/relationships/hyperlink" Target="http://www.ncbi.nlm.nih.gov/pmc/articles/PMC3725852/#B18" TargetMode="External"/><Relationship Id="rId34" Type="http://schemas.openxmlformats.org/officeDocument/2006/relationships/hyperlink" Target="http://www.ncbi.nlm.nih.gov/pmc/articles/PMC3725852/#B30" TargetMode="External"/><Relationship Id="rId42" Type="http://schemas.openxmlformats.org/officeDocument/2006/relationships/hyperlink" Target="http://www.ncbi.nlm.nih.gov/pmc/articles/PMC3725852/#B39" TargetMode="External"/><Relationship Id="rId7" Type="http://schemas.openxmlformats.org/officeDocument/2006/relationships/hyperlink" Target="http://www.ncbi.nlm.nih.gov/pmc/articles/PMC3725852/#B4" TargetMode="External"/><Relationship Id="rId2" Type="http://schemas.openxmlformats.org/officeDocument/2006/relationships/slide" Target="../slides/slide82.xml"/><Relationship Id="rId16" Type="http://schemas.openxmlformats.org/officeDocument/2006/relationships/hyperlink" Target="http://www.ncbi.nlm.nih.gov/pmc/articles/PMC3725852/#B13" TargetMode="External"/><Relationship Id="rId29" Type="http://schemas.openxmlformats.org/officeDocument/2006/relationships/hyperlink" Target="http://www.ncbi.nlm.nih.gov/pmc/articles/PMC3725852/#B25" TargetMode="External"/><Relationship Id="rId1" Type="http://schemas.openxmlformats.org/officeDocument/2006/relationships/notesMaster" Target="../notesMasters/notesMaster1.xml"/><Relationship Id="rId6" Type="http://schemas.openxmlformats.org/officeDocument/2006/relationships/hyperlink" Target="http://www.ncbi.nlm.nih.gov/pmc/articles/PMC3725852/#B3" TargetMode="External"/><Relationship Id="rId11" Type="http://schemas.openxmlformats.org/officeDocument/2006/relationships/hyperlink" Target="http://www.ncbi.nlm.nih.gov/pmc/articles/PMC3725852/#B8" TargetMode="External"/><Relationship Id="rId24" Type="http://schemas.openxmlformats.org/officeDocument/2006/relationships/hyperlink" Target="http://www.ncbi.nlm.nih.gov/pmc/articles/PMC3725852/#a001" TargetMode="External"/><Relationship Id="rId32" Type="http://schemas.openxmlformats.org/officeDocument/2006/relationships/hyperlink" Target="http://www.ncbi.nlm.nih.gov/pmc/articles/PMC3725852/#B28" TargetMode="External"/><Relationship Id="rId37" Type="http://schemas.openxmlformats.org/officeDocument/2006/relationships/hyperlink" Target="http://www.ncbi.nlm.nih.gov/pmc/articles/PMC3725852/#B33" TargetMode="External"/><Relationship Id="rId40" Type="http://schemas.openxmlformats.org/officeDocument/2006/relationships/hyperlink" Target="http://www.ncbi.nlm.nih.gov/pmc/articles/PMC3725852/#B37" TargetMode="External"/><Relationship Id="rId45" Type="http://schemas.openxmlformats.org/officeDocument/2006/relationships/hyperlink" Target="http://www.ncbi.nlm.nih.gov/pmc/articles/PMC3725852/#B42" TargetMode="External"/><Relationship Id="rId5" Type="http://schemas.openxmlformats.org/officeDocument/2006/relationships/hyperlink" Target="http://www.ncbi.nlm.nih.gov/pmc/articles/PMC3725852/#B2" TargetMode="External"/><Relationship Id="rId15" Type="http://schemas.openxmlformats.org/officeDocument/2006/relationships/hyperlink" Target="http://www.ncbi.nlm.nih.gov/pmc/articles/PMC3725852/#B12" TargetMode="External"/><Relationship Id="rId23" Type="http://schemas.openxmlformats.org/officeDocument/2006/relationships/hyperlink" Target="http://www.ncbi.nlm.nih.gov/pmc/articles/PMC3725852/#B20" TargetMode="External"/><Relationship Id="rId28" Type="http://schemas.openxmlformats.org/officeDocument/2006/relationships/hyperlink" Target="http://www.ncbi.nlm.nih.gov/pmc/articles/PMC3725852/#B24" TargetMode="External"/><Relationship Id="rId36" Type="http://schemas.openxmlformats.org/officeDocument/2006/relationships/hyperlink" Target="http://www.ncbi.nlm.nih.gov/pmc/articles/PMC3725852/#B32" TargetMode="External"/><Relationship Id="rId10" Type="http://schemas.openxmlformats.org/officeDocument/2006/relationships/hyperlink" Target="http://www.ncbi.nlm.nih.gov/pmc/articles/PMC3725852/#B7" TargetMode="External"/><Relationship Id="rId19" Type="http://schemas.openxmlformats.org/officeDocument/2006/relationships/hyperlink" Target="http://www.ncbi.nlm.nih.gov/pmc/articles/PMC3725852/#B16" TargetMode="External"/><Relationship Id="rId31" Type="http://schemas.openxmlformats.org/officeDocument/2006/relationships/hyperlink" Target="http://www.ncbi.nlm.nih.gov/pmc/articles/PMC3725852/#B27" TargetMode="External"/><Relationship Id="rId44" Type="http://schemas.openxmlformats.org/officeDocument/2006/relationships/hyperlink" Target="http://www.ncbi.nlm.nih.gov/pmc/articles/PMC3725852/#B41" TargetMode="External"/><Relationship Id="rId4" Type="http://schemas.openxmlformats.org/officeDocument/2006/relationships/hyperlink" Target="http://www.ncbi.nlm.nih.gov/pmc/articles/PMC3725852/#B1" TargetMode="External"/><Relationship Id="rId9" Type="http://schemas.openxmlformats.org/officeDocument/2006/relationships/hyperlink" Target="http://www.ncbi.nlm.nih.gov/pmc/articles/PMC3725852/#B6" TargetMode="External"/><Relationship Id="rId14" Type="http://schemas.openxmlformats.org/officeDocument/2006/relationships/hyperlink" Target="http://www.ncbi.nlm.nih.gov/pmc/articles/PMC3725852/#B10" TargetMode="External"/><Relationship Id="rId22" Type="http://schemas.openxmlformats.org/officeDocument/2006/relationships/hyperlink" Target="http://www.ncbi.nlm.nih.gov/pmc/articles/PMC3725852/#B19" TargetMode="External"/><Relationship Id="rId27" Type="http://schemas.openxmlformats.org/officeDocument/2006/relationships/hyperlink" Target="http://www.ncbi.nlm.nih.gov/pmc/articles/PMC3725852/#B23" TargetMode="External"/><Relationship Id="rId30" Type="http://schemas.openxmlformats.org/officeDocument/2006/relationships/hyperlink" Target="http://www.ncbi.nlm.nih.gov/pmc/articles/PMC3725852/#B26" TargetMode="External"/><Relationship Id="rId35" Type="http://schemas.openxmlformats.org/officeDocument/2006/relationships/hyperlink" Target="http://www.ncbi.nlm.nih.gov/pmc/articles/PMC3725852/#B31" TargetMode="External"/><Relationship Id="rId43" Type="http://schemas.openxmlformats.org/officeDocument/2006/relationships/hyperlink" Target="http://www.ncbi.nlm.nih.gov/pmc/articles/PMC3725852/#B40" TargetMode="External"/><Relationship Id="rId8" Type="http://schemas.openxmlformats.org/officeDocument/2006/relationships/hyperlink" Target="http://www.ncbi.nlm.nih.gov/pmc/articles/PMC3725852/#B5" TargetMode="External"/><Relationship Id="rId3" Type="http://schemas.openxmlformats.org/officeDocument/2006/relationships/hyperlink" Target="http://www.ncbi.nlm.nih.gov/pmc/articles/PMC3725852/" TargetMode="External"/><Relationship Id="rId12" Type="http://schemas.openxmlformats.org/officeDocument/2006/relationships/hyperlink" Target="http://www.ncbi.nlm.nih.gov/pmc/articles/PMC3725852/figure/f1/" TargetMode="External"/><Relationship Id="rId17" Type="http://schemas.openxmlformats.org/officeDocument/2006/relationships/hyperlink" Target="http://www.ncbi.nlm.nih.gov/pmc/articles/PMC3725852/#B14" TargetMode="External"/><Relationship Id="rId25" Type="http://schemas.openxmlformats.org/officeDocument/2006/relationships/hyperlink" Target="http://www.ncbi.nlm.nih.gov/pmc/articles/PMC3725852/#B21" TargetMode="External"/><Relationship Id="rId33" Type="http://schemas.openxmlformats.org/officeDocument/2006/relationships/hyperlink" Target="http://www.ncbi.nlm.nih.gov/pmc/articles/PMC3725852/#B29" TargetMode="External"/><Relationship Id="rId38" Type="http://schemas.openxmlformats.org/officeDocument/2006/relationships/hyperlink" Target="http://www.ncbi.nlm.nih.gov/pmc/articles/PMC3725852/#B34" TargetMode="External"/><Relationship Id="rId46" Type="http://schemas.openxmlformats.org/officeDocument/2006/relationships/hyperlink" Target="http://www.ncbi.nlm.nih.gov/pmc/articles/PMC3725852/#B43" TargetMode="External"/><Relationship Id="rId20" Type="http://schemas.openxmlformats.org/officeDocument/2006/relationships/hyperlink" Target="http://www.ncbi.nlm.nih.gov/pmc/articles/PMC3725852/#B17" TargetMode="External"/><Relationship Id="rId41" Type="http://schemas.openxmlformats.org/officeDocument/2006/relationships/hyperlink" Target="http://www.ncbi.nlm.nih.gov/pmc/articles/PMC3725852/#B38" TargetMode="External"/></Relationships>
</file>

<file path=ppt/notesSlides/_rels/notesSlide14.xml.rels><?xml version="1.0" encoding="UTF-8" standalone="yes"?>
<Relationships xmlns="http://schemas.openxmlformats.org/package/2006/relationships"><Relationship Id="rId117" Type="http://schemas.openxmlformats.org/officeDocument/2006/relationships/hyperlink" Target="https://en.wikipedia.org/wiki/BMP4" TargetMode="External"/><Relationship Id="rId299" Type="http://schemas.openxmlformats.org/officeDocument/2006/relationships/hyperlink" Target="https://en.wikipedia.org/wiki/Cleft_lip_and_palate#cite_note-70" TargetMode="External"/><Relationship Id="rId21" Type="http://schemas.openxmlformats.org/officeDocument/2006/relationships/hyperlink" Target="https://en.wikipedia.org/wiki/Congenital_deformity" TargetMode="External"/><Relationship Id="rId63" Type="http://schemas.openxmlformats.org/officeDocument/2006/relationships/hyperlink" Target="https://en.wikipedia.org/wiki/Cleft_lip_and_palate#cite_note-6" TargetMode="External"/><Relationship Id="rId159" Type="http://schemas.openxmlformats.org/officeDocument/2006/relationships/hyperlink" Target="https://en.wikipedia.org/wiki/Hydronephrosis" TargetMode="External"/><Relationship Id="rId324" Type="http://schemas.openxmlformats.org/officeDocument/2006/relationships/hyperlink" Target="https://en.wikipedia.org/wiki/Cleft_lip_and_palate#cite_note-76" TargetMode="External"/><Relationship Id="rId366" Type="http://schemas.openxmlformats.org/officeDocument/2006/relationships/hyperlink" Target="https://en.wikipedia.org/wiki/Cleft_lip_and_palate#cite_note-84" TargetMode="External"/><Relationship Id="rId170" Type="http://schemas.openxmlformats.org/officeDocument/2006/relationships/hyperlink" Target="https://omim.org/entry/600757" TargetMode="External"/><Relationship Id="rId226" Type="http://schemas.openxmlformats.org/officeDocument/2006/relationships/hyperlink" Target="https://en.wikipedia.org/wiki/Cleft_lip_and_palate#cite_note-47" TargetMode="External"/><Relationship Id="rId268" Type="http://schemas.openxmlformats.org/officeDocument/2006/relationships/hyperlink" Target="https://en.wikipedia.org/wiki/Gunfighter" TargetMode="External"/><Relationship Id="rId32" Type="http://schemas.openxmlformats.org/officeDocument/2006/relationships/hyperlink" Target="https://en.wikipedia.org/wiki/Cleft_lip_and_palate#Signs_and_symptoms" TargetMode="External"/><Relationship Id="rId74" Type="http://schemas.openxmlformats.org/officeDocument/2006/relationships/hyperlink" Target="https://en.wikipedia.org/wiki/Oral_cavity" TargetMode="External"/><Relationship Id="rId128" Type="http://schemas.openxmlformats.org/officeDocument/2006/relationships/hyperlink" Target="https://en.wikipedia.org/wiki/PTCH1" TargetMode="External"/><Relationship Id="rId335" Type="http://schemas.openxmlformats.org/officeDocument/2006/relationships/hyperlink" Target="https://en.wikipedia.org/wiki/Ferret" TargetMode="External"/><Relationship Id="rId377" Type="http://schemas.openxmlformats.org/officeDocument/2006/relationships/hyperlink" Target="http://www.cdc.gov/ncbddd/birthdefects/cleftlip.html" TargetMode="External"/><Relationship Id="rId5" Type="http://schemas.openxmlformats.org/officeDocument/2006/relationships/hyperlink" Target="https://en.wikipedia.org/wiki/Cleft_lip_and_palate#p-search" TargetMode="External"/><Relationship Id="rId181" Type="http://schemas.openxmlformats.org/officeDocument/2006/relationships/hyperlink" Target="https://omim.org/entry/612858" TargetMode="External"/><Relationship Id="rId237" Type="http://schemas.openxmlformats.org/officeDocument/2006/relationships/hyperlink" Target="https://en.wikipedia.org/wiki/Cleft_lip_and_palate#cite_note-54" TargetMode="External"/><Relationship Id="rId279" Type="http://schemas.openxmlformats.org/officeDocument/2006/relationships/hyperlink" Target="https://en.wikipedia.org/wiki/Tad_Lincoln" TargetMode="External"/><Relationship Id="rId43" Type="http://schemas.openxmlformats.org/officeDocument/2006/relationships/hyperlink" Target="https://en.wikipedia.org/wiki/Cleft_lip_and_palate#Cleft_lip" TargetMode="External"/><Relationship Id="rId139" Type="http://schemas.openxmlformats.org/officeDocument/2006/relationships/hyperlink" Target="https://en.wikipedia.org/wiki/Cleft_lip_and_palate#cite_note-26" TargetMode="External"/><Relationship Id="rId290" Type="http://schemas.openxmlformats.org/officeDocument/2006/relationships/hyperlink" Target="https://en.wikipedia.org/wiki/Cleft_lip_and_palate#cite_note-67" TargetMode="External"/><Relationship Id="rId304" Type="http://schemas.openxmlformats.org/officeDocument/2006/relationships/hyperlink" Target="https://en.wikipedia.org/wiki/Fullback_(American_football)" TargetMode="External"/><Relationship Id="rId346" Type="http://schemas.openxmlformats.org/officeDocument/2006/relationships/hyperlink" Target="https://en.wikipedia.org/wiki/Pointer_(dog_breed)" TargetMode="External"/><Relationship Id="rId388" Type="http://schemas.openxmlformats.org/officeDocument/2006/relationships/hyperlink" Target="https://www.ncbi.nlm.nih.gov/pubmed/25530442" TargetMode="External"/><Relationship Id="rId85" Type="http://schemas.openxmlformats.org/officeDocument/2006/relationships/hyperlink" Target="https://en.wikipedia.org/wiki/Cleft_lip_and_palate#cite_note-Kaplan-12" TargetMode="External"/><Relationship Id="rId150" Type="http://schemas.openxmlformats.org/officeDocument/2006/relationships/hyperlink" Target="https://en.wikipedia.org/wiki/Myopia" TargetMode="External"/><Relationship Id="rId192" Type="http://schemas.openxmlformats.org/officeDocument/2006/relationships/hyperlink" Target="https://en.wikipedia.org/wiki/Cleft_lip_and_palate#cite_note-37" TargetMode="External"/><Relationship Id="rId206" Type="http://schemas.openxmlformats.org/officeDocument/2006/relationships/hyperlink" Target="https://en.wikipedia.org/wiki/Cleft_lip_and_palate#cite_note-41" TargetMode="External"/><Relationship Id="rId248" Type="http://schemas.openxmlformats.org/officeDocument/2006/relationships/hyperlink" Target="https://en.wikipedia.org/wiki/Africans" TargetMode="External"/><Relationship Id="rId12" Type="http://schemas.openxmlformats.org/officeDocument/2006/relationships/hyperlink" Target="https://en.wikipedia.org/wiki/MedlinePlus" TargetMode="External"/><Relationship Id="rId108" Type="http://schemas.openxmlformats.org/officeDocument/2006/relationships/hyperlink" Target="https://en.wikipedia.org/wiki/Cleft_lip_and_palate#cite_note-23" TargetMode="External"/><Relationship Id="rId315" Type="http://schemas.openxmlformats.org/officeDocument/2006/relationships/hyperlink" Target="https://en.wikipedia.org/wiki/Life_&amp;_Times_of_Michael_K" TargetMode="External"/><Relationship Id="rId357" Type="http://schemas.openxmlformats.org/officeDocument/2006/relationships/hyperlink" Target="https://en.wikipedia.org/wiki/Veratrum_californicum" TargetMode="External"/><Relationship Id="rId54" Type="http://schemas.openxmlformats.org/officeDocument/2006/relationships/hyperlink" Target="https://en.wikipedia.org/wiki/Cleft_lip_and_palate#Notable_cases" TargetMode="External"/><Relationship Id="rId96" Type="http://schemas.openxmlformats.org/officeDocument/2006/relationships/hyperlink" Target="https://en.wikipedia.org/wiki/Cleft_lip_and_palate#cite_note-16" TargetMode="External"/><Relationship Id="rId161" Type="http://schemas.openxmlformats.org/officeDocument/2006/relationships/hyperlink" Target="https://en.wikipedia.org/wiki/Cleft_lip_and_palate#cite_note-34" TargetMode="External"/><Relationship Id="rId217" Type="http://schemas.openxmlformats.org/officeDocument/2006/relationships/hyperlink" Target="https://en.wikipedia.org/wiki/Philtrum" TargetMode="External"/><Relationship Id="rId259" Type="http://schemas.openxmlformats.org/officeDocument/2006/relationships/hyperlink" Target="https://en.wikipedia.org/wiki/Cleft_lip_and_palate#cite_note-pmid2784825-60" TargetMode="External"/><Relationship Id="rId23" Type="http://schemas.openxmlformats.org/officeDocument/2006/relationships/hyperlink" Target="https://en.wikipedia.org/wiki/Seizures" TargetMode="External"/><Relationship Id="rId119" Type="http://schemas.openxmlformats.org/officeDocument/2006/relationships/hyperlink" Target="https://en.wikipedia.org/wiki/FGFR2" TargetMode="External"/><Relationship Id="rId270" Type="http://schemas.openxmlformats.org/officeDocument/2006/relationships/hyperlink" Target="https://en.wikipedia.org/wiki/Wyatt_Earp" TargetMode="External"/><Relationship Id="rId326" Type="http://schemas.openxmlformats.org/officeDocument/2006/relationships/hyperlink" Target="https://en.wikipedia.org/wiki/Red_Dragon_(film)" TargetMode="External"/><Relationship Id="rId65" Type="http://schemas.openxmlformats.org/officeDocument/2006/relationships/hyperlink" Target="https://en.wikipedia.org/wiki/Cleft_lip_and_palate#cite_note-7" TargetMode="External"/><Relationship Id="rId130" Type="http://schemas.openxmlformats.org/officeDocument/2006/relationships/hyperlink" Target="https://en.wikipedia.org/wiki/SOX9" TargetMode="External"/><Relationship Id="rId368" Type="http://schemas.openxmlformats.org/officeDocument/2006/relationships/hyperlink" Target="https://en.wikipedia.org/wiki/Vomer_flap_surgery" TargetMode="External"/><Relationship Id="rId172" Type="http://schemas.openxmlformats.org/officeDocument/2006/relationships/hyperlink" Target="https://omim.org/entry/608874" TargetMode="External"/><Relationship Id="rId228" Type="http://schemas.openxmlformats.org/officeDocument/2006/relationships/hyperlink" Target="https://en.wikipedia.org/wiki/Eardrum" TargetMode="External"/><Relationship Id="rId281" Type="http://schemas.openxmlformats.org/officeDocument/2006/relationships/hyperlink" Target="https://en.wikipedia.org/wiki/Cleft_lip_and_palate#cite_note-64" TargetMode="External"/><Relationship Id="rId337" Type="http://schemas.openxmlformats.org/officeDocument/2006/relationships/hyperlink" Target="https://en.wikipedia.org/wiki/Premaxilla" TargetMode="External"/><Relationship Id="rId34" Type="http://schemas.openxmlformats.org/officeDocument/2006/relationships/hyperlink" Target="https://en.wikipedia.org/wiki/Cleft_lip_and_palate#Psychosocial" TargetMode="External"/><Relationship Id="rId76" Type="http://schemas.openxmlformats.org/officeDocument/2006/relationships/hyperlink" Target="https://en.wikipedia.org/wiki/Voice" TargetMode="External"/><Relationship Id="rId141" Type="http://schemas.openxmlformats.org/officeDocument/2006/relationships/hyperlink" Target="https://en.wikipedia.org/wiki/Cleft_lip_and_palate#cite_note-27" TargetMode="External"/><Relationship Id="rId379" Type="http://schemas.openxmlformats.org/officeDocument/2006/relationships/hyperlink" Target="https://en.wikipedia.org/wiki/Cleft_lip_and_palate#cite_ref-Wat2014_2-1" TargetMode="External"/><Relationship Id="rId7" Type="http://schemas.openxmlformats.org/officeDocument/2006/relationships/hyperlink" Target="https://en.wikipedia.org/wiki/ICD-10" TargetMode="External"/><Relationship Id="rId183" Type="http://schemas.openxmlformats.org/officeDocument/2006/relationships/hyperlink" Target="https://en.wikipedia.org/wiki/Morphogenesis" TargetMode="External"/><Relationship Id="rId239" Type="http://schemas.openxmlformats.org/officeDocument/2006/relationships/hyperlink" Target="https://en.wikipedia.org/wiki/Augmentation_pharyngoplasty" TargetMode="External"/><Relationship Id="rId390" Type="http://schemas.openxmlformats.org/officeDocument/2006/relationships/hyperlink" Target="https://books.google.ca/books?id=j7GfgRIgP9YC&amp;pg=PT299" TargetMode="External"/><Relationship Id="rId250" Type="http://schemas.openxmlformats.org/officeDocument/2006/relationships/hyperlink" Target="https://en.wikipedia.org/wiki/Japanese_people" TargetMode="External"/><Relationship Id="rId292" Type="http://schemas.openxmlformats.org/officeDocument/2006/relationships/hyperlink" Target="https://en.wikipedia.org/wiki/Cleft_lip_and_palate#cite_note-68" TargetMode="External"/><Relationship Id="rId306" Type="http://schemas.openxmlformats.org/officeDocument/2006/relationships/hyperlink" Target="https://en.wikipedia.org/wiki/Tim_Lott" TargetMode="External"/><Relationship Id="rId45" Type="http://schemas.openxmlformats.org/officeDocument/2006/relationships/hyperlink" Target="https://en.wikipedia.org/wiki/Cleft_lip_and_palate#Cleft_palate_2" TargetMode="External"/><Relationship Id="rId87" Type="http://schemas.openxmlformats.org/officeDocument/2006/relationships/hyperlink" Target="https://en.wikipedia.org/wiki/Self-esteem" TargetMode="External"/><Relationship Id="rId110" Type="http://schemas.openxmlformats.org/officeDocument/2006/relationships/hyperlink" Target="https://en.wikipedia.org/wiki/Cleft_lip_and_palate#cite_note-24" TargetMode="External"/><Relationship Id="rId348" Type="http://schemas.openxmlformats.org/officeDocument/2006/relationships/hyperlink" Target="https://en.wikipedia.org/wiki/Cleft_lip_and_palate#cite_note-80" TargetMode="External"/><Relationship Id="rId152" Type="http://schemas.openxmlformats.org/officeDocument/2006/relationships/hyperlink" Target="https://en.wikipedia.org/wiki/Cleft_lip_and_palate#cite_note-32" TargetMode="External"/><Relationship Id="rId194" Type="http://schemas.openxmlformats.org/officeDocument/2006/relationships/hyperlink" Target="https://en.wikipedia.org/wiki/Congenital_abnormalities" TargetMode="External"/><Relationship Id="rId208" Type="http://schemas.openxmlformats.org/officeDocument/2006/relationships/hyperlink" Target="https://en.wikipedia.org/wiki/Cleft_lip_and_palate#cite_note-42" TargetMode="External"/><Relationship Id="rId261" Type="http://schemas.openxmlformats.org/officeDocument/2006/relationships/hyperlink" Target="https://en.wikipedia.org/wiki/Fetus" TargetMode="External"/><Relationship Id="rId14" Type="http://schemas.openxmlformats.org/officeDocument/2006/relationships/hyperlink" Target="https://en.wikipedia.org/wiki/EMedicine" TargetMode="External"/><Relationship Id="rId56" Type="http://schemas.openxmlformats.org/officeDocument/2006/relationships/hyperlink" Target="https://en.wikipedia.org/wiki/Cleft_lip_and_palate#Other_animals" TargetMode="External"/><Relationship Id="rId317" Type="http://schemas.openxmlformats.org/officeDocument/2006/relationships/hyperlink" Target="https://en.wikipedia.org/wiki/James_Bond" TargetMode="External"/><Relationship Id="rId359" Type="http://schemas.openxmlformats.org/officeDocument/2006/relationships/hyperlink" Target="https://en.wikipedia.org/wiki/Aspiration_pneumonia" TargetMode="External"/><Relationship Id="rId98" Type="http://schemas.openxmlformats.org/officeDocument/2006/relationships/hyperlink" Target="https://en.wikipedia.org/wiki/Cleft_lip_and_palate#cite_note-18" TargetMode="External"/><Relationship Id="rId121" Type="http://schemas.openxmlformats.org/officeDocument/2006/relationships/hyperlink" Target="https://en.wikipedia.org/wiki/IRF6" TargetMode="External"/><Relationship Id="rId163" Type="http://schemas.openxmlformats.org/officeDocument/2006/relationships/hyperlink" Target="https://en.wikipedia.org/wiki/Malpuech_facial_clefting_syndrome" TargetMode="External"/><Relationship Id="rId219" Type="http://schemas.openxmlformats.org/officeDocument/2006/relationships/hyperlink" Target="https://en.wikipedia.org/wiki/Cleft_lip" TargetMode="External"/><Relationship Id="rId370" Type="http://schemas.openxmlformats.org/officeDocument/2006/relationships/hyperlink" Target="https://en.wikipedia.org/wiki/Face_and_neck_development_of_the_embryo" TargetMode="External"/><Relationship Id="rId230" Type="http://schemas.openxmlformats.org/officeDocument/2006/relationships/hyperlink" Target="https://en.wikipedia.org/wiki/Cleft_lip_and_palate#cite_note-48" TargetMode="External"/><Relationship Id="rId25" Type="http://schemas.openxmlformats.org/officeDocument/2006/relationships/hyperlink" Target="https://en.wikipedia.org/wiki/Surgery" TargetMode="External"/><Relationship Id="rId67" Type="http://schemas.openxmlformats.org/officeDocument/2006/relationships/hyperlink" Target="https://en.wikipedia.org/wiki/Cleft_lip_and_palate#cite_note-8" TargetMode="External"/><Relationship Id="rId272" Type="http://schemas.openxmlformats.org/officeDocument/2006/relationships/hyperlink" Target="https://en.wikipedia.org/wiki/Cleft_lip_and_palate#cite_note-61" TargetMode="External"/><Relationship Id="rId328" Type="http://schemas.openxmlformats.org/officeDocument/2006/relationships/hyperlink" Target="https://en.wikipedia.org/wiki/Young_adult_novels" TargetMode="External"/><Relationship Id="rId132" Type="http://schemas.openxmlformats.org/officeDocument/2006/relationships/hyperlink" Target="https://en.wikipedia.org/wiki/TBX22" TargetMode="External"/><Relationship Id="rId174" Type="http://schemas.openxmlformats.org/officeDocument/2006/relationships/hyperlink" Target="https://omim.org/entry/600644)" TargetMode="External"/><Relationship Id="rId381" Type="http://schemas.openxmlformats.org/officeDocument/2006/relationships/hyperlink" Target="https://en.wikipedia.org/wiki/Cleft_lip_and_palate#cite_ref-Wat2014_2-3" TargetMode="External"/><Relationship Id="rId241" Type="http://schemas.openxmlformats.org/officeDocument/2006/relationships/hyperlink" Target="https://en.wikipedia.org/wiki/Orthodontics" TargetMode="External"/><Relationship Id="rId36" Type="http://schemas.openxmlformats.org/officeDocument/2006/relationships/hyperlink" Target="https://en.wikipedia.org/wiki/Cleft_lip_and_palate#Cause" TargetMode="External"/><Relationship Id="rId283" Type="http://schemas.openxmlformats.org/officeDocument/2006/relationships/hyperlink" Target="https://en.wikipedia.org/wiki/Dancer" TargetMode="External"/><Relationship Id="rId339" Type="http://schemas.openxmlformats.org/officeDocument/2006/relationships/hyperlink" Target="https://en.wikipedia.org/wiki/Boxer_(dog)" TargetMode="External"/><Relationship Id="rId78" Type="http://schemas.openxmlformats.org/officeDocument/2006/relationships/hyperlink" Target="https://en.wikipedia.org/wiki/Cleft_lip_and_palate#cite_note-Sloan-10" TargetMode="External"/><Relationship Id="rId101" Type="http://schemas.openxmlformats.org/officeDocument/2006/relationships/hyperlink" Target="https://en.wikipedia.org/wiki/Cleft_lip_and_palate#cite_note-21" TargetMode="External"/><Relationship Id="rId143" Type="http://schemas.openxmlformats.org/officeDocument/2006/relationships/hyperlink" Target="https://en.wikipedia.org/wiki/Cleft_lip_and_palate#cite_note-29" TargetMode="External"/><Relationship Id="rId185" Type="http://schemas.openxmlformats.org/officeDocument/2006/relationships/hyperlink" Target="https://en.wikipedia.org/wiki/Histone" TargetMode="External"/><Relationship Id="rId350" Type="http://schemas.openxmlformats.org/officeDocument/2006/relationships/hyperlink" Target="https://en.wikipedia.org/wiki/Arthrogryposis" TargetMode="External"/><Relationship Id="rId9" Type="http://schemas.openxmlformats.org/officeDocument/2006/relationships/hyperlink" Target="http://apps.who.int/classifications/icd10/browse/2015/en#/Q37" TargetMode="External"/><Relationship Id="rId210" Type="http://schemas.openxmlformats.org/officeDocument/2006/relationships/hyperlink" Target="https://en.wikipedia.org/wiki/Deciduous_teeth" TargetMode="External"/><Relationship Id="rId252" Type="http://schemas.openxmlformats.org/officeDocument/2006/relationships/hyperlink" Target="https://en.wikipedia.org/wiki/Caucasian_race" TargetMode="External"/><Relationship Id="rId294" Type="http://schemas.openxmlformats.org/officeDocument/2006/relationships/hyperlink" Target="https://en.wikipedia.org/wiki/Actor" TargetMode="External"/><Relationship Id="rId308" Type="http://schemas.openxmlformats.org/officeDocument/2006/relationships/hyperlink" Target="https://en.wikipedia.org/wiki/Richard_Hawley" TargetMode="External"/><Relationship Id="rId47" Type="http://schemas.openxmlformats.org/officeDocument/2006/relationships/hyperlink" Target="https://en.wikipedia.org/wiki/Cleft_lip_and_palate#Hearing_loss" TargetMode="External"/><Relationship Id="rId89" Type="http://schemas.openxmlformats.org/officeDocument/2006/relationships/hyperlink" Target="https://en.wikipedia.org/wiki/Behavior" TargetMode="External"/><Relationship Id="rId112" Type="http://schemas.openxmlformats.org/officeDocument/2006/relationships/hyperlink" Target="https://en.wikipedia.org/wiki/GAD1" TargetMode="External"/><Relationship Id="rId154" Type="http://schemas.openxmlformats.org/officeDocument/2006/relationships/hyperlink" Target="https://en.wikipedia.org/wiki/Bifid_uvula" TargetMode="External"/><Relationship Id="rId361" Type="http://schemas.openxmlformats.org/officeDocument/2006/relationships/hyperlink" Target="https://en.wikipedia.org/wiki/Malnutrition" TargetMode="External"/><Relationship Id="rId196" Type="http://schemas.openxmlformats.org/officeDocument/2006/relationships/hyperlink" Target="https://en.wikipedia.org/wiki/Cleft_lip_and_palate#cite_note-38" TargetMode="External"/><Relationship Id="rId200" Type="http://schemas.openxmlformats.org/officeDocument/2006/relationships/hyperlink" Target="https://en.wikipedia.org/wiki/Anticonvulsant" TargetMode="External"/><Relationship Id="rId382" Type="http://schemas.openxmlformats.org/officeDocument/2006/relationships/hyperlink" Target="https://en.wikipedia.org/wiki/Cleft_lip_and_palate#cite_ref-Wat2014_2-4" TargetMode="External"/><Relationship Id="rId16" Type="http://schemas.openxmlformats.org/officeDocument/2006/relationships/hyperlink" Target="https://en.wikipedia.org/wiki/Cleft_lip_and_palate#cite_note-CDC2014-1" TargetMode="External"/><Relationship Id="rId221" Type="http://schemas.openxmlformats.org/officeDocument/2006/relationships/hyperlink" Target="https://en.wikipedia.org/wiki/Cohort_study" TargetMode="External"/><Relationship Id="rId242" Type="http://schemas.openxmlformats.org/officeDocument/2006/relationships/hyperlink" Target="https://en.wikipedia.org/wiki/Cleft_lip_and_palate#cite_note-56" TargetMode="External"/><Relationship Id="rId263" Type="http://schemas.openxmlformats.org/officeDocument/2006/relationships/hyperlink" Target="https://en.wikipedia.org/wiki/Eugenics" TargetMode="External"/><Relationship Id="rId284" Type="http://schemas.openxmlformats.org/officeDocument/2006/relationships/hyperlink" Target="https://en.wikipedia.org/wiki/Singer" TargetMode="External"/><Relationship Id="rId319" Type="http://schemas.openxmlformats.org/officeDocument/2006/relationships/hyperlink" Target="https://en.wikipedia.org/wiki/Ian_Fleming" TargetMode="External"/><Relationship Id="rId37" Type="http://schemas.openxmlformats.org/officeDocument/2006/relationships/hyperlink" Target="https://en.wikipedia.org/wiki/Cleft_lip_and_palate#Genetics" TargetMode="External"/><Relationship Id="rId58" Type="http://schemas.openxmlformats.org/officeDocument/2006/relationships/hyperlink" Target="https://en.wikipedia.org/wiki/Cleft_lip_and_palate#References" TargetMode="External"/><Relationship Id="rId79" Type="http://schemas.openxmlformats.org/officeDocument/2006/relationships/hyperlink" Target="https://en.wikipedia.org/wiki/Manner_of_articulation" TargetMode="External"/><Relationship Id="rId102" Type="http://schemas.openxmlformats.org/officeDocument/2006/relationships/hyperlink" Target="https://en.wikipedia.org/wiki/Internalizing" TargetMode="External"/><Relationship Id="rId123" Type="http://schemas.openxmlformats.org/officeDocument/2006/relationships/hyperlink" Target="https://en.wikipedia.org/wiki/MMP3" TargetMode="External"/><Relationship Id="rId144" Type="http://schemas.openxmlformats.org/officeDocument/2006/relationships/hyperlink" Target="https://en.wikipedia.org/wiki/X-Linked_mental_retardation" TargetMode="External"/><Relationship Id="rId330" Type="http://schemas.openxmlformats.org/officeDocument/2006/relationships/hyperlink" Target="https://en.wikipedia.org/wiki/Dog" TargetMode="External"/><Relationship Id="rId90" Type="http://schemas.openxmlformats.org/officeDocument/2006/relationships/hyperlink" Target="https://en.wikipedia.org/wiki/Social_development" TargetMode="External"/><Relationship Id="rId165" Type="http://schemas.openxmlformats.org/officeDocument/2006/relationships/hyperlink" Target="https://en.wikipedia.org/wiki/Popliteal_pterygium_syndrome" TargetMode="External"/><Relationship Id="rId186" Type="http://schemas.openxmlformats.org/officeDocument/2006/relationships/hyperlink" Target="https://en.wikipedia.org/wiki/Cleft_lip_and_palate#cite_note-PMID19843542-36" TargetMode="External"/><Relationship Id="rId351" Type="http://schemas.openxmlformats.org/officeDocument/2006/relationships/hyperlink" Target="https://en.wikipedia.org/wiki/Recessive_allele" TargetMode="External"/><Relationship Id="rId372" Type="http://schemas.openxmlformats.org/officeDocument/2006/relationships/hyperlink" Target="https://en.wikipedia.org/wiki/Cleft_lip_and_palate#cite_ref-CDC2014_1-1" TargetMode="External"/><Relationship Id="rId211" Type="http://schemas.openxmlformats.org/officeDocument/2006/relationships/hyperlink" Target="https://en.wikipedia.org/wiki/Permanent_teeth" TargetMode="External"/><Relationship Id="rId232" Type="http://schemas.openxmlformats.org/officeDocument/2006/relationships/hyperlink" Target="https://en.wikipedia.org/wiki/Cleft_lip_and_palate#cite_note-49" TargetMode="External"/><Relationship Id="rId253" Type="http://schemas.openxmlformats.org/officeDocument/2006/relationships/hyperlink" Target="https://en.wikipedia.org/wiki/Latin_Americans" TargetMode="External"/><Relationship Id="rId274" Type="http://schemas.openxmlformats.org/officeDocument/2006/relationships/hyperlink" Target="https://en.wikipedia.org/wiki/Pharaoh" TargetMode="External"/><Relationship Id="rId295" Type="http://schemas.openxmlformats.org/officeDocument/2006/relationships/hyperlink" Target="https://en.wikipedia.org/wiki/Narrator" TargetMode="External"/><Relationship Id="rId309" Type="http://schemas.openxmlformats.org/officeDocument/2006/relationships/hyperlink" Target="https://en.wikipedia.org/wiki/Dario_%C5%A0ari%C4%87" TargetMode="External"/><Relationship Id="rId27" Type="http://schemas.openxmlformats.org/officeDocument/2006/relationships/hyperlink" Target="https://en.wikipedia.org/wiki/Developed_world" TargetMode="External"/><Relationship Id="rId48" Type="http://schemas.openxmlformats.org/officeDocument/2006/relationships/hyperlink" Target="https://en.wikipedia.org/wiki/Cleft_lip_and_palate#Sample_treatment_schedule" TargetMode="External"/><Relationship Id="rId69" Type="http://schemas.openxmlformats.org/officeDocument/2006/relationships/hyperlink" Target="https://en.wikipedia.org/wiki/Hard_palate" TargetMode="External"/><Relationship Id="rId113" Type="http://schemas.openxmlformats.org/officeDocument/2006/relationships/hyperlink" Target="https://en.wikipedia.org/wiki/Cleft_lip_and_palate#cite_note-Kanno2004-25" TargetMode="External"/><Relationship Id="rId134" Type="http://schemas.openxmlformats.org/officeDocument/2006/relationships/hyperlink" Target="https://en.wikipedia.org/wiki/TFAP2A" TargetMode="External"/><Relationship Id="rId320" Type="http://schemas.openxmlformats.org/officeDocument/2006/relationships/hyperlink" Target="https://en.wikipedia.org/wiki/Goldfinger_(film)" TargetMode="External"/><Relationship Id="rId80" Type="http://schemas.openxmlformats.org/officeDocument/2006/relationships/hyperlink" Target="https://en.wikipedia.org/wiki/Distortions" TargetMode="External"/><Relationship Id="rId155" Type="http://schemas.openxmlformats.org/officeDocument/2006/relationships/hyperlink" Target="https://en.wikipedia.org/wiki/Hypertelorism" TargetMode="External"/><Relationship Id="rId176" Type="http://schemas.openxmlformats.org/officeDocument/2006/relationships/hyperlink" Target="https://omim.org/entry/129400" TargetMode="External"/><Relationship Id="rId197" Type="http://schemas.openxmlformats.org/officeDocument/2006/relationships/hyperlink" Target="https://en.wikipedia.org/wiki/Alcohol_abuse" TargetMode="External"/><Relationship Id="rId341" Type="http://schemas.openxmlformats.org/officeDocument/2006/relationships/hyperlink" Target="https://en.wikipedia.org/wiki/Cleft_lip_and_palate#cite_note-Ettinger_1995-78" TargetMode="External"/><Relationship Id="rId362" Type="http://schemas.openxmlformats.org/officeDocument/2006/relationships/hyperlink" Target="https://en.wikipedia.org/wiki/Feeding_tube" TargetMode="External"/><Relationship Id="rId383" Type="http://schemas.openxmlformats.org/officeDocument/2006/relationships/hyperlink" Target="https://en.wikipedia.org/wiki/PubMed_Identifier" TargetMode="External"/><Relationship Id="rId201" Type="http://schemas.openxmlformats.org/officeDocument/2006/relationships/hyperlink" Target="https://en.wikipedia.org/wiki/Folic_acid" TargetMode="External"/><Relationship Id="rId222" Type="http://schemas.openxmlformats.org/officeDocument/2006/relationships/hyperlink" Target="https://en.wikipedia.org/wiki/Cleft_lip_and_palate#cite_note-46" TargetMode="External"/><Relationship Id="rId243" Type="http://schemas.openxmlformats.org/officeDocument/2006/relationships/hyperlink" Target="https://en.wikipedia.org/wiki/Clefting_prevalence_in_different_cultures" TargetMode="External"/><Relationship Id="rId264" Type="http://schemas.openxmlformats.org/officeDocument/2006/relationships/hyperlink" Target="https://en.wikipedia.org/wiki/Doc_Holliday" TargetMode="External"/><Relationship Id="rId285" Type="http://schemas.openxmlformats.org/officeDocument/2006/relationships/hyperlink" Target="https://en.wikipedia.org/wiki/Cleft_lip_and_palate#cite_note-65" TargetMode="External"/><Relationship Id="rId17" Type="http://schemas.openxmlformats.org/officeDocument/2006/relationships/hyperlink" Target="https://en.wikipedia.org/wiki/Cleft_lip_and_palate#cite_note-Wat2014-2" TargetMode="External"/><Relationship Id="rId38" Type="http://schemas.openxmlformats.org/officeDocument/2006/relationships/hyperlink" Target="https://en.wikipedia.org/wiki/Cleft_lip_and_palate#Syndromes" TargetMode="External"/><Relationship Id="rId59" Type="http://schemas.openxmlformats.org/officeDocument/2006/relationships/hyperlink" Target="https://en.wikipedia.org/wiki/Cleft_lip_and_palate#Further_reading" TargetMode="External"/><Relationship Id="rId103" Type="http://schemas.openxmlformats.org/officeDocument/2006/relationships/hyperlink" Target="https://en.wikipedia.org/wiki/Quality_of_life" TargetMode="External"/><Relationship Id="rId124" Type="http://schemas.openxmlformats.org/officeDocument/2006/relationships/hyperlink" Target="https://en.wikipedia.org/wiki/MSX1" TargetMode="External"/><Relationship Id="rId310" Type="http://schemas.openxmlformats.org/officeDocument/2006/relationships/hyperlink" Target="https://en.wikipedia.org/wiki/Basketball" TargetMode="External"/><Relationship Id="rId70" Type="http://schemas.openxmlformats.org/officeDocument/2006/relationships/hyperlink" Target="https://en.wikipedia.org/wiki/Soft_palate" TargetMode="External"/><Relationship Id="rId91" Type="http://schemas.openxmlformats.org/officeDocument/2006/relationships/hyperlink" Target="https://en.wikipedia.org/wiki/Cleft_lip_and_palate#cite_note-13" TargetMode="External"/><Relationship Id="rId145" Type="http://schemas.openxmlformats.org/officeDocument/2006/relationships/hyperlink" Target="https://en.wikipedia.org/wiki/PHF8" TargetMode="External"/><Relationship Id="rId166" Type="http://schemas.openxmlformats.org/officeDocument/2006/relationships/hyperlink" Target="https://en.wikipedia.org/wiki/Treacher_Collins_Syndrome" TargetMode="External"/><Relationship Id="rId187" Type="http://schemas.openxmlformats.org/officeDocument/2006/relationships/hyperlink" Target="https://en.wikipedia.org/wiki/Epigenetic_regulation" TargetMode="External"/><Relationship Id="rId331" Type="http://schemas.openxmlformats.org/officeDocument/2006/relationships/hyperlink" Target="https://en.wikipedia.org/wiki/Sheep" TargetMode="External"/><Relationship Id="rId352" Type="http://schemas.openxmlformats.org/officeDocument/2006/relationships/hyperlink" Target="https://en.wikipedia.org/wiki/Texel_(sheep)" TargetMode="External"/><Relationship Id="rId373" Type="http://schemas.openxmlformats.org/officeDocument/2006/relationships/hyperlink" Target="https://en.wikipedia.org/wiki/Cleft_lip_and_palate#cite_ref-CDC2014_1-2" TargetMode="External"/><Relationship Id="rId1" Type="http://schemas.openxmlformats.org/officeDocument/2006/relationships/notesMaster" Target="../notesMasters/notesMaster1.xml"/><Relationship Id="rId212" Type="http://schemas.openxmlformats.org/officeDocument/2006/relationships/hyperlink" Target="https://en.wikipedia.org/wiki/Cleft_lip_and_palate#cite_note-44" TargetMode="External"/><Relationship Id="rId233" Type="http://schemas.openxmlformats.org/officeDocument/2006/relationships/hyperlink" Target="https://en.wikipedia.org/wiki/Cleft_lip_and_palate#cite_note-Lawrence.2C_C._W._1975-50" TargetMode="External"/><Relationship Id="rId254" Type="http://schemas.openxmlformats.org/officeDocument/2006/relationships/hyperlink" Target="https://en.wikipedia.org/wiki/Cleft_lip_and_palate#cite_note-Loz2012-58" TargetMode="External"/><Relationship Id="rId28" Type="http://schemas.openxmlformats.org/officeDocument/2006/relationships/hyperlink" Target="https://en.wikipedia.org/wiki/Cleft_lip_and_palate#cite_note-GDB2013-3" TargetMode="External"/><Relationship Id="rId49" Type="http://schemas.openxmlformats.org/officeDocument/2006/relationships/hyperlink" Target="https://en.wikipedia.org/wiki/Cleft_lip_and_palate#Craniofacial_team" TargetMode="External"/><Relationship Id="rId114" Type="http://schemas.openxmlformats.org/officeDocument/2006/relationships/hyperlink" Target="https://en.wikipedia.org/wiki/Glutamate_decarboxylase" TargetMode="External"/><Relationship Id="rId275" Type="http://schemas.openxmlformats.org/officeDocument/2006/relationships/hyperlink" Target="https://en.wikipedia.org/wiki/Cleft_lip_and_palate#cite_note-62" TargetMode="External"/><Relationship Id="rId296" Type="http://schemas.openxmlformats.org/officeDocument/2006/relationships/hyperlink" Target="https://en.wikipedia.org/wiki/Cleft_lip_and_palate#cite_note-69" TargetMode="External"/><Relationship Id="rId300" Type="http://schemas.openxmlformats.org/officeDocument/2006/relationships/hyperlink" Target="https://en.wikipedia.org/wiki/Illusionist" TargetMode="External"/><Relationship Id="rId60" Type="http://schemas.openxmlformats.org/officeDocument/2006/relationships/hyperlink" Target="https://en.wikipedia.org/wiki/Cleft_lip_and_palate#External_links" TargetMode="External"/><Relationship Id="rId81" Type="http://schemas.openxmlformats.org/officeDocument/2006/relationships/hyperlink" Target="https://en.wikipedia.org/wiki/Glottal_stop" TargetMode="External"/><Relationship Id="rId135" Type="http://schemas.openxmlformats.org/officeDocument/2006/relationships/hyperlink" Target="https://en.wikipedia.org/wiki/VAX1" TargetMode="External"/><Relationship Id="rId156" Type="http://schemas.openxmlformats.org/officeDocument/2006/relationships/hyperlink" Target="https://en.wikipedia.org/wiki/Aortic_aneurysm" TargetMode="External"/><Relationship Id="rId177" Type="http://schemas.openxmlformats.org/officeDocument/2006/relationships/hyperlink" Target="https://omim.org/entry/610361" TargetMode="External"/><Relationship Id="rId198" Type="http://schemas.openxmlformats.org/officeDocument/2006/relationships/hyperlink" Target="https://en.wikipedia.org/wiki/Hypertension" TargetMode="External"/><Relationship Id="rId321" Type="http://schemas.openxmlformats.org/officeDocument/2006/relationships/hyperlink" Target="https://en.wikipedia.org/wiki/Roman_Emperor" TargetMode="External"/><Relationship Id="rId342" Type="http://schemas.openxmlformats.org/officeDocument/2006/relationships/hyperlink" Target="https://en.wikipedia.org/wiki/Penetrance" TargetMode="External"/><Relationship Id="rId363" Type="http://schemas.openxmlformats.org/officeDocument/2006/relationships/hyperlink" Target="https://en.wikipedia.org/wiki/Cleft_lip_and_palate#cite_note-pmid16434860-83" TargetMode="External"/><Relationship Id="rId384" Type="http://schemas.openxmlformats.org/officeDocument/2006/relationships/hyperlink" Target="https://www.ncbi.nlm.nih.gov/pubmed/24607185" TargetMode="External"/><Relationship Id="rId202" Type="http://schemas.openxmlformats.org/officeDocument/2006/relationships/hyperlink" Target="https://en.wikipedia.org/wiki/Cleft_lip_and_palate#cite_note-40" TargetMode="External"/><Relationship Id="rId223" Type="http://schemas.openxmlformats.org/officeDocument/2006/relationships/hyperlink" Target="https://en.wikipedia.org/wiki/Palatal_obturator" TargetMode="External"/><Relationship Id="rId244" Type="http://schemas.openxmlformats.org/officeDocument/2006/relationships/hyperlink" Target="https://en.wikipedia.org/wiki/Ethnicity" TargetMode="External"/><Relationship Id="rId18" Type="http://schemas.openxmlformats.org/officeDocument/2006/relationships/hyperlink" Target="https://en.wikipedia.org/wiki/Palate" TargetMode="External"/><Relationship Id="rId39" Type="http://schemas.openxmlformats.org/officeDocument/2006/relationships/hyperlink" Target="https://en.wikipedia.org/wiki/Cleft_lip_and_palate#Specific_genes" TargetMode="External"/><Relationship Id="rId265" Type="http://schemas.openxmlformats.org/officeDocument/2006/relationships/hyperlink" Target="https://en.wikipedia.org/wiki/United_States" TargetMode="External"/><Relationship Id="rId286" Type="http://schemas.openxmlformats.org/officeDocument/2006/relationships/hyperlink" Target="https://en.wikipedia.org/wiki/Cleft_lip_and_palate#cite_note-66" TargetMode="External"/><Relationship Id="rId50" Type="http://schemas.openxmlformats.org/officeDocument/2006/relationships/hyperlink" Target="https://en.wikipedia.org/wiki/Cleft_lip_and_palate#Epidemiology" TargetMode="External"/><Relationship Id="rId104" Type="http://schemas.openxmlformats.org/officeDocument/2006/relationships/hyperlink" Target="https://en.wikipedia.org/wiki/Earth's_gravity" TargetMode="External"/><Relationship Id="rId125" Type="http://schemas.openxmlformats.org/officeDocument/2006/relationships/hyperlink" Target="https://en.wikipedia.org/wiki/Msh_homeobox_2" TargetMode="External"/><Relationship Id="rId146" Type="http://schemas.openxmlformats.org/officeDocument/2006/relationships/hyperlink" Target="https://en.wikipedia.org/wiki/Mendelian_Inheritance_in_Man" TargetMode="External"/><Relationship Id="rId167" Type="http://schemas.openxmlformats.org/officeDocument/2006/relationships/hyperlink" Target="https://en.wikipedia.org/wiki/OMIM" TargetMode="External"/><Relationship Id="rId188" Type="http://schemas.openxmlformats.org/officeDocument/2006/relationships/hyperlink" Target="https://en.wikipedia.org/wiki/Oxygen" TargetMode="External"/><Relationship Id="rId311" Type="http://schemas.openxmlformats.org/officeDocument/2006/relationships/hyperlink" Target="https://en.wikipedia.org/wiki/Cleft_lip_and_palate#cite_note-Who.E2.80.99s_That_Guy.3F_Dario_Saric.21-74" TargetMode="External"/><Relationship Id="rId332" Type="http://schemas.openxmlformats.org/officeDocument/2006/relationships/hyperlink" Target="https://en.wikipedia.org/wiki/Cat" TargetMode="External"/><Relationship Id="rId353" Type="http://schemas.openxmlformats.org/officeDocument/2006/relationships/hyperlink" Target="https://en.wikipedia.org/wiki/Lupin" TargetMode="External"/><Relationship Id="rId374" Type="http://schemas.openxmlformats.org/officeDocument/2006/relationships/hyperlink" Target="https://en.wikipedia.org/wiki/Cleft_lip_and_palate#cite_ref-CDC2014_1-3" TargetMode="External"/><Relationship Id="rId71" Type="http://schemas.openxmlformats.org/officeDocument/2006/relationships/hyperlink" Target="https://en.wikipedia.org/wiki/Cleft_lip_and_palate#cite_note-9" TargetMode="External"/><Relationship Id="rId92" Type="http://schemas.openxmlformats.org/officeDocument/2006/relationships/hyperlink" Target="https://en.wikipedia.org/wiki/Social_anxiety" TargetMode="External"/><Relationship Id="rId213" Type="http://schemas.openxmlformats.org/officeDocument/2006/relationships/hyperlink" Target="https://en.wikipedia.org/wiki/Ralph_Millard" TargetMode="External"/><Relationship Id="rId234" Type="http://schemas.openxmlformats.org/officeDocument/2006/relationships/hyperlink" Target="https://en.wikipedia.org/wiki/Cleft_lip_and_palate#cite_note-51" TargetMode="External"/><Relationship Id="rId2" Type="http://schemas.openxmlformats.org/officeDocument/2006/relationships/slide" Target="../slides/slide83.xml"/><Relationship Id="rId29" Type="http://schemas.openxmlformats.org/officeDocument/2006/relationships/hyperlink" Target="https://en.wikipedia.org/wiki/Rabbit" TargetMode="External"/><Relationship Id="rId255" Type="http://schemas.openxmlformats.org/officeDocument/2006/relationships/hyperlink" Target="https://en.wikipedia.org/wiki/Uvula" TargetMode="External"/><Relationship Id="rId276" Type="http://schemas.openxmlformats.org/officeDocument/2006/relationships/hyperlink" Target="https://en.wikipedia.org/wiki/Thorgils_Skarthi" TargetMode="External"/><Relationship Id="rId297" Type="http://schemas.openxmlformats.org/officeDocument/2006/relationships/hyperlink" Target="https://en.wikipedia.org/wiki/Cheech_Marin" TargetMode="External"/><Relationship Id="rId40" Type="http://schemas.openxmlformats.org/officeDocument/2006/relationships/hyperlink" Target="https://en.wikipedia.org/wiki/Cleft_lip_and_palate#Environment" TargetMode="External"/><Relationship Id="rId115" Type="http://schemas.openxmlformats.org/officeDocument/2006/relationships/hyperlink" Target="https://en.wikipedia.org/wiki/FaceBase" TargetMode="External"/><Relationship Id="rId136" Type="http://schemas.openxmlformats.org/officeDocument/2006/relationships/hyperlink" Target="https://en.wikipedia.org/wiki/TP63" TargetMode="External"/><Relationship Id="rId157" Type="http://schemas.openxmlformats.org/officeDocument/2006/relationships/hyperlink" Target="https://en.wikipedia.org/wiki/Cleft_lip_and_palate#cite_note-33" TargetMode="External"/><Relationship Id="rId178" Type="http://schemas.openxmlformats.org/officeDocument/2006/relationships/hyperlink" Target="https://omim.org/entry/601912" TargetMode="External"/><Relationship Id="rId301" Type="http://schemas.openxmlformats.org/officeDocument/2006/relationships/hyperlink" Target="https://en.wikipedia.org/wiki/Cleft_lip_and_palate#cite_note-71" TargetMode="External"/><Relationship Id="rId322" Type="http://schemas.openxmlformats.org/officeDocument/2006/relationships/hyperlink" Target="https://en.wikipedia.org/wiki/Commodus" TargetMode="External"/><Relationship Id="rId343" Type="http://schemas.openxmlformats.org/officeDocument/2006/relationships/hyperlink" Target="https://en.wikipedia.org/wiki/Shih_tzu" TargetMode="External"/><Relationship Id="rId364" Type="http://schemas.openxmlformats.org/officeDocument/2006/relationships/hyperlink" Target="https://en.wikipedia.org/wiki/Prosthesis" TargetMode="External"/><Relationship Id="rId61" Type="http://schemas.openxmlformats.org/officeDocument/2006/relationships/hyperlink" Target="https://en.wikipedia.org/wiki/Nasal_processes" TargetMode="External"/><Relationship Id="rId82" Type="http://schemas.openxmlformats.org/officeDocument/2006/relationships/hyperlink" Target="https://en.wikipedia.org/wiki/Fricative" TargetMode="External"/><Relationship Id="rId199" Type="http://schemas.openxmlformats.org/officeDocument/2006/relationships/hyperlink" Target="https://en.wikipedia.org/wiki/Cleft_lip_and_palate#cite_note-pmid8574428-39" TargetMode="External"/><Relationship Id="rId203" Type="http://schemas.openxmlformats.org/officeDocument/2006/relationships/hyperlink" Target="https://en.wikipedia.org/wiki/Prenatal_diagnosis" TargetMode="External"/><Relationship Id="rId385" Type="http://schemas.openxmlformats.org/officeDocument/2006/relationships/hyperlink" Target="https://en.wikipedia.org/wiki/Cleft_lip_and_palate#cite_ref-GDB2013_3-0" TargetMode="External"/><Relationship Id="rId19" Type="http://schemas.openxmlformats.org/officeDocument/2006/relationships/hyperlink" Target="https://en.wikipedia.org/wiki/Nasal_cavity" TargetMode="External"/><Relationship Id="rId224" Type="http://schemas.openxmlformats.org/officeDocument/2006/relationships/hyperlink" Target="https://en.wikipedia.org/wiki/Hypernasal_speech" TargetMode="External"/><Relationship Id="rId245" Type="http://schemas.openxmlformats.org/officeDocument/2006/relationships/hyperlink" Target="https://en.wikipedia.org/wiki/Rate_(mathematics)" TargetMode="External"/><Relationship Id="rId266" Type="http://schemas.openxmlformats.org/officeDocument/2006/relationships/hyperlink" Target="https://en.wikipedia.org/wiki/Dentistry" TargetMode="External"/><Relationship Id="rId287" Type="http://schemas.openxmlformats.org/officeDocument/2006/relationships/hyperlink" Target="https://en.wikipedia.org/wiki/J%C3%BCrgen_Habermas" TargetMode="External"/><Relationship Id="rId30" Type="http://schemas.openxmlformats.org/officeDocument/2006/relationships/hyperlink" Target="https://en.wikipedia.org/wiki/Cleft_lip_and_palate#cite_note-4" TargetMode="External"/><Relationship Id="rId105" Type="http://schemas.openxmlformats.org/officeDocument/2006/relationships/hyperlink" Target="https://en.wikipedia.org/wiki/Haberman_Feeder" TargetMode="External"/><Relationship Id="rId126" Type="http://schemas.openxmlformats.org/officeDocument/2006/relationships/hyperlink" Target="https://en.wikipedia.org/wiki/PAX7" TargetMode="External"/><Relationship Id="rId147" Type="http://schemas.openxmlformats.org/officeDocument/2006/relationships/hyperlink" Target="https://omim.org/entry/300263" TargetMode="External"/><Relationship Id="rId168" Type="http://schemas.openxmlformats.org/officeDocument/2006/relationships/hyperlink" Target="https://omim.org/entry/119530" TargetMode="External"/><Relationship Id="rId312" Type="http://schemas.openxmlformats.org/officeDocument/2006/relationships/hyperlink" Target="https://en.wikipedia.org/wiki/Antoinette_Bourignon" TargetMode="External"/><Relationship Id="rId333" Type="http://schemas.openxmlformats.org/officeDocument/2006/relationships/hyperlink" Target="https://en.wikipedia.org/wiki/Horse" TargetMode="External"/><Relationship Id="rId354" Type="http://schemas.openxmlformats.org/officeDocument/2006/relationships/hyperlink" Target="https://en.wikipedia.org/wiki/Gestation" TargetMode="External"/><Relationship Id="rId51" Type="http://schemas.openxmlformats.org/officeDocument/2006/relationships/hyperlink" Target="https://en.wikipedia.org/wiki/Cleft_lip_and_palate#Society_and_culture" TargetMode="External"/><Relationship Id="rId72" Type="http://schemas.openxmlformats.org/officeDocument/2006/relationships/hyperlink" Target="https://en.wikipedia.org/wiki/Palatine_uvula" TargetMode="External"/><Relationship Id="rId93" Type="http://schemas.openxmlformats.org/officeDocument/2006/relationships/hyperlink" Target="https://en.wikipedia.org/wiki/Speech_impediment" TargetMode="External"/><Relationship Id="rId189" Type="http://schemas.openxmlformats.org/officeDocument/2006/relationships/hyperlink" Target="https://en.wikipedia.org/wiki/Cleft_lip/palate" TargetMode="External"/><Relationship Id="rId375" Type="http://schemas.openxmlformats.org/officeDocument/2006/relationships/hyperlink" Target="https://en.wikipedia.org/wiki/Cleft_lip_and_palate#cite_ref-CDC2014_1-4" TargetMode="External"/><Relationship Id="rId3" Type="http://schemas.openxmlformats.org/officeDocument/2006/relationships/hyperlink" Target="https://en.wikipedia.org/w/index.php?title=Cleft_palate&amp;redirect=no" TargetMode="External"/><Relationship Id="rId214" Type="http://schemas.openxmlformats.org/officeDocument/2006/relationships/hyperlink" Target="https://en.wikipedia.org/wiki/Mobile_Army_Surgical_Hospital" TargetMode="External"/><Relationship Id="rId235" Type="http://schemas.openxmlformats.org/officeDocument/2006/relationships/hyperlink" Target="https://en.wikipedia.org/wiki/Cleft_lip_and_palate#cite_note-52" TargetMode="External"/><Relationship Id="rId256" Type="http://schemas.openxmlformats.org/officeDocument/2006/relationships/hyperlink" Target="https://en.wikipedia.org/wiki/Chippewa" TargetMode="External"/><Relationship Id="rId277" Type="http://schemas.openxmlformats.org/officeDocument/2006/relationships/hyperlink" Target="https://en.wikipedia.org/wiki/Scarborough,_England" TargetMode="External"/><Relationship Id="rId298" Type="http://schemas.openxmlformats.org/officeDocument/2006/relationships/hyperlink" Target="https://en.wikipedia.org/wiki/Comedian" TargetMode="External"/><Relationship Id="rId116" Type="http://schemas.openxmlformats.org/officeDocument/2006/relationships/hyperlink" Target="https://en.wikipedia.org/wiki/AXIN2" TargetMode="External"/><Relationship Id="rId137" Type="http://schemas.openxmlformats.org/officeDocument/2006/relationships/hyperlink" Target="https://en.wikipedia.org/wiki/ARHGAP29" TargetMode="External"/><Relationship Id="rId158" Type="http://schemas.openxmlformats.org/officeDocument/2006/relationships/hyperlink" Target="https://en.wikipedia.org/w/index.php?title=Hardikar_syndrome&amp;action=edit&amp;redlink=1" TargetMode="External"/><Relationship Id="rId302" Type="http://schemas.openxmlformats.org/officeDocument/2006/relationships/hyperlink" Target="https://en.wikipedia.org/wiki/Owen_Schmitt" TargetMode="External"/><Relationship Id="rId323" Type="http://schemas.openxmlformats.org/officeDocument/2006/relationships/hyperlink" Target="https://en.wikipedia.org/wiki/Gladiator_(2000_film)" TargetMode="External"/><Relationship Id="rId344" Type="http://schemas.openxmlformats.org/officeDocument/2006/relationships/hyperlink" Target="https://en.wikipedia.org/w/index.php?title=Swiss_Sheepdog&amp;action=edit&amp;redlink=1" TargetMode="External"/><Relationship Id="rId20" Type="http://schemas.openxmlformats.org/officeDocument/2006/relationships/hyperlink" Target="https://en.wikipedia.org/wiki/Otitis_media" TargetMode="External"/><Relationship Id="rId41" Type="http://schemas.openxmlformats.org/officeDocument/2006/relationships/hyperlink" Target="https://en.wikipedia.org/wiki/Cleft_lip_and_palate#Diagnosis" TargetMode="External"/><Relationship Id="rId62" Type="http://schemas.openxmlformats.org/officeDocument/2006/relationships/hyperlink" Target="https://en.wikipedia.org/wiki/Cleft_lip_and_palate#cite_note-5" TargetMode="External"/><Relationship Id="rId83" Type="http://schemas.openxmlformats.org/officeDocument/2006/relationships/hyperlink" Target="https://en.wikipedia.org/wiki/Cleft_lip_and_palate#cite_note-11" TargetMode="External"/><Relationship Id="rId179" Type="http://schemas.openxmlformats.org/officeDocument/2006/relationships/hyperlink" Target="https://en.wikipedia.org/wiki/SUMO1" TargetMode="External"/><Relationship Id="rId365" Type="http://schemas.openxmlformats.org/officeDocument/2006/relationships/hyperlink" Target="https://en.wikipedia.org/wiki/Free_flap" TargetMode="External"/><Relationship Id="rId386" Type="http://schemas.openxmlformats.org/officeDocument/2006/relationships/hyperlink" Target="https://en.wikipedia.org/wiki/Digital_object_identifier" TargetMode="External"/><Relationship Id="rId190" Type="http://schemas.openxmlformats.org/officeDocument/2006/relationships/hyperlink" Target="https://en.wikipedia.org/wiki/Hypoxia_(medical)" TargetMode="External"/><Relationship Id="rId204" Type="http://schemas.openxmlformats.org/officeDocument/2006/relationships/hyperlink" Target="https://en.wikipedia.org/wiki/Obstetrician" TargetMode="External"/><Relationship Id="rId225" Type="http://schemas.openxmlformats.org/officeDocument/2006/relationships/hyperlink" Target="https://en.wikipedia.org/wiki/Latham_appliance" TargetMode="External"/><Relationship Id="rId246" Type="http://schemas.openxmlformats.org/officeDocument/2006/relationships/hyperlink" Target="https://en.wikipedia.org/wiki/Native_Americans_in_the_United_States" TargetMode="External"/><Relationship Id="rId267" Type="http://schemas.openxmlformats.org/officeDocument/2006/relationships/hyperlink" Target="https://en.wikipedia.org/wiki/Gambling" TargetMode="External"/><Relationship Id="rId288" Type="http://schemas.openxmlformats.org/officeDocument/2006/relationships/hyperlink" Target="https://en.wikipedia.org/wiki/Philosopher" TargetMode="External"/><Relationship Id="rId106" Type="http://schemas.openxmlformats.org/officeDocument/2006/relationships/hyperlink" Target="https://en.wikipedia.org/wiki/Eustachian_tube" TargetMode="External"/><Relationship Id="rId127" Type="http://schemas.openxmlformats.org/officeDocument/2006/relationships/hyperlink" Target="https://en.wikipedia.org/wiki/PDGFC" TargetMode="External"/><Relationship Id="rId313" Type="http://schemas.openxmlformats.org/officeDocument/2006/relationships/hyperlink" Target="https://en.wikipedia.org/wiki/Cleft_lip_and_palate#cite_note-quietist-75" TargetMode="External"/><Relationship Id="rId10" Type="http://schemas.openxmlformats.org/officeDocument/2006/relationships/hyperlink" Target="https://en.wikipedia.org/wiki/List_of_ICD-9_codes" TargetMode="External"/><Relationship Id="rId31" Type="http://schemas.openxmlformats.org/officeDocument/2006/relationships/hyperlink" Target="https://en.wikipedia.org/wiki/Cleft_lip_and_palate" TargetMode="External"/><Relationship Id="rId52" Type="http://schemas.openxmlformats.org/officeDocument/2006/relationships/hyperlink" Target="https://en.wikipedia.org/wiki/Cleft_lip_and_palate#Names" TargetMode="External"/><Relationship Id="rId73" Type="http://schemas.openxmlformats.org/officeDocument/2006/relationships/hyperlink" Target="https://en.wikipedia.org/wiki/Secondary_palate" TargetMode="External"/><Relationship Id="rId94" Type="http://schemas.openxmlformats.org/officeDocument/2006/relationships/hyperlink" Target="https://en.wikipedia.org/wiki/Cleft_lip_and_palate#cite_note-14" TargetMode="External"/><Relationship Id="rId148" Type="http://schemas.openxmlformats.org/officeDocument/2006/relationships/hyperlink" Target="https://en.wikipedia.org/wiki/Cleft_lip_and_palate#cite_note-30" TargetMode="External"/><Relationship Id="rId169" Type="http://schemas.openxmlformats.org/officeDocument/2006/relationships/hyperlink" Target="https://omim.org/entry/602966" TargetMode="External"/><Relationship Id="rId334" Type="http://schemas.openxmlformats.org/officeDocument/2006/relationships/hyperlink" Target="https://en.wikipedia.org/wiki/Panda" TargetMode="External"/><Relationship Id="rId355" Type="http://schemas.openxmlformats.org/officeDocument/2006/relationships/hyperlink" Target="https://en.wikipedia.org/wiki/Cleft_lip_and_palate#cite_note-81" TargetMode="External"/><Relationship Id="rId376" Type="http://schemas.openxmlformats.org/officeDocument/2006/relationships/hyperlink" Target="https://en.wikipedia.org/wiki/Cleft_lip_and_palate#cite_ref-CDC2014_1-5" TargetMode="External"/><Relationship Id="rId4" Type="http://schemas.openxmlformats.org/officeDocument/2006/relationships/hyperlink" Target="https://en.wikipedia.org/wiki/Cleft_lip_and_palate#mw-head" TargetMode="External"/><Relationship Id="rId180" Type="http://schemas.openxmlformats.org/officeDocument/2006/relationships/hyperlink" Target="https://omim.org/entry/600625" TargetMode="External"/><Relationship Id="rId215" Type="http://schemas.openxmlformats.org/officeDocument/2006/relationships/hyperlink" Target="https://en.wikipedia.org/wiki/Cleft_lip_and_palate#cite_note-45" TargetMode="External"/><Relationship Id="rId236" Type="http://schemas.openxmlformats.org/officeDocument/2006/relationships/hyperlink" Target="https://en.wikipedia.org/wiki/Cleft_lip_and_palate#cite_note-53" TargetMode="External"/><Relationship Id="rId257" Type="http://schemas.openxmlformats.org/officeDocument/2006/relationships/hyperlink" Target="https://en.wikipedia.org/wiki/Navajo_people" TargetMode="External"/><Relationship Id="rId278" Type="http://schemas.openxmlformats.org/officeDocument/2006/relationships/hyperlink" Target="https://en.wikipedia.org/wiki/Cleft_lip_and_palate#cite_note-63" TargetMode="External"/><Relationship Id="rId303" Type="http://schemas.openxmlformats.org/officeDocument/2006/relationships/hyperlink" Target="https://en.wikipedia.org/wiki/American_football" TargetMode="External"/><Relationship Id="rId42" Type="http://schemas.openxmlformats.org/officeDocument/2006/relationships/hyperlink" Target="https://en.wikipedia.org/wiki/Cleft_lip_and_palate#Treatment" TargetMode="External"/><Relationship Id="rId84" Type="http://schemas.openxmlformats.org/officeDocument/2006/relationships/hyperlink" Target="https://en.wikipedia.org/wiki/Pharyngeal_flap_surgery" TargetMode="External"/><Relationship Id="rId138" Type="http://schemas.openxmlformats.org/officeDocument/2006/relationships/hyperlink" Target="https://en.wikipedia.org/wiki/NTN1" TargetMode="External"/><Relationship Id="rId345" Type="http://schemas.openxmlformats.org/officeDocument/2006/relationships/hyperlink" Target="https://en.wikipedia.org/wiki/Bulldog" TargetMode="External"/><Relationship Id="rId387" Type="http://schemas.openxmlformats.org/officeDocument/2006/relationships/hyperlink" Target="https://dx.doi.org/10.1016/S0140-6736(14)61682-2" TargetMode="External"/><Relationship Id="rId191" Type="http://schemas.openxmlformats.org/officeDocument/2006/relationships/hyperlink" Target="https://en.wikipedia.org/wiki/Pregnancy" TargetMode="External"/><Relationship Id="rId205" Type="http://schemas.openxmlformats.org/officeDocument/2006/relationships/hyperlink" Target="https://en.wikipedia.org/wiki/In_utero" TargetMode="External"/><Relationship Id="rId247" Type="http://schemas.openxmlformats.org/officeDocument/2006/relationships/hyperlink" Target="https://en.wikipedia.org/wiki/Asians" TargetMode="External"/><Relationship Id="rId107" Type="http://schemas.openxmlformats.org/officeDocument/2006/relationships/hyperlink" Target="https://en.wikipedia.org/wiki/Cleft_lip_and_palate#cite_note-22" TargetMode="External"/><Relationship Id="rId289" Type="http://schemas.openxmlformats.org/officeDocument/2006/relationships/hyperlink" Target="https://en.wikipedia.org/wiki/Sociologist" TargetMode="External"/><Relationship Id="rId11" Type="http://schemas.openxmlformats.org/officeDocument/2006/relationships/hyperlink" Target="http://www.icd9data.com/getICD9Code.ashx?icd9=749" TargetMode="External"/><Relationship Id="rId53" Type="http://schemas.openxmlformats.org/officeDocument/2006/relationships/hyperlink" Target="https://en.wikipedia.org/wiki/Cleft_lip_and_palate#Controversy" TargetMode="External"/><Relationship Id="rId149" Type="http://schemas.openxmlformats.org/officeDocument/2006/relationships/hyperlink" Target="https://en.wikipedia.org/wiki/Stickler's_Syndrome" TargetMode="External"/><Relationship Id="rId314" Type="http://schemas.openxmlformats.org/officeDocument/2006/relationships/hyperlink" Target="https://en.wikipedia.org/wiki/J.M._Coetzee" TargetMode="External"/><Relationship Id="rId356" Type="http://schemas.openxmlformats.org/officeDocument/2006/relationships/hyperlink" Target="https://en.wikipedia.org/wiki/Corticosteroid" TargetMode="External"/><Relationship Id="rId95" Type="http://schemas.openxmlformats.org/officeDocument/2006/relationships/hyperlink" Target="https://en.wikipedia.org/wiki/Cleft_lip_and_palate#cite_note-15" TargetMode="External"/><Relationship Id="rId160" Type="http://schemas.openxmlformats.org/officeDocument/2006/relationships/hyperlink" Target="https://en.wikipedia.org/wiki/Intestinal_obstruction" TargetMode="External"/><Relationship Id="rId216" Type="http://schemas.openxmlformats.org/officeDocument/2006/relationships/hyperlink" Target="https://en.wikipedia.org/wiki/Muscle" TargetMode="External"/><Relationship Id="rId258" Type="http://schemas.openxmlformats.org/officeDocument/2006/relationships/hyperlink" Target="https://en.wikipedia.org/wiki/Cleft_lip_and_palate#cite_note-59" TargetMode="External"/><Relationship Id="rId22" Type="http://schemas.openxmlformats.org/officeDocument/2006/relationships/hyperlink" Target="https://en.wikipedia.org/wiki/Diabetes_mellitus" TargetMode="External"/><Relationship Id="rId64" Type="http://schemas.openxmlformats.org/officeDocument/2006/relationships/hyperlink" Target="https://en.wikipedia.org/wiki/Orbicularis_oris_muscle" TargetMode="External"/><Relationship Id="rId118" Type="http://schemas.openxmlformats.org/officeDocument/2006/relationships/hyperlink" Target="https://en.wikipedia.org/wiki/FGFR1" TargetMode="External"/><Relationship Id="rId325" Type="http://schemas.openxmlformats.org/officeDocument/2006/relationships/hyperlink" Target="https://en.wikipedia.org/wiki/Francis_Dolarhyde" TargetMode="External"/><Relationship Id="rId367" Type="http://schemas.openxmlformats.org/officeDocument/2006/relationships/hyperlink" Target="https://en.wikipedia.org/wiki/Smile_Pinki" TargetMode="External"/><Relationship Id="rId171" Type="http://schemas.openxmlformats.org/officeDocument/2006/relationships/hyperlink" Target="https://omim.org/entry/608371" TargetMode="External"/><Relationship Id="rId227" Type="http://schemas.openxmlformats.org/officeDocument/2006/relationships/hyperlink" Target="https://en.wikipedia.org/wiki/Tympanostomy_tube" TargetMode="External"/><Relationship Id="rId269" Type="http://schemas.openxmlformats.org/officeDocument/2006/relationships/hyperlink" Target="https://en.wikipedia.org/wiki/American_Old_West" TargetMode="External"/><Relationship Id="rId33" Type="http://schemas.openxmlformats.org/officeDocument/2006/relationships/hyperlink" Target="https://en.wikipedia.org/wiki/Cleft_lip_and_palate#Cleft_palate" TargetMode="External"/><Relationship Id="rId129" Type="http://schemas.openxmlformats.org/officeDocument/2006/relationships/hyperlink" Target="https://en.wikipedia.org/wiki/SATB2" TargetMode="External"/><Relationship Id="rId280" Type="http://schemas.openxmlformats.org/officeDocument/2006/relationships/hyperlink" Target="https://en.wikipedia.org/wiki/Abraham_Lincoln" TargetMode="External"/><Relationship Id="rId336" Type="http://schemas.openxmlformats.org/officeDocument/2006/relationships/hyperlink" Target="https://en.wikipedia.org/wiki/Rhinarium" TargetMode="External"/><Relationship Id="rId75" Type="http://schemas.openxmlformats.org/officeDocument/2006/relationships/hyperlink" Target="https://en.wikipedia.org/wiki/Velopharyngeal_insufficiency" TargetMode="External"/><Relationship Id="rId140" Type="http://schemas.openxmlformats.org/officeDocument/2006/relationships/hyperlink" Target="https://en.wikipedia.org/wiki/Van_der_Woude_Syndrome" TargetMode="External"/><Relationship Id="rId182" Type="http://schemas.openxmlformats.org/officeDocument/2006/relationships/hyperlink" Target="https://en.wikipedia.org/wiki/Cleft_lip_and_palate#cite_note-pmid14756664-35" TargetMode="External"/><Relationship Id="rId378" Type="http://schemas.openxmlformats.org/officeDocument/2006/relationships/hyperlink" Target="https://en.wikipedia.org/wiki/Cleft_lip_and_palate#cite_ref-Wat2014_2-0" TargetMode="External"/><Relationship Id="rId6" Type="http://schemas.openxmlformats.org/officeDocument/2006/relationships/hyperlink" Target="https://en.wikipedia.org/wiki/International_Statistical_Classification_of_Diseases_and_Related_Health_Problems" TargetMode="External"/><Relationship Id="rId238" Type="http://schemas.openxmlformats.org/officeDocument/2006/relationships/hyperlink" Target="https://en.wikipedia.org/wiki/Cleft_lip_and_palate#cite_note-55" TargetMode="External"/><Relationship Id="rId291" Type="http://schemas.openxmlformats.org/officeDocument/2006/relationships/hyperlink" Target="https://en.wikipedia.org/wiki/Ljubo_Milicevic" TargetMode="External"/><Relationship Id="rId305" Type="http://schemas.openxmlformats.org/officeDocument/2006/relationships/hyperlink" Target="https://en.wikipedia.org/wiki/Cleft_lip_and_palate#cite_note-72" TargetMode="External"/><Relationship Id="rId347" Type="http://schemas.openxmlformats.org/officeDocument/2006/relationships/hyperlink" Target="https://en.wikipedia.org/wiki/Cleft_lip_and_palate#cite_note-79" TargetMode="External"/><Relationship Id="rId44" Type="http://schemas.openxmlformats.org/officeDocument/2006/relationships/hyperlink" Target="https://en.wikipedia.org/wiki/Cleft_lip_and_palate#Pre-surgical_devices" TargetMode="External"/><Relationship Id="rId86" Type="http://schemas.openxmlformats.org/officeDocument/2006/relationships/hyperlink" Target="https://en.wikipedia.org/wiki/Wikipedia:Citation_needed" TargetMode="External"/><Relationship Id="rId151" Type="http://schemas.openxmlformats.org/officeDocument/2006/relationships/hyperlink" Target="https://en.wikipedia.org/wiki/Cleft_lip_and_palate#cite_note-31" TargetMode="External"/><Relationship Id="rId389" Type="http://schemas.openxmlformats.org/officeDocument/2006/relationships/hyperlink" Target="https://en.wikipedia.org/wiki/Cleft_lip_and_palate#cite_ref-4" TargetMode="External"/><Relationship Id="rId193" Type="http://schemas.openxmlformats.org/officeDocument/2006/relationships/hyperlink" Target="https://en.wikipedia.org/wiki/Fetal" TargetMode="External"/><Relationship Id="rId207" Type="http://schemas.openxmlformats.org/officeDocument/2006/relationships/hyperlink" Target="https://en.wikipedia.org/wiki/Paul_Tessier" TargetMode="External"/><Relationship Id="rId249" Type="http://schemas.openxmlformats.org/officeDocument/2006/relationships/hyperlink" Target="https://en.wikipedia.org/wiki/Cleft_lip_and_palate#cite_note-57" TargetMode="External"/><Relationship Id="rId13" Type="http://schemas.openxmlformats.org/officeDocument/2006/relationships/hyperlink" Target="http://www.nlm.nih.gov/medlineplus/ency/article/001051.htm" TargetMode="External"/><Relationship Id="rId109" Type="http://schemas.openxmlformats.org/officeDocument/2006/relationships/hyperlink" Target="https://en.wikipedia.org/wiki/Syndrome" TargetMode="External"/><Relationship Id="rId260" Type="http://schemas.openxmlformats.org/officeDocument/2006/relationships/hyperlink" Target="https://en.wikipedia.org/wiki/Abortion" TargetMode="External"/><Relationship Id="rId316" Type="http://schemas.openxmlformats.org/officeDocument/2006/relationships/hyperlink" Target="https://en.wikipedia.org/wiki/Oddjob" TargetMode="External"/><Relationship Id="rId55" Type="http://schemas.openxmlformats.org/officeDocument/2006/relationships/hyperlink" Target="https://en.wikipedia.org/wiki/Cleft_lip_and_palate#Works_of_fiction" TargetMode="External"/><Relationship Id="rId97" Type="http://schemas.openxmlformats.org/officeDocument/2006/relationships/hyperlink" Target="https://en.wikipedia.org/wiki/Cleft_lip_and_palate#cite_note-17" TargetMode="External"/><Relationship Id="rId120" Type="http://schemas.openxmlformats.org/officeDocument/2006/relationships/hyperlink" Target="https://en.wikipedia.org/wiki/FOXE1" TargetMode="External"/><Relationship Id="rId358" Type="http://schemas.openxmlformats.org/officeDocument/2006/relationships/hyperlink" Target="https://en.wikipedia.org/wiki/Cleft_lip_and_palate#cite_note-82" TargetMode="External"/><Relationship Id="rId162" Type="http://schemas.openxmlformats.org/officeDocument/2006/relationships/hyperlink" Target="https://en.wikipedia.org/wiki/Patau_Syndrome" TargetMode="External"/><Relationship Id="rId218" Type="http://schemas.openxmlformats.org/officeDocument/2006/relationships/hyperlink" Target="https://en.wikipedia.org/w/index.php?title=Nasoalveolar_molding&amp;action=edit&amp;redlink=1" TargetMode="External"/><Relationship Id="rId271" Type="http://schemas.openxmlformats.org/officeDocument/2006/relationships/hyperlink" Target="https://en.wikipedia.org/wiki/Gunfight_at_the_O.K._Corral" TargetMode="External"/><Relationship Id="rId24" Type="http://schemas.openxmlformats.org/officeDocument/2006/relationships/hyperlink" Target="https://en.wikipedia.org/wiki/Obstetric_ultrasonography" TargetMode="External"/><Relationship Id="rId66" Type="http://schemas.openxmlformats.org/officeDocument/2006/relationships/hyperlink" Target="https://en.wikipedia.org/wiki/Craniofacial_team" TargetMode="External"/><Relationship Id="rId131" Type="http://schemas.openxmlformats.org/officeDocument/2006/relationships/hyperlink" Target="https://en.wikipedia.org/wiki/Small_ubiquitin-related_modifier_1" TargetMode="External"/><Relationship Id="rId327" Type="http://schemas.openxmlformats.org/officeDocument/2006/relationships/hyperlink" Target="https://en.wikipedia.org/wiki/Cleft_lip_and_palate#cite_note-77" TargetMode="External"/><Relationship Id="rId369" Type="http://schemas.openxmlformats.org/officeDocument/2006/relationships/hyperlink" Target="https://en.wikipedia.org/wiki/Cleft_lip_and_palate_organisations" TargetMode="External"/><Relationship Id="rId173" Type="http://schemas.openxmlformats.org/officeDocument/2006/relationships/hyperlink" Target="https://omim.org/entry/608864" TargetMode="External"/><Relationship Id="rId229" Type="http://schemas.openxmlformats.org/officeDocument/2006/relationships/hyperlink" Target="https://en.wikipedia.org/wiki/Middle_ear" TargetMode="External"/><Relationship Id="rId380" Type="http://schemas.openxmlformats.org/officeDocument/2006/relationships/hyperlink" Target="https://en.wikipedia.org/wiki/Cleft_lip_and_palate#cite_ref-Wat2014_2-2" TargetMode="External"/><Relationship Id="rId240" Type="http://schemas.openxmlformats.org/officeDocument/2006/relationships/hyperlink" Target="https://en.wikipedia.org/wiki/Bone_grafting" TargetMode="External"/><Relationship Id="rId35" Type="http://schemas.openxmlformats.org/officeDocument/2006/relationships/hyperlink" Target="https://en.wikipedia.org/wiki/Cleft_lip_and_palate#Complications" TargetMode="External"/><Relationship Id="rId77" Type="http://schemas.openxmlformats.org/officeDocument/2006/relationships/hyperlink" Target="https://en.wikipedia.org/wiki/Resonance" TargetMode="External"/><Relationship Id="rId100" Type="http://schemas.openxmlformats.org/officeDocument/2006/relationships/hyperlink" Target="https://en.wikipedia.org/wiki/Cleft_lip_and_palate#cite_note-PopeSynder-20" TargetMode="External"/><Relationship Id="rId282" Type="http://schemas.openxmlformats.org/officeDocument/2006/relationships/hyperlink" Target="https://en.wikipedia.org/wiki/Carmit_Bachar" TargetMode="External"/><Relationship Id="rId338" Type="http://schemas.openxmlformats.org/officeDocument/2006/relationships/hyperlink" Target="https://en.wikipedia.org/wiki/Brachycephalic_syndrome" TargetMode="External"/><Relationship Id="rId8" Type="http://schemas.openxmlformats.org/officeDocument/2006/relationships/hyperlink" Target="http://apps.who.int/classifications/icd10/browse/2015/en#/Q35" TargetMode="External"/><Relationship Id="rId142" Type="http://schemas.openxmlformats.org/officeDocument/2006/relationships/hyperlink" Target="https://en.wikipedia.org/wiki/Cleft_lip_and_palate#cite_note-28" TargetMode="External"/><Relationship Id="rId184" Type="http://schemas.openxmlformats.org/officeDocument/2006/relationships/hyperlink" Target="https://en.wikipedia.org/wiki/FGF10" TargetMode="External"/><Relationship Id="rId251" Type="http://schemas.openxmlformats.org/officeDocument/2006/relationships/hyperlink" Target="https://en.wikipedia.org/wiki/Han_Chinese" TargetMode="External"/><Relationship Id="rId46" Type="http://schemas.openxmlformats.org/officeDocument/2006/relationships/hyperlink" Target="https://en.wikipedia.org/wiki/Cleft_lip_and_palate#Speech_and_hearing" TargetMode="External"/><Relationship Id="rId293" Type="http://schemas.openxmlformats.org/officeDocument/2006/relationships/hyperlink" Target="https://en.wikipedia.org/wiki/Stacy_Keach" TargetMode="External"/><Relationship Id="rId307" Type="http://schemas.openxmlformats.org/officeDocument/2006/relationships/hyperlink" Target="https://en.wikipedia.org/wiki/Cleft_lip_and_palate#cite_note-Famous_People_with_a_Cleft-73" TargetMode="External"/><Relationship Id="rId349" Type="http://schemas.openxmlformats.org/officeDocument/2006/relationships/hyperlink" Target="https://en.wikipedia.org/wiki/Charolais_cattle" TargetMode="External"/><Relationship Id="rId88" Type="http://schemas.openxmlformats.org/officeDocument/2006/relationships/hyperlink" Target="https://en.wikipedia.org/wiki/Social_skills" TargetMode="External"/><Relationship Id="rId111" Type="http://schemas.openxmlformats.org/officeDocument/2006/relationships/hyperlink" Target="https://en.wikipedia.org/wiki/Cleft_lip_and_palate_transmembrane_protein_1" TargetMode="External"/><Relationship Id="rId153" Type="http://schemas.openxmlformats.org/officeDocument/2006/relationships/hyperlink" Target="https://en.wikipedia.org/wiki/Loeys-Dietz_syndrome" TargetMode="External"/><Relationship Id="rId195" Type="http://schemas.openxmlformats.org/officeDocument/2006/relationships/hyperlink" Target="https://en.wikipedia.org/wiki/Smoking_and_pregnancy" TargetMode="External"/><Relationship Id="rId209" Type="http://schemas.openxmlformats.org/officeDocument/2006/relationships/hyperlink" Target="https://en.wikipedia.org/wiki/Cleft_lip_and_palate#cite_note-43" TargetMode="External"/><Relationship Id="rId360" Type="http://schemas.openxmlformats.org/officeDocument/2006/relationships/hyperlink" Target="https://en.wikipedia.org/wiki/Regurgitation_(digestion)" TargetMode="External"/><Relationship Id="rId220" Type="http://schemas.openxmlformats.org/officeDocument/2006/relationships/hyperlink" Target="https://en.wikipedia.org/wiki/Cleft_palate" TargetMode="External"/><Relationship Id="rId15" Type="http://schemas.openxmlformats.org/officeDocument/2006/relationships/hyperlink" Target="http://www.emedicine.com/ped/topic2679.htm" TargetMode="External"/><Relationship Id="rId57" Type="http://schemas.openxmlformats.org/officeDocument/2006/relationships/hyperlink" Target="https://en.wikipedia.org/wiki/Cleft_lip_and_palate#See_also" TargetMode="External"/><Relationship Id="rId262" Type="http://schemas.openxmlformats.org/officeDocument/2006/relationships/hyperlink" Target="https://en.wikipedia.org/wiki/Human_rights" TargetMode="External"/><Relationship Id="rId318" Type="http://schemas.openxmlformats.org/officeDocument/2006/relationships/hyperlink" Target="https://en.wikipedia.org/wiki/Goldfinger_(novel)" TargetMode="External"/><Relationship Id="rId99" Type="http://schemas.openxmlformats.org/officeDocument/2006/relationships/hyperlink" Target="https://en.wikipedia.org/wiki/Cleft_lip_and_palate#cite_note-19" TargetMode="External"/><Relationship Id="rId122" Type="http://schemas.openxmlformats.org/officeDocument/2006/relationships/hyperlink" Target="https://en.wikipedia.org/wiki/MAFB_(gene)" TargetMode="External"/><Relationship Id="rId164" Type="http://schemas.openxmlformats.org/officeDocument/2006/relationships/hyperlink" Target="https://en.wikipedia.org/wiki/Hearing_loss_with_craniofacial_syndromes" TargetMode="External"/><Relationship Id="rId371" Type="http://schemas.openxmlformats.org/officeDocument/2006/relationships/hyperlink" Target="https://en.wikipedia.org/wiki/Cleft_lip_and_palate#cite_ref-CDC2014_1-0" TargetMode="External"/><Relationship Id="rId26" Type="http://schemas.openxmlformats.org/officeDocument/2006/relationships/hyperlink" Target="https://en.wikipedia.org/wiki/Speech_therapy" TargetMode="External"/><Relationship Id="rId231" Type="http://schemas.openxmlformats.org/officeDocument/2006/relationships/hyperlink" Target="https://en.wikipedia.org/wiki/Velopharyngeal_inadequacy" TargetMode="External"/><Relationship Id="rId273" Type="http://schemas.openxmlformats.org/officeDocument/2006/relationships/hyperlink" Target="https://en.wikipedia.org/wiki/Tutankhamen" TargetMode="External"/><Relationship Id="rId329" Type="http://schemas.openxmlformats.org/officeDocument/2006/relationships/hyperlink" Target="https://en.wikipedia.org/wiki/Cattle" TargetMode="External"/><Relationship Id="rId68" Type="http://schemas.openxmlformats.org/officeDocument/2006/relationships/hyperlink" Target="https://en.wikipedia.org/wiki/Human_skull" TargetMode="External"/><Relationship Id="rId133" Type="http://schemas.openxmlformats.org/officeDocument/2006/relationships/hyperlink" Target="https://en.wikipedia.org/wiki/Treacle_protein" TargetMode="External"/><Relationship Id="rId175" Type="http://schemas.openxmlformats.org/officeDocument/2006/relationships/hyperlink" Target="https://en.wikipedia.org/wiki/PVRL1" TargetMode="External"/><Relationship Id="rId340" Type="http://schemas.openxmlformats.org/officeDocument/2006/relationships/hyperlink" Target="https://en.wikipedia.org/wiki/Boston_Terrier"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n.wikipedia.org/wiki/Premature_birth" TargetMode="External"/><Relationship Id="rId7" Type="http://schemas.openxmlformats.org/officeDocument/2006/relationships/hyperlink" Target="https://en.wikipedia.org/wiki/Haberman_Feeder" TargetMode="External"/><Relationship Id="rId2" Type="http://schemas.openxmlformats.org/officeDocument/2006/relationships/slide" Target="../slides/slide84.xml"/><Relationship Id="rId1" Type="http://schemas.openxmlformats.org/officeDocument/2006/relationships/notesMaster" Target="../notesMasters/notesMaster1.xml"/><Relationship Id="rId6" Type="http://schemas.openxmlformats.org/officeDocument/2006/relationships/hyperlink" Target="https://en.wikipedia.org/wiki/Kangaroo_care" TargetMode="External"/><Relationship Id="rId5" Type="http://schemas.openxmlformats.org/officeDocument/2006/relationships/hyperlink" Target="https://en.wikipedia.org/wiki/Enteral_feeding" TargetMode="External"/><Relationship Id="rId4" Type="http://schemas.openxmlformats.org/officeDocument/2006/relationships/hyperlink" Target="https://en.wikipedia.org/wiki/Wikipedia:Citation_needed"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42E5506-B2FE-470B-BE8C-B51EED410E51}" type="slidenum">
              <a:rPr lang="en-US" smtClean="0"/>
              <a:t>8</a:t>
            </a:fld>
            <a:endParaRPr lang="en-US"/>
          </a:p>
        </p:txBody>
      </p:sp>
    </p:spTree>
    <p:extLst>
      <p:ext uri="{BB962C8B-B14F-4D97-AF65-F5344CB8AC3E}">
        <p14:creationId xmlns:p14="http://schemas.microsoft.com/office/powerpoint/2010/main" val="177763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42E5506-B2FE-470B-BE8C-B51EED410E51}" type="slidenum">
              <a:rPr lang="en-US" smtClean="0"/>
              <a:t>16</a:t>
            </a:fld>
            <a:endParaRPr lang="en-US"/>
          </a:p>
        </p:txBody>
      </p:sp>
    </p:spTree>
    <p:extLst>
      <p:ext uri="{BB962C8B-B14F-4D97-AF65-F5344CB8AC3E}">
        <p14:creationId xmlns:p14="http://schemas.microsoft.com/office/powerpoint/2010/main" val="3150611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46</a:t>
            </a:fld>
            <a:endParaRPr lang="en-US"/>
          </a:p>
        </p:txBody>
      </p:sp>
    </p:spTree>
    <p:extLst>
      <p:ext uri="{BB962C8B-B14F-4D97-AF65-F5344CB8AC3E}">
        <p14:creationId xmlns:p14="http://schemas.microsoft.com/office/powerpoint/2010/main" val="2756053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1" dirty="0">
                <a:effectLst/>
              </a:rPr>
              <a:t>Breastfeeding difficulties</a:t>
            </a:r>
            <a:r>
              <a:rPr lang="en-US" dirty="0">
                <a:effectLst/>
              </a:rPr>
              <a:t> refers to problems that arise from </a:t>
            </a:r>
            <a:r>
              <a:rPr lang="en-US" dirty="0">
                <a:effectLst/>
                <a:hlinkClick r:id="rId3" tooltip="Breastfeeding"/>
              </a:rPr>
              <a:t>breastfeeding</a:t>
            </a:r>
            <a:r>
              <a:rPr lang="en-US" dirty="0">
                <a:effectLst/>
              </a:rPr>
              <a:t>, the feeding of an </a:t>
            </a:r>
            <a:r>
              <a:rPr lang="en-US" dirty="0">
                <a:effectLst/>
                <a:hlinkClick r:id="rId4" tooltip="Infant"/>
              </a:rPr>
              <a:t>infant</a:t>
            </a:r>
            <a:r>
              <a:rPr lang="en-US" dirty="0">
                <a:effectLst/>
              </a:rPr>
              <a:t> or young </a:t>
            </a:r>
            <a:r>
              <a:rPr lang="en-US" dirty="0">
                <a:effectLst/>
                <a:hlinkClick r:id="rId5" tooltip="Child"/>
              </a:rPr>
              <a:t>child</a:t>
            </a:r>
            <a:r>
              <a:rPr lang="en-US" dirty="0">
                <a:effectLst/>
              </a:rPr>
              <a:t> with </a:t>
            </a:r>
            <a:r>
              <a:rPr lang="en-US" dirty="0">
                <a:effectLst/>
                <a:hlinkClick r:id="rId6" tooltip="Milk"/>
              </a:rPr>
              <a:t>milk</a:t>
            </a:r>
            <a:r>
              <a:rPr lang="en-US" dirty="0">
                <a:effectLst/>
              </a:rPr>
              <a:t> from a woman's </a:t>
            </a:r>
            <a:r>
              <a:rPr lang="en-US" dirty="0">
                <a:effectLst/>
                <a:hlinkClick r:id="rId7" tooltip="Mammary gland"/>
              </a:rPr>
              <a:t>breasts</a:t>
            </a:r>
            <a:r>
              <a:rPr lang="en-US" dirty="0">
                <a:effectLst/>
              </a:rPr>
              <a:t>. Although babies have a </a:t>
            </a:r>
            <a:r>
              <a:rPr lang="en-US" dirty="0">
                <a:effectLst/>
                <a:hlinkClick r:id="rId8" tooltip="Sucking reflex"/>
              </a:rPr>
              <a:t>sucking reflex</a:t>
            </a:r>
            <a:r>
              <a:rPr lang="en-US" dirty="0">
                <a:effectLst/>
              </a:rPr>
              <a:t> that enables them to suck and swallow milk, and although human </a:t>
            </a:r>
            <a:r>
              <a:rPr lang="en-US" dirty="0">
                <a:effectLst/>
                <a:hlinkClick r:id="rId9" tooltip="Breast milk"/>
              </a:rPr>
              <a:t>breast milk</a:t>
            </a:r>
            <a:r>
              <a:rPr lang="en-US" dirty="0">
                <a:effectLst/>
              </a:rPr>
              <a:t> is usually the best source of </a:t>
            </a:r>
            <a:r>
              <a:rPr lang="en-US" dirty="0">
                <a:effectLst/>
                <a:hlinkClick r:id="rId10" tooltip="Nutrition"/>
              </a:rPr>
              <a:t>nourishment</a:t>
            </a:r>
            <a:r>
              <a:rPr lang="en-US" dirty="0">
                <a:effectLst/>
              </a:rPr>
              <a:t> for human infants,</a:t>
            </a:r>
            <a:r>
              <a:rPr lang="en-US" baseline="30000" dirty="0">
                <a:effectLst/>
                <a:hlinkClick r:id="rId11"/>
              </a:rPr>
              <a:t>[1]</a:t>
            </a:r>
            <a:r>
              <a:rPr lang="en-US" dirty="0">
                <a:effectLst/>
              </a:rPr>
              <a:t> there are circumstances under which breastfeeding can be problematic, or even, in rare instances, </a:t>
            </a:r>
            <a:r>
              <a:rPr lang="en-US" dirty="0">
                <a:effectLst/>
                <a:hlinkClick r:id="rId12" tooltip="Contraindicated"/>
              </a:rPr>
              <a:t>contraindicated</a:t>
            </a:r>
            <a:r>
              <a:rPr lang="en-US" dirty="0">
                <a:effectLst/>
              </a:rPr>
              <a:t>.</a:t>
            </a:r>
          </a:p>
          <a:p>
            <a:pPr rtl="0"/>
            <a:r>
              <a:rPr lang="en-US" dirty="0">
                <a:effectLst/>
              </a:rPr>
              <a:t>Difficulties can arise both in connection with the act of breastfeeding and with the health of the nursing infant</a:t>
            </a:r>
          </a:p>
        </p:txBody>
      </p:sp>
      <p:sp>
        <p:nvSpPr>
          <p:cNvPr id="4" name="Slide Number Placeholder 3"/>
          <p:cNvSpPr>
            <a:spLocks noGrp="1"/>
          </p:cNvSpPr>
          <p:nvPr>
            <p:ph type="sldNum" sz="quarter" idx="10"/>
          </p:nvPr>
        </p:nvSpPr>
        <p:spPr/>
        <p:txBody>
          <a:bodyPr/>
          <a:lstStyle/>
          <a:p>
            <a:fld id="{742E5506-B2FE-470B-BE8C-B51EED410E51}" type="slidenum">
              <a:rPr lang="en-US" smtClean="0"/>
              <a:t>72</a:t>
            </a:fld>
            <a:endParaRPr lang="en-US"/>
          </a:p>
        </p:txBody>
      </p:sp>
    </p:spTree>
    <p:extLst>
      <p:ext uri="{BB962C8B-B14F-4D97-AF65-F5344CB8AC3E}">
        <p14:creationId xmlns:p14="http://schemas.microsoft.com/office/powerpoint/2010/main" val="2350075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Inverted nipple</a:t>
            </a:r>
          </a:p>
          <a:p>
            <a:r>
              <a:rPr lang="en-US" dirty="0"/>
              <a:t>From Wikipedia, the free encyclopedia</a:t>
            </a:r>
          </a:p>
          <a:p>
            <a:r>
              <a:rPr lang="en-US" dirty="0"/>
              <a:t>Jump to: </a:t>
            </a:r>
            <a:r>
              <a:rPr lang="en-US" dirty="0">
                <a:hlinkClick r:id="rId3"/>
              </a:rPr>
              <a:t>navigation</a:t>
            </a:r>
            <a:r>
              <a:rPr lang="en-US" dirty="0"/>
              <a:t>, </a:t>
            </a:r>
            <a:r>
              <a:rPr lang="en-US" dirty="0">
                <a:hlinkClick r:id="rId4"/>
              </a:rPr>
              <a:t>search</a:t>
            </a:r>
            <a:r>
              <a:rPr lang="en-US" dirty="0"/>
              <a:t> </a:t>
            </a:r>
          </a:p>
          <a:p>
            <a:pPr algn="ctr" rtl="0"/>
            <a:r>
              <a:rPr lang="en-US" dirty="0">
                <a:effectLst/>
              </a:rPr>
              <a:t>Inverted nipple Breast with an inverted nipple.</a:t>
            </a:r>
          </a:p>
          <a:p>
            <a:pPr rtl="0"/>
            <a:r>
              <a:rPr lang="en-US" dirty="0">
                <a:effectLst/>
              </a:rPr>
              <a:t>Classification and external resources</a:t>
            </a:r>
            <a:r>
              <a:rPr lang="en-US" dirty="0">
                <a:effectLst/>
                <a:hlinkClick r:id="rId5" tooltip="International Statistical Classification of Diseases and Related Health Problems"/>
              </a:rPr>
              <a:t>ICD</a:t>
            </a:r>
            <a:r>
              <a:rPr lang="en-US" dirty="0">
                <a:effectLst/>
              </a:rPr>
              <a:t>-</a:t>
            </a:r>
            <a:r>
              <a:rPr lang="en-US" dirty="0">
                <a:effectLst/>
                <a:hlinkClick r:id="rId6" tooltip="ICD-10"/>
              </a:rPr>
              <a:t>10</a:t>
            </a:r>
            <a:r>
              <a:rPr lang="en-US" dirty="0">
                <a:effectLst/>
                <a:hlinkClick r:id="rId7"/>
              </a:rPr>
              <a:t>N64.5</a:t>
            </a:r>
            <a:r>
              <a:rPr lang="en-US" dirty="0">
                <a:effectLst/>
              </a:rPr>
              <a:t>, </a:t>
            </a:r>
            <a:r>
              <a:rPr lang="en-US" dirty="0">
                <a:effectLst/>
                <a:hlinkClick r:id="rId8"/>
              </a:rPr>
              <a:t>O92.0</a:t>
            </a:r>
            <a:r>
              <a:rPr lang="en-US" dirty="0">
                <a:effectLst/>
                <a:hlinkClick r:id="rId5" tooltip="International Statistical Classification of Diseases and Related Health Problems"/>
              </a:rPr>
              <a:t>ICD</a:t>
            </a:r>
            <a:r>
              <a:rPr lang="en-US" dirty="0">
                <a:effectLst/>
              </a:rPr>
              <a:t>-</a:t>
            </a:r>
            <a:r>
              <a:rPr lang="en-US" dirty="0">
                <a:effectLst/>
                <a:hlinkClick r:id="rId9" tooltip="List of ICD-9 codes"/>
              </a:rPr>
              <a:t>9</a:t>
            </a:r>
            <a:r>
              <a:rPr lang="en-US" dirty="0">
                <a:effectLst/>
                <a:hlinkClick r:id="rId10"/>
              </a:rPr>
              <a:t>611.8</a:t>
            </a:r>
            <a:r>
              <a:rPr lang="en-US" dirty="0">
                <a:effectLst/>
              </a:rPr>
              <a:t>An </a:t>
            </a:r>
            <a:r>
              <a:rPr lang="en-US" b="1" dirty="0">
                <a:effectLst/>
              </a:rPr>
              <a:t>inverted nipple</a:t>
            </a:r>
            <a:r>
              <a:rPr lang="en-US" dirty="0">
                <a:effectLst/>
              </a:rPr>
              <a:t> (occasionally </a:t>
            </a:r>
            <a:r>
              <a:rPr lang="en-US" b="1" dirty="0" err="1">
                <a:effectLst/>
              </a:rPr>
              <a:t>invaginated</a:t>
            </a:r>
            <a:r>
              <a:rPr lang="en-US" b="1" dirty="0">
                <a:effectLst/>
              </a:rPr>
              <a:t> nipple</a:t>
            </a:r>
            <a:r>
              <a:rPr lang="en-US" dirty="0">
                <a:effectLst/>
              </a:rPr>
              <a:t>) is a condition where the </a:t>
            </a:r>
            <a:r>
              <a:rPr lang="en-US" dirty="0">
                <a:effectLst/>
                <a:hlinkClick r:id="rId11" tooltip="Nipple"/>
              </a:rPr>
              <a:t>nipple</a:t>
            </a:r>
            <a:r>
              <a:rPr lang="en-US" dirty="0">
                <a:effectLst/>
              </a:rPr>
              <a:t>, instead of pointing outward, is retracted into the </a:t>
            </a:r>
            <a:r>
              <a:rPr lang="en-US" dirty="0">
                <a:effectLst/>
                <a:hlinkClick r:id="rId12" tooltip="Breast"/>
              </a:rPr>
              <a:t>breast</a:t>
            </a:r>
            <a:r>
              <a:rPr lang="en-US" dirty="0">
                <a:effectLst/>
              </a:rPr>
              <a:t>. In some cases, the nipple will be temporarily protruded if stimulated, but in others, the inversion remains regardless of stimulus. Women and men can have inverted nipples.</a:t>
            </a:r>
          </a:p>
          <a:p>
            <a:pPr rtl="0"/>
            <a:r>
              <a:rPr lang="en-US" b="1" dirty="0">
                <a:effectLst/>
              </a:rPr>
              <a:t>Contents</a:t>
            </a:r>
          </a:p>
          <a:p>
            <a:pPr rtl="0"/>
            <a:r>
              <a:rPr lang="en-US" dirty="0">
                <a:effectLst/>
              </a:rPr>
              <a:t> [</a:t>
            </a:r>
            <a:r>
              <a:rPr lang="en-US" dirty="0">
                <a:effectLst/>
                <a:hlinkClick r:id="rId13"/>
              </a:rPr>
              <a:t>hide</a:t>
            </a:r>
            <a:r>
              <a:rPr lang="en-US" dirty="0">
                <a:effectLst/>
              </a:rPr>
              <a:t>] </a:t>
            </a:r>
          </a:p>
          <a:p>
            <a:pPr rtl="0">
              <a:buFont typeface="Arial" panose="020B0604020202020204" pitchFamily="34" charset="0"/>
              <a:buChar char="•"/>
            </a:pPr>
            <a:r>
              <a:rPr lang="en-US" dirty="0">
                <a:effectLst/>
                <a:hlinkClick r:id="rId14"/>
              </a:rPr>
              <a:t>1 Causes</a:t>
            </a:r>
            <a:endParaRPr lang="en-US" dirty="0">
              <a:effectLst/>
            </a:endParaRPr>
          </a:p>
          <a:p>
            <a:pPr rtl="0">
              <a:buFont typeface="Arial" panose="020B0604020202020204" pitchFamily="34" charset="0"/>
              <a:buChar char="•"/>
            </a:pPr>
            <a:r>
              <a:rPr lang="en-US" dirty="0">
                <a:effectLst/>
                <a:hlinkClick r:id="rId15"/>
              </a:rPr>
              <a:t>2 Grading system</a:t>
            </a:r>
            <a:endParaRPr lang="en-US" dirty="0">
              <a:effectLst/>
            </a:endParaRPr>
          </a:p>
          <a:p>
            <a:pPr rtl="0">
              <a:buFont typeface="Arial" panose="020B0604020202020204" pitchFamily="34" charset="0"/>
              <a:buChar char="•"/>
            </a:pPr>
            <a:r>
              <a:rPr lang="en-US" dirty="0">
                <a:effectLst/>
                <a:hlinkClick r:id="rId16"/>
              </a:rPr>
              <a:t>3 Pregnancy and </a:t>
            </a:r>
            <a:r>
              <a:rPr lang="en-US" dirty="0" err="1">
                <a:effectLst/>
                <a:hlinkClick r:id="rId16"/>
              </a:rPr>
              <a:t>breastfeedivng</a:t>
            </a:r>
            <a:endParaRPr lang="en-US" dirty="0">
              <a:effectLst/>
            </a:endParaRPr>
          </a:p>
          <a:p>
            <a:pPr rtl="0">
              <a:buFont typeface="Arial" panose="020B0604020202020204" pitchFamily="34" charset="0"/>
              <a:buChar char="•"/>
            </a:pPr>
            <a:r>
              <a:rPr lang="en-US" dirty="0">
                <a:effectLst/>
                <a:hlinkClick r:id="rId17"/>
              </a:rPr>
              <a:t>4 Surgery</a:t>
            </a:r>
            <a:endParaRPr lang="en-US" dirty="0">
              <a:effectLst/>
            </a:endParaRPr>
          </a:p>
          <a:p>
            <a:pPr rtl="0">
              <a:buFont typeface="Arial" panose="020B0604020202020204" pitchFamily="34" charset="0"/>
              <a:buChar char="•"/>
            </a:pPr>
            <a:r>
              <a:rPr lang="en-US" dirty="0">
                <a:effectLst/>
                <a:hlinkClick r:id="rId18"/>
              </a:rPr>
              <a:t>5 Piercing</a:t>
            </a:r>
            <a:endParaRPr lang="en-US" dirty="0">
              <a:effectLst/>
            </a:endParaRPr>
          </a:p>
          <a:p>
            <a:pPr rtl="0">
              <a:buFont typeface="Arial" panose="020B0604020202020204" pitchFamily="34" charset="0"/>
              <a:buChar char="•"/>
            </a:pPr>
            <a:r>
              <a:rPr lang="en-US" dirty="0">
                <a:effectLst/>
                <a:hlinkClick r:id="rId19"/>
              </a:rPr>
              <a:t>6 Other corrective strategies</a:t>
            </a:r>
            <a:endParaRPr lang="en-US" dirty="0">
              <a:effectLst/>
            </a:endParaRPr>
          </a:p>
          <a:p>
            <a:pPr rtl="0">
              <a:buFont typeface="Arial" panose="020B0604020202020204" pitchFamily="34" charset="0"/>
              <a:buChar char="•"/>
            </a:pPr>
            <a:r>
              <a:rPr lang="en-US" dirty="0">
                <a:effectLst/>
                <a:hlinkClick r:id="rId20"/>
              </a:rPr>
              <a:t>7 References</a:t>
            </a:r>
            <a:endParaRPr lang="en-US" dirty="0">
              <a:effectLst/>
            </a:endParaRPr>
          </a:p>
          <a:p>
            <a:pPr rtl="0">
              <a:buFont typeface="Arial" panose="020B0604020202020204" pitchFamily="34" charset="0"/>
              <a:buChar char="•"/>
            </a:pPr>
            <a:r>
              <a:rPr lang="en-US" dirty="0">
                <a:effectLst/>
                <a:hlinkClick r:id="rId21"/>
              </a:rPr>
              <a:t>8 External links</a:t>
            </a:r>
            <a:endParaRPr lang="en-US" dirty="0">
              <a:effectLst/>
            </a:endParaRPr>
          </a:p>
          <a:p>
            <a:pPr rtl="0"/>
            <a:r>
              <a:rPr lang="en-US" b="1" dirty="0">
                <a:effectLst/>
              </a:rPr>
              <a:t>Causes[</a:t>
            </a:r>
            <a:r>
              <a:rPr lang="en-US" b="1" dirty="0">
                <a:effectLst/>
                <a:hlinkClick r:id="rId22" tooltip="Edit section: Causes"/>
              </a:rPr>
              <a:t>edit</a:t>
            </a:r>
            <a:r>
              <a:rPr lang="en-US" b="1" dirty="0">
                <a:effectLst/>
              </a:rPr>
              <a:t>]</a:t>
            </a:r>
          </a:p>
          <a:p>
            <a:pPr rtl="0"/>
            <a:r>
              <a:rPr lang="en-US" dirty="0">
                <a:effectLst/>
              </a:rPr>
              <a:t>The most common causes of nipple inversion include:</a:t>
            </a:r>
          </a:p>
          <a:p>
            <a:pPr rtl="0">
              <a:buFont typeface="Arial" panose="020B0604020202020204" pitchFamily="34" charset="0"/>
              <a:buChar char="•"/>
            </a:pPr>
            <a:r>
              <a:rPr lang="en-US" dirty="0">
                <a:effectLst/>
              </a:rPr>
              <a:t>Born with condition</a:t>
            </a:r>
          </a:p>
          <a:p>
            <a:pPr rtl="0">
              <a:buFont typeface="Arial" panose="020B0604020202020204" pitchFamily="34" charset="0"/>
              <a:buChar char="•"/>
            </a:pPr>
            <a:r>
              <a:rPr lang="en-US" dirty="0">
                <a:effectLst/>
              </a:rPr>
              <a:t>Breastfeeding</a:t>
            </a:r>
          </a:p>
          <a:p>
            <a:pPr rtl="0">
              <a:buFont typeface="Arial" panose="020B0604020202020204" pitchFamily="34" charset="0"/>
              <a:buChar char="•"/>
            </a:pPr>
            <a:r>
              <a:rPr lang="en-US" dirty="0">
                <a:effectLst/>
              </a:rPr>
              <a:t>Trauma which can be caused by conditions such as fat </a:t>
            </a:r>
            <a:r>
              <a:rPr lang="en-US" dirty="0">
                <a:effectLst/>
                <a:hlinkClick r:id="rId23" tooltip="Necrosis"/>
              </a:rPr>
              <a:t>necrosis</a:t>
            </a:r>
            <a:r>
              <a:rPr lang="en-US" dirty="0">
                <a:effectLst/>
              </a:rPr>
              <a:t>, scars or it may be a result of surgery</a:t>
            </a:r>
          </a:p>
          <a:p>
            <a:pPr rtl="0">
              <a:buFont typeface="Arial" panose="020B0604020202020204" pitchFamily="34" charset="0"/>
              <a:buChar char="•"/>
            </a:pPr>
            <a:r>
              <a:rPr lang="en-US" dirty="0">
                <a:effectLst/>
              </a:rPr>
              <a:t>Breast Sagging, Drooping or </a:t>
            </a:r>
            <a:r>
              <a:rPr lang="en-US" dirty="0">
                <a:effectLst/>
                <a:hlinkClick r:id="rId24" tooltip="Ptosis (breasts)"/>
              </a:rPr>
              <a:t>Ptosis</a:t>
            </a:r>
            <a:endParaRPr lang="en-US" dirty="0">
              <a:effectLst/>
            </a:endParaRPr>
          </a:p>
          <a:p>
            <a:pPr rtl="0">
              <a:buFont typeface="Arial" panose="020B0604020202020204" pitchFamily="34" charset="0"/>
              <a:buChar char="•"/>
            </a:pPr>
            <a:r>
              <a:rPr lang="en-US" dirty="0">
                <a:effectLst/>
              </a:rPr>
              <a:t>Breast cancer including breast </a:t>
            </a:r>
            <a:r>
              <a:rPr lang="en-US" dirty="0">
                <a:effectLst/>
                <a:hlinkClick r:id="rId25" tooltip="Carcinoma"/>
              </a:rPr>
              <a:t>carcinoma</a:t>
            </a:r>
            <a:r>
              <a:rPr lang="en-US" dirty="0">
                <a:effectLst/>
              </a:rPr>
              <a:t>, </a:t>
            </a:r>
            <a:r>
              <a:rPr lang="en-US" dirty="0">
                <a:effectLst/>
                <a:hlinkClick r:id="rId26" tooltip="Paget's disease of the breast"/>
              </a:rPr>
              <a:t>Paget's disease</a:t>
            </a:r>
            <a:r>
              <a:rPr lang="en-US" dirty="0">
                <a:effectLst/>
              </a:rPr>
              <a:t> and </a:t>
            </a:r>
            <a:r>
              <a:rPr lang="en-US" dirty="0">
                <a:effectLst/>
                <a:hlinkClick r:id="rId27" tooltip="Inflammatory Breast Cancer"/>
              </a:rPr>
              <a:t>Inflammatory Breast Cancer</a:t>
            </a:r>
            <a:r>
              <a:rPr lang="en-US" dirty="0">
                <a:effectLst/>
              </a:rPr>
              <a:t> (IBC)</a:t>
            </a:r>
          </a:p>
          <a:p>
            <a:pPr rtl="0">
              <a:buFont typeface="Arial" panose="020B0604020202020204" pitchFamily="34" charset="0"/>
              <a:buChar char="•"/>
            </a:pPr>
            <a:r>
              <a:rPr lang="en-US" dirty="0">
                <a:effectLst/>
              </a:rPr>
              <a:t>Breast infections or inflammations such as </a:t>
            </a:r>
            <a:r>
              <a:rPr lang="en-US" dirty="0">
                <a:effectLst/>
                <a:hlinkClick r:id="rId28" tooltip="Mammary duct ectasia"/>
              </a:rPr>
              <a:t>mammary duct </a:t>
            </a:r>
            <a:r>
              <a:rPr lang="en-US" dirty="0" err="1">
                <a:effectLst/>
                <a:hlinkClick r:id="rId28" tooltip="Mammary duct ectasia"/>
              </a:rPr>
              <a:t>ectasia</a:t>
            </a:r>
            <a:r>
              <a:rPr lang="en-US" dirty="0">
                <a:effectLst/>
              </a:rPr>
              <a:t>, breast abscess or </a:t>
            </a:r>
            <a:r>
              <a:rPr lang="en-US" dirty="0">
                <a:effectLst/>
                <a:hlinkClick r:id="rId29" tooltip="Mastitis"/>
              </a:rPr>
              <a:t>mastitis</a:t>
            </a:r>
            <a:endParaRPr lang="en-US" dirty="0">
              <a:effectLst/>
            </a:endParaRPr>
          </a:p>
          <a:p>
            <a:pPr rtl="0">
              <a:buFont typeface="Arial" panose="020B0604020202020204" pitchFamily="34" charset="0"/>
              <a:buChar char="•"/>
            </a:pPr>
            <a:r>
              <a:rPr lang="en-US" dirty="0">
                <a:effectLst/>
              </a:rPr>
              <a:t>Genetic variant of nipple shape such as </a:t>
            </a:r>
            <a:r>
              <a:rPr lang="en-US" dirty="0">
                <a:effectLst/>
                <a:hlinkClick r:id="rId30" tooltip="Weaver syndrome"/>
              </a:rPr>
              <a:t>Weaver syndrome</a:t>
            </a:r>
            <a:r>
              <a:rPr lang="en-US" dirty="0">
                <a:effectLst/>
              </a:rPr>
              <a:t>, </a:t>
            </a:r>
            <a:r>
              <a:rPr lang="en-US" dirty="0" err="1">
                <a:effectLst/>
                <a:hlinkClick r:id="rId31" tooltip="Fryns-Aftimos syndrome (page does not exist)"/>
              </a:rPr>
              <a:t>Fryns-Aftimos</a:t>
            </a:r>
            <a:r>
              <a:rPr lang="en-US" dirty="0">
                <a:effectLst/>
                <a:hlinkClick r:id="rId31" tooltip="Fryns-Aftimos syndrome (page does not exist)"/>
              </a:rPr>
              <a:t> syndrome</a:t>
            </a:r>
            <a:r>
              <a:rPr lang="en-US" dirty="0">
                <a:effectLst/>
              </a:rPr>
              <a:t>, </a:t>
            </a:r>
            <a:r>
              <a:rPr lang="en-US" dirty="0">
                <a:effectLst/>
                <a:hlinkClick r:id="rId32" tooltip="Chromosome 2q Deletion (page does not exist)"/>
              </a:rPr>
              <a:t>Chromosome 2q Deletion</a:t>
            </a:r>
            <a:r>
              <a:rPr lang="en-US" dirty="0">
                <a:effectLst/>
              </a:rPr>
              <a:t> or congenital disorder of </a:t>
            </a:r>
            <a:r>
              <a:rPr lang="en-US" dirty="0">
                <a:effectLst/>
                <a:hlinkClick r:id="rId33" tooltip="Glycosylation"/>
              </a:rPr>
              <a:t>glycosylation</a:t>
            </a:r>
            <a:r>
              <a:rPr lang="en-US" dirty="0">
                <a:effectLst/>
              </a:rPr>
              <a:t> type 1A &amp; 1 L or </a:t>
            </a:r>
            <a:r>
              <a:rPr lang="en-US" dirty="0" err="1">
                <a:effectLst/>
                <a:hlinkClick r:id="rId34" tooltip="Kennerknecht-Sorgo-Oberhoffer syndrome (page does not exist)"/>
              </a:rPr>
              <a:t>Kennerknecht</a:t>
            </a:r>
            <a:r>
              <a:rPr lang="en-US" dirty="0">
                <a:effectLst/>
                <a:hlinkClick r:id="rId34" tooltip="Kennerknecht-Sorgo-Oberhoffer syndrome (page does not exist)"/>
              </a:rPr>
              <a:t>-Sorgo-</a:t>
            </a:r>
            <a:r>
              <a:rPr lang="en-US" dirty="0" err="1">
                <a:effectLst/>
                <a:hlinkClick r:id="rId34" tooltip="Kennerknecht-Sorgo-Oberhoffer syndrome (page does not exist)"/>
              </a:rPr>
              <a:t>Oberhoffer</a:t>
            </a:r>
            <a:r>
              <a:rPr lang="en-US" dirty="0">
                <a:effectLst/>
                <a:hlinkClick r:id="rId34" tooltip="Kennerknecht-Sorgo-Oberhoffer syndrome (page does not exist)"/>
              </a:rPr>
              <a:t> syndrome</a:t>
            </a:r>
            <a:endParaRPr lang="en-US" dirty="0">
              <a:effectLst/>
            </a:endParaRPr>
          </a:p>
          <a:p>
            <a:pPr rtl="0">
              <a:buFont typeface="Arial" panose="020B0604020202020204" pitchFamily="34" charset="0"/>
              <a:buChar char="•"/>
            </a:pPr>
            <a:r>
              <a:rPr lang="en-US" dirty="0">
                <a:effectLst/>
                <a:hlinkClick r:id="rId35" tooltip="Gynecomastia"/>
              </a:rPr>
              <a:t>Gynecomastia</a:t>
            </a:r>
            <a:r>
              <a:rPr lang="en-US" baseline="30000" dirty="0">
                <a:effectLst/>
                <a:hlinkClick r:id="rId36"/>
              </a:rPr>
              <a:t>[1]</a:t>
            </a:r>
            <a:endParaRPr lang="en-US" dirty="0">
              <a:effectLst/>
            </a:endParaRPr>
          </a:p>
          <a:p>
            <a:pPr rtl="0">
              <a:buFont typeface="Arial" panose="020B0604020202020204" pitchFamily="34" charset="0"/>
              <a:buChar char="•"/>
            </a:pPr>
            <a:r>
              <a:rPr lang="en-US" dirty="0" err="1">
                <a:effectLst/>
                <a:hlinkClick r:id="rId37" tooltip="Holoprosencephaly"/>
              </a:rPr>
              <a:t>Holoprosencephaly</a:t>
            </a:r>
            <a:r>
              <a:rPr lang="en-US" dirty="0">
                <a:effectLst/>
              </a:rPr>
              <a:t>, recurrent infections, and </a:t>
            </a:r>
            <a:r>
              <a:rPr lang="en-US" dirty="0" err="1">
                <a:effectLst/>
                <a:hlinkClick r:id="rId38" tooltip="Monocytosis"/>
              </a:rPr>
              <a:t>monocytosis</a:t>
            </a:r>
            <a:endParaRPr lang="en-US" dirty="0">
              <a:effectLst/>
            </a:endParaRPr>
          </a:p>
          <a:p>
            <a:pPr rtl="0">
              <a:buFont typeface="Arial" panose="020B0604020202020204" pitchFamily="34" charset="0"/>
              <a:buChar char="•"/>
            </a:pPr>
            <a:r>
              <a:rPr lang="en-US" dirty="0">
                <a:effectLst/>
              </a:rPr>
              <a:t>Pregnancy</a:t>
            </a:r>
          </a:p>
          <a:p>
            <a:pPr rtl="0">
              <a:buFont typeface="Arial" panose="020B0604020202020204" pitchFamily="34" charset="0"/>
              <a:buChar char="•"/>
            </a:pPr>
            <a:r>
              <a:rPr lang="en-US" dirty="0">
                <a:effectLst/>
                <a:hlinkClick r:id="rId39" tooltip="Tuberculosis"/>
              </a:rPr>
              <a:t>Tuberculosis</a:t>
            </a:r>
            <a:r>
              <a:rPr lang="en-US" baseline="30000" dirty="0">
                <a:effectLst/>
                <a:hlinkClick r:id="rId40"/>
              </a:rPr>
              <a:t>[2]</a:t>
            </a:r>
            <a:endParaRPr lang="en-US" dirty="0">
              <a:effectLst/>
            </a:endParaRPr>
          </a:p>
          <a:p>
            <a:pPr rtl="0"/>
            <a:r>
              <a:rPr lang="en-US" dirty="0">
                <a:effectLst/>
              </a:rPr>
              <a:t>Around 10–20% of all women are born with this condition.</a:t>
            </a:r>
            <a:r>
              <a:rPr lang="en-US" baseline="30000" dirty="0">
                <a:effectLst/>
                <a:hlinkClick r:id="rId41"/>
              </a:rPr>
              <a:t>[3]</a:t>
            </a:r>
            <a:r>
              <a:rPr lang="en-US" dirty="0">
                <a:effectLst/>
              </a:rPr>
              <a:t> Most common nipple variations that women are born with are caused by short ducts or a wide areola muscle </a:t>
            </a:r>
            <a:r>
              <a:rPr lang="en-US" dirty="0">
                <a:effectLst/>
                <a:hlinkClick r:id="rId42" tooltip="Sphincter"/>
              </a:rPr>
              <a:t>sphincter</a:t>
            </a:r>
            <a:r>
              <a:rPr lang="en-US" dirty="0">
                <a:effectLst/>
              </a:rPr>
              <a:t>.</a:t>
            </a:r>
          </a:p>
          <a:p>
            <a:pPr rtl="0"/>
            <a:r>
              <a:rPr lang="en-US" dirty="0">
                <a:effectLst/>
              </a:rPr>
              <a:t>Inverted nipples can also occur after sudden and major weight loss.</a:t>
            </a:r>
          </a:p>
          <a:p>
            <a:pPr rtl="0"/>
            <a:r>
              <a:rPr lang="en-US" dirty="0">
                <a:effectLst/>
              </a:rPr>
              <a:t>One Inverted Nipple and one erect nipple</a:t>
            </a:r>
          </a:p>
          <a:p>
            <a:pPr rtl="0"/>
            <a:r>
              <a:rPr lang="en-US" b="1" dirty="0">
                <a:effectLst/>
              </a:rPr>
              <a:t>Grading system[</a:t>
            </a:r>
            <a:r>
              <a:rPr lang="en-US" b="1" dirty="0">
                <a:effectLst/>
                <a:hlinkClick r:id="rId43" tooltip="Edit section: Grading system"/>
              </a:rPr>
              <a:t>edit</a:t>
            </a:r>
            <a:r>
              <a:rPr lang="en-US" b="1" dirty="0">
                <a:effectLst/>
              </a:rPr>
              <a:t>]</a:t>
            </a:r>
          </a:p>
          <a:p>
            <a:pPr rtl="0"/>
            <a:r>
              <a:rPr lang="en-US" dirty="0">
                <a:effectLst/>
              </a:rPr>
              <a:t>There are three grades of inverted nipples, defined on how easily the nipple may be protracted and the degree of </a:t>
            </a:r>
            <a:r>
              <a:rPr lang="en-US" dirty="0">
                <a:effectLst/>
                <a:hlinkClick r:id="rId44" tooltip="Fibrosis"/>
              </a:rPr>
              <a:t>fibrosis</a:t>
            </a:r>
            <a:r>
              <a:rPr lang="en-US" dirty="0">
                <a:effectLst/>
              </a:rPr>
              <a:t> existent in the breast as well as the damage it has caused on the </a:t>
            </a:r>
            <a:r>
              <a:rPr lang="en-US" dirty="0">
                <a:effectLst/>
                <a:hlinkClick r:id="rId45" tooltip="Milk ducts"/>
              </a:rPr>
              <a:t>milk ducts</a:t>
            </a:r>
            <a:r>
              <a:rPr lang="en-US" dirty="0">
                <a:effectLst/>
              </a:rPr>
              <a:t>.</a:t>
            </a:r>
          </a:p>
          <a:p>
            <a:pPr rtl="0"/>
            <a:r>
              <a:rPr lang="en-US" dirty="0">
                <a:effectLst/>
              </a:rPr>
              <a:t>Inverted nipple Grade 1 refers to nipples that can easily be pulled out, by using finger pressure around the areola. The Grade 1 inverted nipple maintains its projections and rarely retracts. Also, Grade 1 inverted nipples may occasionally pop up without manipulation or pressure.</a:t>
            </a:r>
            <a:r>
              <a:rPr lang="en-US" baseline="30000" dirty="0">
                <a:effectLst/>
                <a:hlinkClick r:id="rId46"/>
              </a:rPr>
              <a:t>[4]</a:t>
            </a:r>
            <a:r>
              <a:rPr lang="en-US" dirty="0">
                <a:effectLst/>
              </a:rPr>
              <a:t> Milk ducts are usually not compromised and breast feeding is possible. These are "shy nipples".</a:t>
            </a:r>
            <a:r>
              <a:rPr lang="en-US" baseline="30000" dirty="0">
                <a:effectLst/>
                <a:hlinkClick r:id="rId47"/>
              </a:rPr>
              <a:t>[5]</a:t>
            </a:r>
            <a:r>
              <a:rPr lang="en-US" dirty="0">
                <a:effectLst/>
              </a:rPr>
              <a:t> It is believed to have minimal or no fibrosis. There is no soft-tissue deficiency of the nipple. The lactiferous duct should be normal without any retraction.</a:t>
            </a:r>
            <a:r>
              <a:rPr lang="en-US" baseline="30000" dirty="0">
                <a:effectLst/>
                <a:hlinkClick r:id="rId48"/>
              </a:rPr>
              <a:t>[6]</a:t>
            </a:r>
            <a:endParaRPr lang="en-US" dirty="0">
              <a:effectLst/>
            </a:endParaRPr>
          </a:p>
          <a:p>
            <a:pPr rtl="0"/>
            <a:r>
              <a:rPr lang="en-US" dirty="0">
                <a:effectLst/>
              </a:rPr>
              <a:t>Inverted nipple Grade 2 is the nipple which can be pulled out, though not as easily as the Grade 1 inverted nipple but which retracts after pressure is released. Breast feeding could be possible even though it is more likely to be either very difficult or impossible. Grade 2 nipples have a moderate degree of fibrosis. The lactiferous ducts are mildly retracted but do not need to be cut for the release of fibrosis. On histological examination, these nipples have rich </a:t>
            </a:r>
            <a:r>
              <a:rPr lang="en-US" dirty="0">
                <a:effectLst/>
                <a:hlinkClick r:id="rId49" tooltip="Collagenous"/>
              </a:rPr>
              <a:t>collagenous</a:t>
            </a:r>
            <a:r>
              <a:rPr lang="en-US" dirty="0">
                <a:effectLst/>
              </a:rPr>
              <a:t> stromata with numerous bundles of smooth muscle. Most women with this problem suffer from inverted nipples Grade 2.</a:t>
            </a:r>
          </a:p>
          <a:p>
            <a:pPr rtl="0"/>
            <a:r>
              <a:rPr lang="en-US" dirty="0">
                <a:effectLst/>
              </a:rPr>
              <a:t>Inverted nipple Grade 3 describes a severely inverted and retracted nipple which can rarely be pulled out physically and which requires surgery in order to be protracted. Milk ducts are often constricted and breast feeding is impossible. Women with Grade 3 inverted nipples may also struggle with infections, rashes, or problems with nipple hygiene. The fibrosis is remarkable and lactiferous ducts are short and severely retracted. The bulk of soft tissue is markedly insufficient in the nipple. Histologically, there are </a:t>
            </a:r>
            <a:r>
              <a:rPr lang="en-US" dirty="0">
                <a:effectLst/>
                <a:hlinkClick r:id="rId50" tooltip="Atrophic"/>
              </a:rPr>
              <a:t>atrophic</a:t>
            </a:r>
            <a:r>
              <a:rPr lang="en-US" dirty="0">
                <a:effectLst/>
              </a:rPr>
              <a:t> terminal duct lobular units and severe fibrosis.</a:t>
            </a:r>
          </a:p>
          <a:p>
            <a:pPr rtl="0"/>
            <a:r>
              <a:rPr lang="en-US" b="1" dirty="0">
                <a:effectLst/>
              </a:rPr>
              <a:t>Pregnancy and breastfeeding[</a:t>
            </a:r>
            <a:r>
              <a:rPr lang="en-US" b="1" dirty="0">
                <a:effectLst/>
                <a:hlinkClick r:id="rId51" tooltip="Edit section: Pregnancy and breastfeeding"/>
              </a:rPr>
              <a:t>edit</a:t>
            </a:r>
            <a:r>
              <a:rPr lang="en-US" b="1" dirty="0">
                <a:effectLst/>
              </a:rPr>
              <a:t>]</a:t>
            </a:r>
          </a:p>
          <a:p>
            <a:pPr rtl="0"/>
            <a:r>
              <a:rPr lang="en-US" dirty="0">
                <a:solidFill>
                  <a:schemeClr val="accent2"/>
                </a:solidFill>
                <a:effectLst/>
              </a:rPr>
              <a:t>Individuals with inverted nipples may find that their nipples protract (come out) temporarily or permanently during pregnancy, or as a result of </a:t>
            </a:r>
            <a:r>
              <a:rPr lang="en-US" dirty="0">
                <a:solidFill>
                  <a:schemeClr val="accent2"/>
                </a:solidFill>
                <a:effectLst/>
                <a:hlinkClick r:id="rId52" tooltip="Breastfeeding"/>
              </a:rPr>
              <a:t>breastfeeding</a:t>
            </a:r>
            <a:r>
              <a:rPr lang="en-US" dirty="0">
                <a:solidFill>
                  <a:schemeClr val="accent2"/>
                </a:solidFill>
                <a:effectLst/>
              </a:rPr>
              <a:t>. Most women with inverted nipples who give birth are able to breastfeed without complication, but inexperienced mothers may experience higher than average pain and soreness when initially attempting to breastfeed. When a mother uses proper breastfeeding technique, the infant latches onto the </a:t>
            </a:r>
            <a:r>
              <a:rPr lang="en-US" dirty="0">
                <a:solidFill>
                  <a:schemeClr val="accent2"/>
                </a:solidFill>
                <a:effectLst/>
                <a:hlinkClick r:id="rId53" tooltip="Areola"/>
              </a:rPr>
              <a:t>areola</a:t>
            </a:r>
            <a:r>
              <a:rPr lang="en-US" dirty="0">
                <a:solidFill>
                  <a:schemeClr val="accent2"/>
                </a:solidFill>
                <a:effectLst/>
              </a:rPr>
              <a:t>, not the nipple, so women with inverted nipples are actually able to breastfeed without any problem. An </a:t>
            </a:r>
            <a:r>
              <a:rPr lang="en-US" dirty="0">
                <a:solidFill>
                  <a:schemeClr val="accent2"/>
                </a:solidFill>
                <a:effectLst/>
                <a:hlinkClick r:id="rId54" tooltip="Infant"/>
              </a:rPr>
              <a:t>infant</a:t>
            </a:r>
            <a:r>
              <a:rPr lang="en-US" dirty="0">
                <a:solidFill>
                  <a:schemeClr val="accent2"/>
                </a:solidFill>
                <a:effectLst/>
              </a:rPr>
              <a:t> that latches on well may be able to slush out an inverted nipple. The use of a </a:t>
            </a:r>
            <a:r>
              <a:rPr lang="en-US" dirty="0">
                <a:solidFill>
                  <a:schemeClr val="accent2"/>
                </a:solidFill>
                <a:effectLst/>
                <a:hlinkClick r:id="rId55" tooltip="Breast pump"/>
              </a:rPr>
              <a:t>breast pump</a:t>
            </a:r>
            <a:r>
              <a:rPr lang="en-US" dirty="0">
                <a:solidFill>
                  <a:schemeClr val="accent2"/>
                </a:solidFill>
                <a:effectLst/>
              </a:rPr>
              <a:t> or other suction device immediately before a feeding may help to draw out inverted nipples. A hospital grade electric pump may be used for this purpose. Some women also find that using a </a:t>
            </a:r>
            <a:r>
              <a:rPr lang="en-US" dirty="0">
                <a:solidFill>
                  <a:schemeClr val="accent2"/>
                </a:solidFill>
                <a:effectLst/>
                <a:hlinkClick r:id="rId56" tooltip="Nipple shield (breastfeeding)"/>
              </a:rPr>
              <a:t>nipple shield</a:t>
            </a:r>
            <a:r>
              <a:rPr lang="en-US" dirty="0">
                <a:solidFill>
                  <a:schemeClr val="accent2"/>
                </a:solidFill>
                <a:effectLst/>
              </a:rPr>
              <a:t> can help facilitate breastfeeding. Frequent stimulation such as sexual intercourse and foreplay (such as nipple sucking) also helps the ni</a:t>
            </a:r>
            <a:r>
              <a:rPr lang="en-US" dirty="0">
                <a:effectLst/>
              </a:rPr>
              <a:t>pple protract.</a:t>
            </a:r>
          </a:p>
          <a:p>
            <a:pPr rtl="0"/>
            <a:r>
              <a:rPr lang="en-US" b="1" dirty="0">
                <a:effectLst/>
              </a:rPr>
              <a:t>Surgery[</a:t>
            </a:r>
            <a:r>
              <a:rPr lang="en-US" b="1" dirty="0">
                <a:effectLst/>
                <a:hlinkClick r:id="rId57" tooltip="Edit section: Surgery"/>
              </a:rPr>
              <a:t>edit</a:t>
            </a:r>
            <a:r>
              <a:rPr lang="en-US" b="1" dirty="0">
                <a:effectLst/>
              </a:rPr>
              <a:t>]</a:t>
            </a:r>
          </a:p>
          <a:p>
            <a:pPr rtl="0"/>
            <a:r>
              <a:rPr lang="en-US" dirty="0">
                <a:effectLst/>
              </a:rPr>
              <a:t>Before and after inverted nipple repair</a:t>
            </a:r>
          </a:p>
          <a:p>
            <a:pPr rtl="0"/>
            <a:r>
              <a:rPr lang="en-US" dirty="0">
                <a:effectLst/>
                <a:hlinkClick r:id="rId58" tooltip="Plastic surgery"/>
              </a:rPr>
              <a:t>Plastic surgery</a:t>
            </a:r>
            <a:r>
              <a:rPr lang="en-US" dirty="0">
                <a:effectLst/>
              </a:rPr>
              <a:t> is one method of protracting inverted nipples. If a woman elects to have this surgery performed on her inverted nipples, it can permanently destroy her capacity to </a:t>
            </a:r>
            <a:r>
              <a:rPr lang="en-US" dirty="0">
                <a:effectLst/>
                <a:hlinkClick r:id="rId59" tooltip="Breastfeed"/>
              </a:rPr>
              <a:t>breastfeed</a:t>
            </a:r>
            <a:r>
              <a:rPr lang="en-US" dirty="0">
                <a:effectLst/>
              </a:rPr>
              <a:t>. Although surgery is normally performed as </a:t>
            </a:r>
            <a:r>
              <a:rPr lang="en-US" dirty="0">
                <a:effectLst/>
                <a:hlinkClick r:id="rId60" tooltip="Outpatient procedure"/>
              </a:rPr>
              <a:t>outpatient</a:t>
            </a:r>
            <a:r>
              <a:rPr lang="en-US" dirty="0">
                <a:effectLst/>
              </a:rPr>
              <a:t> procedures and patients are able to go home after few hours following the surgery, some women may be asked to remain in the hospital overnight. However, the patients are advised to avoid driving immediately after the procedure because they will be still under the effect of </a:t>
            </a:r>
            <a:r>
              <a:rPr lang="en-US" dirty="0">
                <a:effectLst/>
                <a:hlinkClick r:id="rId61" tooltip="Anesthesia"/>
              </a:rPr>
              <a:t>anesthesia</a:t>
            </a:r>
            <a:r>
              <a:rPr lang="en-US" dirty="0">
                <a:effectLst/>
              </a:rPr>
              <a:t>; therefore it is best to be driven home by a friend or relative. The main side effects of surgery are pain, swelling and sensitivity in the nipple area which can last for up to two weeks after the procedure has been performed.</a:t>
            </a:r>
            <a:r>
              <a:rPr lang="en-US" baseline="30000" dirty="0">
                <a:effectLst/>
                <a:hlinkClick r:id="rId62"/>
              </a:rPr>
              <a:t>[7]</a:t>
            </a:r>
            <a:endParaRPr lang="en-US" dirty="0">
              <a:effectLst/>
            </a:endParaRPr>
          </a:p>
          <a:p>
            <a:pPr rtl="0"/>
            <a:r>
              <a:rPr lang="en-US" dirty="0">
                <a:effectLst/>
              </a:rPr>
              <a:t>Recovery time is however different with each patient. Patients are encouraged to move around immediately after surgery and after they get home they are recommended to stay in bed for 2 days following the procedure. Patients can generally go back to work in a week after the surgery.</a:t>
            </a:r>
          </a:p>
          <a:p>
            <a:pPr rtl="0"/>
            <a:r>
              <a:rPr lang="en-US" dirty="0">
                <a:effectLst/>
              </a:rPr>
              <a:t>Immediately after the procedure the nipples will more likely feel sore. The </a:t>
            </a:r>
            <a:r>
              <a:rPr lang="en-US" dirty="0">
                <a:effectLst/>
                <a:hlinkClick r:id="rId63" tooltip="Soreness"/>
              </a:rPr>
              <a:t>soreness</a:t>
            </a:r>
            <a:r>
              <a:rPr lang="en-US" dirty="0">
                <a:effectLst/>
              </a:rPr>
              <a:t> should diminish however within few days. Most of the time, patients are prescribed pain killers to help them cope with the discomfort.</a:t>
            </a:r>
          </a:p>
          <a:p>
            <a:pPr rtl="0"/>
            <a:r>
              <a:rPr lang="en-US" dirty="0">
                <a:effectLst/>
              </a:rPr>
              <a:t>Medicated </a:t>
            </a:r>
            <a:r>
              <a:rPr lang="en-US" dirty="0">
                <a:effectLst/>
                <a:hlinkClick r:id="rId64" tooltip="Gauze"/>
              </a:rPr>
              <a:t>gauze</a:t>
            </a:r>
            <a:r>
              <a:rPr lang="en-US" dirty="0">
                <a:effectLst/>
              </a:rPr>
              <a:t> is used following the surgical procedure to cover the nipples. They have the aim to protect the small stitched incisions on the nipple. Patients may feel a little </a:t>
            </a:r>
            <a:r>
              <a:rPr lang="en-US" dirty="0">
                <a:effectLst/>
                <a:hlinkClick r:id="rId65" tooltip="Groggy"/>
              </a:rPr>
              <a:t>groggy</a:t>
            </a:r>
            <a:r>
              <a:rPr lang="en-US" dirty="0">
                <a:effectLst/>
              </a:rPr>
              <a:t> as a side effect of the surgery, but this feeling is expected to subside within a day or so. Patients are recommended not to shower the same day when the surgery was performed, but the next day.</a:t>
            </a:r>
          </a:p>
          <a:p>
            <a:pPr rtl="0"/>
            <a:r>
              <a:rPr lang="en-US" dirty="0">
                <a:effectLst/>
              </a:rPr>
              <a:t>Patients normally experience mild to moderate swelling which peaks two or three days after the procedure, and then disappears rapidly over the following three weeks.</a:t>
            </a:r>
            <a:r>
              <a:rPr lang="en-US" baseline="30000" dirty="0">
                <a:effectLst/>
                <a:hlinkClick r:id="rId66"/>
              </a:rPr>
              <a:t>[8]</a:t>
            </a:r>
            <a:r>
              <a:rPr lang="en-US" dirty="0">
                <a:effectLst/>
              </a:rPr>
              <a:t> Bruising is rare. The sutures are removed four days after the procedure.</a:t>
            </a:r>
          </a:p>
          <a:p>
            <a:pPr rtl="0"/>
            <a:r>
              <a:rPr lang="en-US" dirty="0">
                <a:effectLst/>
              </a:rPr>
              <a:t>Risks that are carried by this type of surgery include </a:t>
            </a:r>
            <a:r>
              <a:rPr lang="en-US" dirty="0">
                <a:effectLst/>
                <a:hlinkClick r:id="rId67" tooltip="Infection"/>
              </a:rPr>
              <a:t>infection</a:t>
            </a:r>
            <a:r>
              <a:rPr lang="en-US" dirty="0">
                <a:effectLst/>
              </a:rPr>
              <a:t>, unsatisfactory results, excessive bleeding, adverse reaction to anesthesia, and the need for second or sometimes third procedures. The ability to breastfeed cannot be guaranteed after any surgery to correct inverted nipples. Therefore, the patient should clearly specify if she takes into consideration having babies in the future and breastfeeding them.</a:t>
            </a:r>
            <a:r>
              <a:rPr lang="en-US" baseline="30000" dirty="0">
                <a:effectLst/>
                <a:hlinkClick r:id="rId68"/>
              </a:rPr>
              <a:t>[9]</a:t>
            </a:r>
            <a:endParaRPr lang="en-US" dirty="0">
              <a:effectLst/>
            </a:endParaRPr>
          </a:p>
          <a:p>
            <a:pPr rtl="0"/>
            <a:r>
              <a:rPr lang="en-US" b="1" dirty="0">
                <a:effectLst/>
              </a:rPr>
              <a:t>Piercing[</a:t>
            </a:r>
            <a:r>
              <a:rPr lang="en-US" b="1" dirty="0">
                <a:effectLst/>
                <a:hlinkClick r:id="rId69" tooltip="Edit section: Piercing"/>
              </a:rPr>
              <a:t>edit</a:t>
            </a:r>
            <a:r>
              <a:rPr lang="en-US" b="1" dirty="0">
                <a:effectLst/>
              </a:rPr>
              <a:t>]</a:t>
            </a:r>
          </a:p>
          <a:p>
            <a:pPr rtl="0"/>
            <a:r>
              <a:rPr lang="en-US" dirty="0">
                <a:effectLst/>
              </a:rPr>
              <a:t>Another method of protracting inverted nipples is to have the nipple </a:t>
            </a:r>
            <a:r>
              <a:rPr lang="en-US" dirty="0">
                <a:effectLst/>
                <a:hlinkClick r:id="rId70" tooltip="Body piercing"/>
              </a:rPr>
              <a:t>pierced</a:t>
            </a:r>
            <a:r>
              <a:rPr lang="en-US" dirty="0">
                <a:effectLst/>
              </a:rPr>
              <a:t>. This method will only be effective if the nipple can be temporarily protracted. If pierced when protracted, the jewelry may prevent the nipple from returning to its inverted state. The success of both of these methods, from a cosmetic standpoint, is mixed.</a:t>
            </a:r>
            <a:r>
              <a:rPr lang="en-US" baseline="30000" dirty="0">
                <a:effectLst/>
              </a:rPr>
              <a:t>[</a:t>
            </a:r>
            <a:r>
              <a:rPr lang="en-US" i="1" baseline="30000" dirty="0">
                <a:effectLst/>
                <a:hlinkClick r:id="rId71" tooltip="Wikipedia:Citation needed"/>
              </a:rPr>
              <a:t>citation needed</a:t>
            </a:r>
            <a:r>
              <a:rPr lang="en-US" baseline="30000" dirty="0">
                <a:effectLst/>
              </a:rPr>
              <a:t>]</a:t>
            </a:r>
            <a:endParaRPr lang="en-US" dirty="0">
              <a:effectLst/>
            </a:endParaRPr>
          </a:p>
          <a:p>
            <a:pPr rtl="0"/>
            <a:r>
              <a:rPr lang="en-US" b="1" dirty="0">
                <a:effectLst/>
              </a:rPr>
              <a:t>Other corrective strategies[</a:t>
            </a:r>
            <a:r>
              <a:rPr lang="en-US" b="1" dirty="0">
                <a:effectLst/>
                <a:hlinkClick r:id="rId72" tooltip="Edit section: Other corrective strategies"/>
              </a:rPr>
              <a:t>edit</a:t>
            </a:r>
            <a:r>
              <a:rPr lang="en-US" b="1" dirty="0">
                <a:effectLst/>
              </a:rPr>
              <a:t>]</a:t>
            </a:r>
          </a:p>
          <a:p>
            <a:pPr rtl="0"/>
            <a:r>
              <a:rPr lang="en-US" dirty="0">
                <a:effectLst/>
              </a:rPr>
              <a:t>Other strategies for protracting inverted nipples include regularly stimulating the nipples to a protruding state, in an attempt to gradually loosen the nipple tissue. Some </a:t>
            </a:r>
            <a:r>
              <a:rPr lang="en-US" dirty="0">
                <a:effectLst/>
                <a:hlinkClick r:id="rId73" tooltip="Sex toy"/>
              </a:rPr>
              <a:t>sex toys</a:t>
            </a:r>
            <a:r>
              <a:rPr lang="en-US" dirty="0">
                <a:effectLst/>
              </a:rPr>
              <a:t> designed for nipple stimulation, such as </a:t>
            </a:r>
            <a:r>
              <a:rPr lang="en-US" dirty="0">
                <a:effectLst/>
                <a:hlinkClick r:id="rId74" tooltip="Suction cups"/>
              </a:rPr>
              <a:t>suction cups</a:t>
            </a:r>
            <a:r>
              <a:rPr lang="en-US" dirty="0">
                <a:effectLst/>
              </a:rPr>
              <a:t> or </a:t>
            </a:r>
            <a:r>
              <a:rPr lang="en-US" dirty="0">
                <a:effectLst/>
                <a:hlinkClick r:id="rId75" tooltip="Nipple clamp"/>
              </a:rPr>
              <a:t>clamps</a:t>
            </a:r>
            <a:r>
              <a:rPr lang="en-US" dirty="0">
                <a:effectLst/>
              </a:rPr>
              <a:t> may also cause inverted nipples to protract or stay protracted longer. There are special devices specifically designed to draw out inverted nipples or a home-made nipple protractor can be constructed out of a 10 ml disposable </a:t>
            </a:r>
            <a:r>
              <a:rPr lang="en-US" dirty="0">
                <a:effectLst/>
                <a:hlinkClick r:id="rId76" tooltip="Syringe"/>
              </a:rPr>
              <a:t>syringe</a:t>
            </a:r>
            <a:r>
              <a:rPr lang="en-US" dirty="0">
                <a:effectLst/>
              </a:rPr>
              <a:t>. These methods are often used in preparation for breast-feeding, which can sometimes cause inverted nipples to become protracted permanently.</a:t>
            </a:r>
          </a:p>
          <a:p>
            <a:pPr rtl="0"/>
            <a:r>
              <a:rPr lang="en-US" dirty="0">
                <a:effectLst/>
              </a:rPr>
              <a:t>Two methods which are now discouraged are </a:t>
            </a:r>
            <a:r>
              <a:rPr lang="en-US" dirty="0">
                <a:effectLst/>
                <a:hlinkClick r:id="rId77" tooltip="Breast shell"/>
              </a:rPr>
              <a:t>breast shells</a:t>
            </a:r>
            <a:r>
              <a:rPr lang="en-US" dirty="0">
                <a:effectLst/>
              </a:rPr>
              <a:t> and the Hoffman technique. Breast shells may be used to apply gentle constant pressure to the </a:t>
            </a:r>
            <a:r>
              <a:rPr lang="en-US" dirty="0">
                <a:effectLst/>
                <a:hlinkClick r:id="rId53" tooltip="Areola"/>
              </a:rPr>
              <a:t>areola</a:t>
            </a:r>
            <a:r>
              <a:rPr lang="en-US" dirty="0">
                <a:effectLst/>
              </a:rPr>
              <a:t> to try to break any adhesions under the skin that are preventing the nipple from being drawn out. The shells are worn inside the </a:t>
            </a:r>
            <a:r>
              <a:rPr lang="en-US" dirty="0">
                <a:effectLst/>
                <a:hlinkClick r:id="rId78" tooltip="Brassiere"/>
              </a:rPr>
              <a:t>bra</a:t>
            </a:r>
            <a:r>
              <a:rPr lang="en-US" dirty="0">
                <a:effectLst/>
              </a:rPr>
              <a:t>. The Hoffman technique is a nipple stretching exercise that may help loosen the adhesions at the base of the nipple when performed several times a day. Although both techniques are heavily promoted, a 1992 study found that not only do shells and the Hoffman technique not promote more successful breastfeeding, but they may also actually disrupt it.</a:t>
            </a:r>
            <a:r>
              <a:rPr lang="en-US" baseline="30000" dirty="0">
                <a:effectLst/>
                <a:hlinkClick r:id="rId79"/>
              </a:rPr>
              <a:t>[</a:t>
            </a:r>
            <a:endParaRPr lang="en-US" dirty="0">
              <a:effectLst/>
            </a:endParaRPr>
          </a:p>
        </p:txBody>
      </p:sp>
      <p:sp>
        <p:nvSpPr>
          <p:cNvPr id="4" name="Slide Number Placeholder 3"/>
          <p:cNvSpPr>
            <a:spLocks noGrp="1"/>
          </p:cNvSpPr>
          <p:nvPr>
            <p:ph type="sldNum" sz="quarter" idx="10"/>
          </p:nvPr>
        </p:nvSpPr>
        <p:spPr/>
        <p:txBody>
          <a:bodyPr/>
          <a:lstStyle/>
          <a:p>
            <a:fld id="{742E5506-B2FE-470B-BE8C-B51EED410E51}" type="slidenum">
              <a:rPr lang="en-US" smtClean="0"/>
              <a:t>73</a:t>
            </a:fld>
            <a:endParaRPr lang="en-US"/>
          </a:p>
        </p:txBody>
      </p:sp>
    </p:spTree>
    <p:extLst>
      <p:ext uri="{BB962C8B-B14F-4D97-AF65-F5344CB8AC3E}">
        <p14:creationId xmlns:p14="http://schemas.microsoft.com/office/powerpoint/2010/main" val="1973297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74</a:t>
            </a:fld>
            <a:endParaRPr lang="en-US"/>
          </a:p>
        </p:txBody>
      </p:sp>
    </p:spTree>
    <p:extLst>
      <p:ext uri="{BB962C8B-B14F-4D97-AF65-F5344CB8AC3E}">
        <p14:creationId xmlns:p14="http://schemas.microsoft.com/office/powerpoint/2010/main" val="2589085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1" dirty="0">
                <a:effectLst/>
              </a:rPr>
              <a:t>Engorgement[</a:t>
            </a:r>
            <a:r>
              <a:rPr lang="en-US" b="1" dirty="0">
                <a:effectLst/>
                <a:hlinkClick r:id="rId3" tooltip="Edit section: Engorgement"/>
              </a:rPr>
              <a:t>edit</a:t>
            </a:r>
            <a:r>
              <a:rPr lang="en-US" b="1" dirty="0">
                <a:effectLst/>
              </a:rPr>
              <a:t>]</a:t>
            </a:r>
          </a:p>
          <a:p>
            <a:pPr rtl="0"/>
            <a:r>
              <a:rPr lang="en-US" i="1" dirty="0">
                <a:effectLst/>
                <a:hlinkClick r:id="rId4" tooltip="Breast engorgement"/>
              </a:rPr>
              <a:t>Breast engorgement</a:t>
            </a:r>
            <a:r>
              <a:rPr lang="en-US" dirty="0">
                <a:effectLst/>
              </a:rPr>
              <a:t> is the sense of breast fullness experienced by most women within 36 hours of delivery. Normally, this is a painless sensation of "heaviness". Breastfeeding on demand is the primary way of preventing painful engorgement.</a:t>
            </a:r>
          </a:p>
          <a:p>
            <a:pPr rtl="0"/>
            <a:r>
              <a:rPr lang="en-US" dirty="0">
                <a:effectLst/>
              </a:rPr>
              <a:t>When the breast overfills with milk it becomes painful. Engorgement comes from not getting enough milk from the breast. It happens about 3 to 7 days after delivery and occurs more often in first time mothers. The increased blood supply, the accumulated milk and the swelling all contribute to the painful engorgement.</a:t>
            </a:r>
            <a:r>
              <a:rPr lang="en-US" baseline="30000" dirty="0">
                <a:effectLst/>
                <a:hlinkClick r:id="rId5"/>
              </a:rPr>
              <a:t>[15]</a:t>
            </a:r>
            <a:r>
              <a:rPr lang="en-US" dirty="0">
                <a:effectLst/>
              </a:rPr>
              <a:t> Engorgement may affect the areola, the periphery of the breast or the entire breast, and may interfere with breastfeeding both from the pain and also from the distortion of the normal shape of the areola/nipple. This makes it harder for the baby to latch on properly for feeding. Latching may occur over only part of the areola. This can irritate the nipple more, and may lead to ineffective drainage of breast milk and more pain. Engorgement may begin as a result of several factors such as nipple pain, improper feeding technique, infrequent feeding or infant-mother separation.</a:t>
            </a:r>
          </a:p>
          <a:p>
            <a:pPr rtl="0"/>
            <a:r>
              <a:rPr lang="en-US" dirty="0">
                <a:effectLst/>
              </a:rPr>
              <a:t>To prevent or treat engorgement, remove the milk from the breast, by breastfeeding, expressing or </a:t>
            </a:r>
            <a:r>
              <a:rPr lang="en-US" dirty="0">
                <a:effectLst/>
                <a:hlinkClick r:id="rId6" tooltip="Breast pump"/>
              </a:rPr>
              <a:t>pumping</a:t>
            </a:r>
            <a:r>
              <a:rPr lang="en-US" dirty="0">
                <a:effectLst/>
              </a:rPr>
              <a:t>. Gentle massage can help start the milk flow and so reduce the pressure. The reduced pressure softens the areola, perhaps even allowing the infant to feed. Warm water or warm compresses and expressing some milk before feeding can also help make breastfeeding more effective. Some researchers have suggested that after breastfeeding, mothers should pump and/or apply cold compresses to reduce swelling pain and vascularity even more. One published study suggested the use of "chilled cabbage leaves" applied to the breasts. Attempts to reproduce this technique met with mixed results.</a:t>
            </a:r>
            <a:r>
              <a:rPr lang="en-US" baseline="30000" dirty="0">
                <a:effectLst/>
                <a:hlinkClick r:id="rId7"/>
              </a:rPr>
              <a:t>[16]</a:t>
            </a:r>
            <a:r>
              <a:rPr lang="en-US" dirty="0">
                <a:effectLst/>
              </a:rPr>
              <a:t> </a:t>
            </a:r>
            <a:r>
              <a:rPr lang="en-US" dirty="0">
                <a:effectLst/>
                <a:hlinkClick r:id="rId8" tooltip="Non-steroidal anti-inflammatory drugs"/>
              </a:rPr>
              <a:t>Non-steroidal anti-inflammatory drugs</a:t>
            </a:r>
            <a:r>
              <a:rPr lang="en-US" dirty="0">
                <a:effectLst/>
              </a:rPr>
              <a:t> or </a:t>
            </a:r>
            <a:r>
              <a:rPr lang="en-US" dirty="0" err="1">
                <a:effectLst/>
                <a:hlinkClick r:id="rId9" tooltip="Paracetamol"/>
              </a:rPr>
              <a:t>paracetamol</a:t>
            </a:r>
            <a:r>
              <a:rPr lang="en-US" dirty="0">
                <a:effectLst/>
              </a:rPr>
              <a:t> (</a:t>
            </a:r>
            <a:r>
              <a:rPr lang="en-US" dirty="0" err="1">
                <a:effectLst/>
              </a:rPr>
              <a:t>acetominophen</a:t>
            </a:r>
            <a:r>
              <a:rPr lang="en-US" dirty="0">
                <a:effectLst/>
              </a:rPr>
              <a:t>) may relieve the pain</a:t>
            </a:r>
          </a:p>
          <a:p>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75</a:t>
            </a:fld>
            <a:endParaRPr lang="en-US"/>
          </a:p>
        </p:txBody>
      </p:sp>
    </p:spTree>
    <p:extLst>
      <p:ext uri="{BB962C8B-B14F-4D97-AF65-F5344CB8AC3E}">
        <p14:creationId xmlns:p14="http://schemas.microsoft.com/office/powerpoint/2010/main" val="487230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1" dirty="0">
                <a:effectLst/>
              </a:rPr>
              <a:t>Breast engorgement</a:t>
            </a:r>
            <a:r>
              <a:rPr lang="en-US" dirty="0">
                <a:effectLst/>
              </a:rPr>
              <a:t> occurs in the </a:t>
            </a:r>
            <a:r>
              <a:rPr lang="en-US" dirty="0">
                <a:effectLst/>
                <a:hlinkClick r:id="rId3" tooltip="Mammary glands"/>
              </a:rPr>
              <a:t>mammary glands</a:t>
            </a:r>
            <a:r>
              <a:rPr lang="en-US" dirty="0">
                <a:effectLst/>
              </a:rPr>
              <a:t> due to expansion and pressure exerted by the synthesis and storage of </a:t>
            </a:r>
            <a:r>
              <a:rPr lang="en-US" dirty="0">
                <a:effectLst/>
                <a:hlinkClick r:id="rId4" tooltip="Breast milk"/>
              </a:rPr>
              <a:t>breast milk</a:t>
            </a:r>
            <a:r>
              <a:rPr lang="en-US" dirty="0">
                <a:effectLst/>
              </a:rPr>
              <a:t>.</a:t>
            </a:r>
          </a:p>
          <a:p>
            <a:pPr rtl="0"/>
            <a:r>
              <a:rPr lang="en-US" dirty="0">
                <a:effectLst/>
              </a:rPr>
              <a:t>Engorgement usually happens when the breasts switch from </a:t>
            </a:r>
            <a:r>
              <a:rPr lang="en-US" dirty="0">
                <a:effectLst/>
                <a:hlinkClick r:id="rId5" tooltip="Colostrum"/>
              </a:rPr>
              <a:t>colostrum</a:t>
            </a:r>
            <a:r>
              <a:rPr lang="en-US" dirty="0">
                <a:effectLst/>
              </a:rPr>
              <a:t> to mature milk (often referred to as when the milk "comes in"). However, engorgement can also happen later if lactating women miss several </a:t>
            </a:r>
            <a:r>
              <a:rPr lang="en-US" dirty="0" err="1">
                <a:effectLst/>
              </a:rPr>
              <a:t>nursings</a:t>
            </a:r>
            <a:r>
              <a:rPr lang="en-US" dirty="0">
                <a:effectLst/>
              </a:rPr>
              <a:t> and not enough milk is expressed from the breasts. It can be exacerbated by insufficient </a:t>
            </a:r>
            <a:r>
              <a:rPr lang="en-US" dirty="0">
                <a:effectLst/>
                <a:hlinkClick r:id="rId6" tooltip="Breastfeeding"/>
              </a:rPr>
              <a:t>breastfeeding</a:t>
            </a:r>
            <a:r>
              <a:rPr lang="en-US" dirty="0">
                <a:effectLst/>
              </a:rPr>
              <a:t> and/or blocked milk ducts. When engorged the breasts may swell, throb, and cause mild to extreme </a:t>
            </a:r>
            <a:r>
              <a:rPr lang="en-US" dirty="0">
                <a:effectLst/>
                <a:hlinkClick r:id="rId7" tooltip="Pain and nociception"/>
              </a:rPr>
              <a:t>pain</a:t>
            </a:r>
            <a:r>
              <a:rPr lang="en-US" dirty="0">
                <a:effectLst/>
              </a:rPr>
              <a:t>.</a:t>
            </a:r>
          </a:p>
          <a:p>
            <a:pPr rtl="0"/>
            <a:r>
              <a:rPr lang="en-US" dirty="0">
                <a:effectLst/>
              </a:rPr>
              <a:t>Engorgement may lead to </a:t>
            </a:r>
            <a:r>
              <a:rPr lang="en-US" dirty="0">
                <a:effectLst/>
                <a:hlinkClick r:id="rId8" tooltip="Mastitis"/>
              </a:rPr>
              <a:t>mastitis</a:t>
            </a:r>
            <a:r>
              <a:rPr lang="en-US" dirty="0">
                <a:effectLst/>
              </a:rPr>
              <a:t> (inflammation of the breast) and untreated engorgement puts pressure on the milk ducts, often causing a plugged duct. The woman will often feel a lump in one part of the breast, and the skin in that area may be red and/or warm. If it continues unchecked, the plugged duct can become a breast infection, at which point she may have fever or </a:t>
            </a:r>
            <a:r>
              <a:rPr lang="en-US" dirty="0">
                <a:effectLst/>
                <a:hlinkClick r:id="rId9" tooltip="Flu-like symptoms"/>
              </a:rPr>
              <a:t>flu-like symptoms</a:t>
            </a:r>
            <a:r>
              <a:rPr lang="en-US" dirty="0">
                <a:effectLst/>
              </a:rPr>
              <a:t>.</a:t>
            </a:r>
          </a:p>
          <a:p>
            <a:pPr rtl="0"/>
            <a:r>
              <a:rPr lang="en-US" b="1" dirty="0">
                <a:effectLst/>
              </a:rPr>
              <a:t>Contents</a:t>
            </a:r>
          </a:p>
          <a:p>
            <a:pPr rtl="0"/>
            <a:r>
              <a:rPr lang="en-US" dirty="0">
                <a:effectLst/>
              </a:rPr>
              <a:t> [</a:t>
            </a:r>
            <a:r>
              <a:rPr lang="en-US" dirty="0">
                <a:effectLst/>
                <a:hlinkClick r:id="rId10"/>
              </a:rPr>
              <a:t>hide</a:t>
            </a:r>
            <a:r>
              <a:rPr lang="en-US" dirty="0">
                <a:effectLst/>
              </a:rPr>
              <a:t>] </a:t>
            </a:r>
          </a:p>
          <a:p>
            <a:pPr rtl="0"/>
            <a:r>
              <a:rPr lang="en-US" dirty="0">
                <a:effectLst/>
                <a:hlinkClick r:id="rId11"/>
              </a:rPr>
              <a:t>1 Signs and symptoms</a:t>
            </a:r>
            <a:endParaRPr lang="en-US" dirty="0">
              <a:effectLst/>
            </a:endParaRPr>
          </a:p>
          <a:p>
            <a:pPr rtl="0"/>
            <a:r>
              <a:rPr lang="en-US" dirty="0">
                <a:effectLst/>
                <a:hlinkClick r:id="rId12"/>
              </a:rPr>
              <a:t>2 Causes</a:t>
            </a:r>
            <a:endParaRPr lang="en-US" dirty="0">
              <a:effectLst/>
            </a:endParaRPr>
          </a:p>
          <a:p>
            <a:pPr rtl="0"/>
            <a:r>
              <a:rPr lang="en-US" dirty="0">
                <a:effectLst/>
                <a:hlinkClick r:id="rId13"/>
              </a:rPr>
              <a:t>3 Diagnosis</a:t>
            </a:r>
            <a:endParaRPr lang="en-US" dirty="0">
              <a:effectLst/>
            </a:endParaRPr>
          </a:p>
          <a:p>
            <a:pPr rtl="0"/>
            <a:r>
              <a:rPr lang="en-US" dirty="0">
                <a:effectLst/>
                <a:hlinkClick r:id="rId14"/>
              </a:rPr>
              <a:t>4 Treatment</a:t>
            </a:r>
            <a:endParaRPr lang="en-US" dirty="0">
              <a:effectLst/>
            </a:endParaRPr>
          </a:p>
          <a:p>
            <a:pPr rtl="0"/>
            <a:r>
              <a:rPr lang="en-US" dirty="0">
                <a:effectLst/>
                <a:hlinkClick r:id="rId15"/>
              </a:rPr>
              <a:t>5 References</a:t>
            </a:r>
            <a:endParaRPr lang="en-US" dirty="0">
              <a:effectLst/>
            </a:endParaRPr>
          </a:p>
          <a:p>
            <a:pPr rtl="0"/>
            <a:r>
              <a:rPr lang="en-US" dirty="0">
                <a:effectLst/>
                <a:hlinkClick r:id="rId16"/>
              </a:rPr>
              <a:t>6 External links</a:t>
            </a:r>
            <a:endParaRPr lang="en-US" dirty="0">
              <a:effectLst/>
            </a:endParaRPr>
          </a:p>
          <a:p>
            <a:pPr rtl="0"/>
            <a:r>
              <a:rPr lang="en-US" b="1" dirty="0">
                <a:effectLst/>
              </a:rPr>
              <a:t>Signs and symptoms[</a:t>
            </a:r>
            <a:r>
              <a:rPr lang="en-US" b="1" dirty="0">
                <a:effectLst/>
                <a:hlinkClick r:id="rId17" tooltip="Edit section: Signs and symptoms"/>
              </a:rPr>
              <a:t>edit</a:t>
            </a:r>
            <a:r>
              <a:rPr lang="en-US" b="1" dirty="0">
                <a:effectLst/>
              </a:rPr>
              <a:t>]</a:t>
            </a:r>
          </a:p>
          <a:p>
            <a:pPr rtl="0"/>
            <a:r>
              <a:rPr lang="en-US" dirty="0">
                <a:effectLst/>
              </a:rPr>
              <a:t>The first signs of the condition are the swollen, firm and painful breasts. In more severe cases, the affected breast becomes very swollen, hard, shiny, warm, and slightly lumpy when touched.</a:t>
            </a:r>
          </a:p>
          <a:p>
            <a:pPr rtl="0"/>
            <a:r>
              <a:rPr lang="en-US" dirty="0">
                <a:effectLst/>
              </a:rPr>
              <a:t>The condition may cause </a:t>
            </a:r>
            <a:r>
              <a:rPr lang="en-US" dirty="0">
                <a:effectLst/>
                <a:hlinkClick r:id="rId18" tooltip="Edematous"/>
              </a:rPr>
              <a:t>edematous</a:t>
            </a:r>
            <a:r>
              <a:rPr lang="en-US" dirty="0">
                <a:effectLst/>
              </a:rPr>
              <a:t> and flushed nipples. In cases when the breast is greatly engorged, the nipple is likely to retract into the areola. Commonly, patients experience loss of appetite, fatigues, weakness and chills.</a:t>
            </a:r>
          </a:p>
          <a:p>
            <a:pPr rtl="0"/>
            <a:r>
              <a:rPr lang="en-US" dirty="0">
                <a:effectLst/>
              </a:rPr>
              <a:t>A fever may occur in 15%, but is typically less than 39 degrees C and lasts for less than one day.</a:t>
            </a:r>
            <a:r>
              <a:rPr lang="en-US" baseline="30000" dirty="0">
                <a:effectLst/>
                <a:hlinkClick r:id="rId19"/>
              </a:rPr>
              <a:t>[1]</a:t>
            </a:r>
            <a:endParaRPr lang="en-US" dirty="0">
              <a:effectLst/>
            </a:endParaRPr>
          </a:p>
          <a:p>
            <a:pPr rtl="0"/>
            <a:r>
              <a:rPr lang="en-US" b="1" dirty="0">
                <a:effectLst/>
              </a:rPr>
              <a:t>Causes[</a:t>
            </a:r>
            <a:r>
              <a:rPr lang="en-US" b="1" dirty="0">
                <a:effectLst/>
                <a:hlinkClick r:id="rId20" tooltip="Edit section: Causes"/>
              </a:rPr>
              <a:t>edit</a:t>
            </a:r>
            <a:r>
              <a:rPr lang="en-US" b="1" dirty="0">
                <a:effectLst/>
              </a:rPr>
              <a:t>]</a:t>
            </a:r>
          </a:p>
          <a:p>
            <a:pPr rtl="0"/>
            <a:r>
              <a:rPr lang="en-US" dirty="0">
                <a:effectLst/>
              </a:rPr>
              <a:t>Breast engorgement is caused by an imbalance between milk supply and infant demand. It often occurs in women who decide not to breastfeed.</a:t>
            </a:r>
          </a:p>
          <a:p>
            <a:pPr rtl="0"/>
            <a:r>
              <a:rPr lang="en-US" dirty="0">
                <a:effectLst/>
              </a:rPr>
              <a:t>Breast engorgement can occur due to four main factors such as a suddenly increased milk production that is common during the first days after the baby is delivered or when the baby suddenly stops breastfeeding either because it is starting to eat solid foods or it is ill and has a poor appetite. Breast engorgement may also be caused when the mother does not nurse or </a:t>
            </a:r>
            <a:r>
              <a:rPr lang="en-US" dirty="0">
                <a:effectLst/>
                <a:hlinkClick r:id="rId21" tooltip="Breast pump"/>
              </a:rPr>
              <a:t>pump the breast</a:t>
            </a:r>
            <a:r>
              <a:rPr lang="en-US" dirty="0">
                <a:effectLst/>
              </a:rPr>
              <a:t> as much as usual.</a:t>
            </a:r>
          </a:p>
          <a:p>
            <a:pPr rtl="0"/>
            <a:r>
              <a:rPr lang="en-US" dirty="0">
                <a:effectLst/>
              </a:rPr>
              <a:t>After the first 3 to 4 postpartum days, the quantity of colostrum is quickly replaced by an increased milk production. When milk production increases rapidly, the volume of milk in the breast can exceed the capacity of the alveoli to store it and if the milk is not removed, the alveoli become over-distended which can lead to the rupture of the milk-secreting cells </a:t>
            </a:r>
            <a:r>
              <a:rPr lang="en-US" baseline="30000" dirty="0">
                <a:effectLst/>
                <a:hlinkClick r:id="rId22"/>
              </a:rPr>
              <a:t>[2]</a:t>
            </a:r>
            <a:endParaRPr lang="en-US" dirty="0">
              <a:effectLst/>
            </a:endParaRPr>
          </a:p>
          <a:p>
            <a:pPr rtl="0"/>
            <a:r>
              <a:rPr lang="en-US" dirty="0">
                <a:effectLst/>
              </a:rPr>
              <a:t>Accumulation of milk and the resulting engorgement are a major trigger of apoptosis, or programmed cell death, that causes involution of the milk-secreting gland, milk resorption, collapse of the alveolar structures, and the cessation of milk production.</a:t>
            </a:r>
          </a:p>
          <a:p>
            <a:pPr rtl="0"/>
            <a:r>
              <a:rPr lang="en-US" dirty="0">
                <a:effectLst/>
              </a:rPr>
              <a:t>Severe breast engorgement can lead to the flattening of the nipples or, it can result in inverted nipples which make it impossible for the baby to suck out all the milk from the breast. This is one of the common causes of the stagnation of milk in the breast.</a:t>
            </a:r>
          </a:p>
          <a:p>
            <a:pPr rtl="0"/>
            <a:r>
              <a:rPr lang="en-US" dirty="0">
                <a:effectLst/>
              </a:rPr>
              <a:t>Not all women experience breast engorgement after they give birth and some degree of engorgement of the breast is however normal within the few postpartum days. Women with mild to moderate </a:t>
            </a:r>
            <a:r>
              <a:rPr lang="en-US" dirty="0" err="1">
                <a:effectLst/>
                <a:hlinkClick r:id="rId23" tooltip="Hypoplasia"/>
              </a:rPr>
              <a:t>hypoplastic</a:t>
            </a:r>
            <a:r>
              <a:rPr lang="en-US" dirty="0">
                <a:effectLst/>
                <a:hlinkClick r:id="rId23" tooltip="Hypoplasia"/>
              </a:rPr>
              <a:t> breasts</a:t>
            </a:r>
            <a:r>
              <a:rPr lang="en-US" dirty="0">
                <a:effectLst/>
              </a:rPr>
              <a:t> with a wide </a:t>
            </a:r>
            <a:r>
              <a:rPr lang="en-US" dirty="0" err="1">
                <a:effectLst/>
              </a:rPr>
              <a:t>intramammary</a:t>
            </a:r>
            <a:r>
              <a:rPr lang="en-US" dirty="0">
                <a:effectLst/>
              </a:rPr>
              <a:t> space (&gt;1 inch) and a tubular shape are at particular risk for producing less than 50 percent of the milk necessary for the first week. More concerning are the moderate to severe degrees of breast engorgement. In these cases, the condition can continue for up to ten days or more even though the patients will experience serious symptoms only during the first six days.</a:t>
            </a:r>
          </a:p>
          <a:p>
            <a:pPr rtl="0"/>
            <a:r>
              <a:rPr lang="en-US" dirty="0">
                <a:effectLst/>
              </a:rPr>
              <a:t>Overfilled breasts can lead to severe engorgement due to waiting too long to begin breastfeeding the baby, not feeding often enough or due to small feedings that do not empty the breast, very common in cases when the baby is fed formula or water. Severe engorgement of the breast can lead to breast </a:t>
            </a:r>
            <a:r>
              <a:rPr lang="en-US" dirty="0">
                <a:effectLst/>
                <a:hlinkClick r:id="rId24" tooltip="Infection"/>
              </a:rPr>
              <a:t>infection</a:t>
            </a:r>
            <a:r>
              <a:rPr lang="en-US" dirty="0">
                <a:effectLst/>
              </a:rPr>
              <a:t>.</a:t>
            </a:r>
          </a:p>
          <a:p>
            <a:pPr rtl="0"/>
            <a:r>
              <a:rPr lang="en-US" b="1" dirty="0">
                <a:effectLst/>
              </a:rPr>
              <a:t>Diagnosis[</a:t>
            </a:r>
            <a:r>
              <a:rPr lang="en-US" b="1" dirty="0">
                <a:effectLst/>
                <a:hlinkClick r:id="rId25" tooltip="Edit section: Diagnosis"/>
              </a:rPr>
              <a:t>edit</a:t>
            </a:r>
            <a:r>
              <a:rPr lang="en-US" b="1" dirty="0">
                <a:effectLst/>
              </a:rPr>
              <a:t>]</a:t>
            </a:r>
          </a:p>
          <a:p>
            <a:pPr rtl="0"/>
            <a:r>
              <a:rPr lang="en-US" dirty="0">
                <a:effectLst/>
              </a:rPr>
              <a:t>The symptoms of breast engorgement are similar to the symptoms caused by the </a:t>
            </a:r>
            <a:r>
              <a:rPr lang="en-US" dirty="0">
                <a:effectLst/>
                <a:hlinkClick r:id="rId26" tooltip="Inflammatory breast cancer"/>
              </a:rPr>
              <a:t>inflammatory breast cancer</a:t>
            </a:r>
            <a:r>
              <a:rPr lang="en-US" dirty="0">
                <a:effectLst/>
              </a:rPr>
              <a:t>, for this reason it is very important to seek medical attention if the condition does not completely clear within 2 weeks.</a:t>
            </a:r>
          </a:p>
          <a:p>
            <a:pPr rtl="0"/>
            <a:r>
              <a:rPr lang="en-US" b="1" dirty="0">
                <a:effectLst/>
              </a:rPr>
              <a:t>Treatment[</a:t>
            </a:r>
            <a:r>
              <a:rPr lang="en-US" b="1" dirty="0">
                <a:effectLst/>
                <a:hlinkClick r:id="rId27" tooltip="Edit section: Treatment"/>
              </a:rPr>
              <a:t>edit</a:t>
            </a:r>
            <a:r>
              <a:rPr lang="en-US" b="1" dirty="0">
                <a:effectLst/>
              </a:rPr>
              <a:t>]</a:t>
            </a:r>
          </a:p>
          <a:p>
            <a:pPr rtl="0"/>
            <a:r>
              <a:rPr lang="en-US" dirty="0">
                <a:effectLst/>
              </a:rPr>
              <a:t>Regular breastfeeding should be continued, supportive treatment and hot and cold compresses can help.</a:t>
            </a:r>
            <a:r>
              <a:rPr lang="en-US" baseline="30000" dirty="0">
                <a:effectLst/>
                <a:hlinkClick r:id="rId28"/>
              </a:rPr>
              <a:t>[3]</a:t>
            </a:r>
            <a:endParaRPr lang="en-US" dirty="0">
              <a:effectLst/>
            </a:endParaRPr>
          </a:p>
          <a:p>
            <a:pPr rtl="0"/>
            <a:r>
              <a:rPr lang="en-US" dirty="0">
                <a:effectLst/>
              </a:rPr>
              <a:t>Wearing a well fitting maternity bra with wide straps that do not scratch and with a cup that comfortably holds the entire breast usually help in easing the discomfort and other symptoms.</a:t>
            </a:r>
            <a:r>
              <a:rPr lang="en-US" baseline="30000" dirty="0">
                <a:effectLst/>
                <a:hlinkClick r:id="rId29"/>
              </a:rPr>
              <a:t>[4]</a:t>
            </a:r>
            <a:endParaRPr lang="en-US" dirty="0">
              <a:effectLst/>
            </a:endParaRPr>
          </a:p>
          <a:p>
            <a:pPr rtl="0"/>
            <a:r>
              <a:rPr lang="en-US" dirty="0">
                <a:effectLst/>
              </a:rPr>
              <a:t>If the symptoms do not improve after a few days, the patient is advised to seek a doctor.</a:t>
            </a:r>
          </a:p>
          <a:p>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76</a:t>
            </a:fld>
            <a:endParaRPr lang="en-US"/>
          </a:p>
        </p:txBody>
      </p:sp>
    </p:spTree>
    <p:extLst>
      <p:ext uri="{BB962C8B-B14F-4D97-AF65-F5344CB8AC3E}">
        <p14:creationId xmlns:p14="http://schemas.microsoft.com/office/powerpoint/2010/main" val="2946714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Mastitis</a:t>
            </a:r>
          </a:p>
          <a:p>
            <a:r>
              <a:rPr lang="en-US" dirty="0"/>
              <a:t>From Wikipedia, the free encyclopedia</a:t>
            </a:r>
          </a:p>
          <a:p>
            <a:r>
              <a:rPr lang="en-US" dirty="0"/>
              <a:t>Jump to: </a:t>
            </a:r>
            <a:r>
              <a:rPr lang="en-US" dirty="0">
                <a:hlinkClick r:id="rId3"/>
              </a:rPr>
              <a:t>navigation</a:t>
            </a:r>
            <a:r>
              <a:rPr lang="en-US" dirty="0"/>
              <a:t>, </a:t>
            </a:r>
            <a:r>
              <a:rPr lang="en-US" dirty="0">
                <a:hlinkClick r:id="rId4"/>
              </a:rPr>
              <a:t>search</a:t>
            </a:r>
            <a:r>
              <a:rPr lang="en-US" dirty="0"/>
              <a:t> </a:t>
            </a:r>
          </a:p>
          <a:p>
            <a:pPr rtl="0"/>
            <a:r>
              <a:rPr lang="en-US" dirty="0" err="1">
                <a:effectLst/>
              </a:rPr>
              <a:t>MastitisClassification</a:t>
            </a:r>
            <a:r>
              <a:rPr lang="en-US" dirty="0">
                <a:effectLst/>
              </a:rPr>
              <a:t> and external resources</a:t>
            </a:r>
            <a:r>
              <a:rPr lang="en-US" dirty="0">
                <a:effectLst/>
                <a:hlinkClick r:id="rId5" tooltip="International Statistical Classification of Diseases and Related Health Problems"/>
              </a:rPr>
              <a:t>ICD</a:t>
            </a:r>
            <a:r>
              <a:rPr lang="en-US" dirty="0">
                <a:effectLst/>
              </a:rPr>
              <a:t>-</a:t>
            </a:r>
            <a:r>
              <a:rPr lang="en-US" dirty="0">
                <a:effectLst/>
                <a:hlinkClick r:id="rId6" tooltip="ICD-10"/>
              </a:rPr>
              <a:t>10</a:t>
            </a:r>
            <a:r>
              <a:rPr lang="en-US" dirty="0">
                <a:effectLst/>
                <a:hlinkClick r:id="rId7"/>
              </a:rPr>
              <a:t>N61</a:t>
            </a:r>
            <a:r>
              <a:rPr lang="en-US" dirty="0">
                <a:effectLst/>
                <a:hlinkClick r:id="rId5" tooltip="International Statistical Classification of Diseases and Related Health Problems"/>
              </a:rPr>
              <a:t>ICD</a:t>
            </a:r>
            <a:r>
              <a:rPr lang="en-US" dirty="0">
                <a:effectLst/>
              </a:rPr>
              <a:t>-</a:t>
            </a:r>
            <a:r>
              <a:rPr lang="en-US" dirty="0">
                <a:effectLst/>
                <a:hlinkClick r:id="rId8" tooltip="List of ICD-9 codes"/>
              </a:rPr>
              <a:t>9</a:t>
            </a:r>
            <a:r>
              <a:rPr lang="en-US" dirty="0">
                <a:effectLst/>
                <a:hlinkClick r:id="rId9"/>
              </a:rPr>
              <a:t>611.0</a:t>
            </a:r>
            <a:r>
              <a:rPr lang="en-US" dirty="0">
                <a:effectLst/>
                <a:hlinkClick r:id="rId10" tooltip="Diseases Database"/>
              </a:rPr>
              <a:t>DiseasesDB</a:t>
            </a:r>
            <a:r>
              <a:rPr lang="en-US" dirty="0">
                <a:effectLst/>
                <a:hlinkClick r:id="rId11"/>
              </a:rPr>
              <a:t>7861</a:t>
            </a:r>
            <a:r>
              <a:rPr lang="en-US" dirty="0">
                <a:effectLst/>
                <a:hlinkClick r:id="rId12" tooltip="MedlinePlus"/>
              </a:rPr>
              <a:t>MedlinePlus</a:t>
            </a:r>
            <a:r>
              <a:rPr lang="en-US" dirty="0">
                <a:effectLst/>
                <a:hlinkClick r:id="rId13"/>
              </a:rPr>
              <a:t>001490</a:t>
            </a:r>
            <a:r>
              <a:rPr lang="en-US" dirty="0">
                <a:effectLst/>
                <a:hlinkClick r:id="rId14" tooltip="Medical Subject Headings"/>
              </a:rPr>
              <a:t>MeSH</a:t>
            </a:r>
            <a:r>
              <a:rPr lang="en-US" dirty="0">
                <a:effectLst/>
                <a:hlinkClick r:id="rId15"/>
              </a:rPr>
              <a:t>D008413</a:t>
            </a:r>
            <a:r>
              <a:rPr lang="en-US" b="1" dirty="0">
                <a:effectLst/>
              </a:rPr>
              <a:t>Mastitis</a:t>
            </a:r>
            <a:r>
              <a:rPr lang="en-US" dirty="0">
                <a:effectLst/>
              </a:rPr>
              <a:t> is the </a:t>
            </a:r>
            <a:r>
              <a:rPr lang="en-US" dirty="0">
                <a:effectLst/>
                <a:hlinkClick r:id="rId16" tooltip="Inflammation"/>
              </a:rPr>
              <a:t>inflammation</a:t>
            </a:r>
            <a:r>
              <a:rPr lang="en-US" dirty="0">
                <a:effectLst/>
              </a:rPr>
              <a:t> of </a:t>
            </a:r>
            <a:r>
              <a:rPr lang="en-US" dirty="0">
                <a:effectLst/>
                <a:hlinkClick r:id="rId17" tooltip="Breast"/>
              </a:rPr>
              <a:t>breast</a:t>
            </a:r>
            <a:r>
              <a:rPr lang="en-US" dirty="0">
                <a:effectLst/>
              </a:rPr>
              <a:t> tissue.</a:t>
            </a:r>
            <a:r>
              <a:rPr lang="en-US" baseline="30000" dirty="0">
                <a:effectLst/>
                <a:hlinkClick r:id="rId18"/>
              </a:rPr>
              <a:t>[1]</a:t>
            </a:r>
            <a:r>
              <a:rPr lang="en-US" dirty="0">
                <a:effectLst/>
              </a:rPr>
              <a:t> </a:t>
            </a:r>
            <a:r>
              <a:rPr lang="en-US" i="1" dirty="0">
                <a:effectLst/>
                <a:hlinkClick r:id="rId19" tooltip="Staphylococcus aureus"/>
              </a:rPr>
              <a:t>S. aureus</a:t>
            </a:r>
            <a:r>
              <a:rPr lang="en-US" dirty="0">
                <a:effectLst/>
              </a:rPr>
              <a:t> is the most common </a:t>
            </a:r>
            <a:r>
              <a:rPr lang="en-US" dirty="0">
                <a:effectLst/>
                <a:hlinkClick r:id="rId20" tooltip="Etiology (medicine)"/>
              </a:rPr>
              <a:t>etiological</a:t>
            </a:r>
            <a:r>
              <a:rPr lang="en-US" dirty="0">
                <a:effectLst/>
              </a:rPr>
              <a:t> organism responsible, but </a:t>
            </a:r>
            <a:r>
              <a:rPr lang="en-US" i="1" dirty="0">
                <a:effectLst/>
                <a:hlinkClick r:id="rId21" tooltip="Staphylococcus epidermidis"/>
              </a:rPr>
              <a:t>S. epidermidis</a:t>
            </a:r>
            <a:r>
              <a:rPr lang="en-US" dirty="0">
                <a:effectLst/>
              </a:rPr>
              <a:t> and </a:t>
            </a:r>
            <a:r>
              <a:rPr lang="en-US" dirty="0">
                <a:effectLst/>
                <a:hlinkClick r:id="rId22" tooltip="Streptococci"/>
              </a:rPr>
              <a:t>streptococci</a:t>
            </a:r>
            <a:r>
              <a:rPr lang="en-US" dirty="0">
                <a:effectLst/>
              </a:rPr>
              <a:t> are occasionally isolated as well.</a:t>
            </a:r>
            <a:r>
              <a:rPr lang="en-US" baseline="30000" dirty="0">
                <a:effectLst/>
                <a:hlinkClick r:id="rId23"/>
              </a:rPr>
              <a:t>[2]</a:t>
            </a:r>
            <a:endParaRPr lang="en-US" dirty="0">
              <a:effectLst/>
            </a:endParaRPr>
          </a:p>
          <a:p>
            <a:pPr rtl="0"/>
            <a:r>
              <a:rPr lang="en-US" dirty="0">
                <a:effectLst/>
              </a:rPr>
              <a:t>Mastitis can be classified as milk stasis, non-infectious or infectious inflammation and abscess. It is impossible to correlate this classification with clinical symptoms. In particular, milk stasis, non-infectious and infectious inflammation can be distinguished only by leukocyte count and bacteria culturing. Symptoms like fever, intensity of pain, erythema or rapid onset of symptoms can not be used to distinguish these.</a:t>
            </a:r>
          </a:p>
          <a:p>
            <a:pPr rtl="0"/>
            <a:r>
              <a:rPr lang="en-US" dirty="0">
                <a:effectLst/>
              </a:rPr>
              <a:t>Early stages of mastitis can present with local pain, redness, swelling, and warmth. Later stages also present with systemic symptoms like fever and </a:t>
            </a:r>
            <a:r>
              <a:rPr lang="en-US" dirty="0">
                <a:effectLst/>
                <a:hlinkClick r:id="rId24" tooltip="Flu-like symptoms"/>
              </a:rPr>
              <a:t>flu-like symptoms</a:t>
            </a:r>
            <a:r>
              <a:rPr lang="en-US" dirty="0">
                <a:effectLst/>
              </a:rPr>
              <a:t> and in rare cases an abscess can develop. However it is pretty common that symptoms develop very quickly without any warning.</a:t>
            </a:r>
          </a:p>
          <a:p>
            <a:pPr rtl="0"/>
            <a:r>
              <a:rPr lang="en-US" dirty="0">
                <a:effectLst/>
              </a:rPr>
              <a:t>Except in severe cases it is not necessary to wean a </a:t>
            </a:r>
            <a:r>
              <a:rPr lang="en-US" dirty="0">
                <a:effectLst/>
                <a:hlinkClick r:id="rId25" tooltip="Infant"/>
              </a:rPr>
              <a:t>nursling</a:t>
            </a:r>
            <a:r>
              <a:rPr lang="en-US" dirty="0">
                <a:effectLst/>
              </a:rPr>
              <a:t> because of mastitis; in fact, nursing is the most effective way to remove the blockage and alleviate the symptoms. Sudden weaning can cause or exacerbate mastitis symptoms and cause </a:t>
            </a:r>
            <a:r>
              <a:rPr lang="en-US" dirty="0" err="1">
                <a:effectLst/>
              </a:rPr>
              <a:t>hyponatremic</a:t>
            </a:r>
            <a:r>
              <a:rPr lang="en-US" dirty="0">
                <a:effectLst/>
              </a:rPr>
              <a:t> shock in the infant.</a:t>
            </a:r>
          </a:p>
          <a:p>
            <a:pPr rtl="0"/>
            <a:r>
              <a:rPr lang="en-US" dirty="0">
                <a:effectLst/>
              </a:rPr>
              <a:t>Continued breastfeeding does not present any risk to the nursing infant and is very beneficial for the mother.</a:t>
            </a:r>
            <a:r>
              <a:rPr lang="en-US" baseline="30000" dirty="0">
                <a:effectLst/>
                <a:hlinkClick r:id="rId26"/>
              </a:rPr>
              <a:t>[3]</a:t>
            </a:r>
            <a:r>
              <a:rPr lang="en-US" baseline="30000" dirty="0">
                <a:effectLst/>
                <a:hlinkClick r:id="rId27"/>
              </a:rPr>
              <a:t>[4]</a:t>
            </a:r>
            <a:endParaRPr lang="en-US" dirty="0">
              <a:effectLst/>
            </a:endParaRPr>
          </a:p>
          <a:p>
            <a:pPr rtl="0"/>
            <a:r>
              <a:rPr lang="en-US" b="1" dirty="0">
                <a:effectLst/>
              </a:rPr>
              <a:t>Contents</a:t>
            </a:r>
          </a:p>
          <a:p>
            <a:pPr rtl="0"/>
            <a:r>
              <a:rPr lang="en-US" dirty="0">
                <a:effectLst/>
              </a:rPr>
              <a:t> [</a:t>
            </a:r>
            <a:r>
              <a:rPr lang="en-US" dirty="0">
                <a:effectLst/>
                <a:hlinkClick r:id="rId28"/>
              </a:rPr>
              <a:t>hide</a:t>
            </a:r>
            <a:r>
              <a:rPr lang="en-US" dirty="0">
                <a:effectLst/>
              </a:rPr>
              <a:t>] </a:t>
            </a:r>
          </a:p>
          <a:p>
            <a:pPr rtl="0"/>
            <a:r>
              <a:rPr lang="en-US" dirty="0">
                <a:effectLst/>
                <a:hlinkClick r:id="rId29"/>
              </a:rPr>
              <a:t>1 Terminology</a:t>
            </a:r>
            <a:endParaRPr lang="en-US" dirty="0">
              <a:effectLst/>
            </a:endParaRPr>
          </a:p>
          <a:p>
            <a:pPr rtl="0"/>
            <a:r>
              <a:rPr lang="en-US" dirty="0">
                <a:effectLst/>
                <a:hlinkClick r:id="rId30"/>
              </a:rPr>
              <a:t>2 Types</a:t>
            </a:r>
            <a:r>
              <a:rPr lang="en-US" dirty="0">
                <a:effectLst/>
              </a:rPr>
              <a:t> </a:t>
            </a:r>
          </a:p>
          <a:p>
            <a:pPr lvl="1" rtl="0"/>
            <a:r>
              <a:rPr lang="en-US" dirty="0">
                <a:effectLst/>
                <a:hlinkClick r:id="rId31"/>
              </a:rPr>
              <a:t>2.1 Puerperal</a:t>
            </a:r>
            <a:endParaRPr lang="en-US" dirty="0">
              <a:effectLst/>
            </a:endParaRPr>
          </a:p>
          <a:p>
            <a:pPr lvl="1" rtl="0"/>
            <a:r>
              <a:rPr lang="en-US" dirty="0">
                <a:effectLst/>
                <a:hlinkClick r:id="rId32"/>
              </a:rPr>
              <a:t>2.2 </a:t>
            </a:r>
            <a:r>
              <a:rPr lang="en-US" dirty="0" err="1">
                <a:effectLst/>
                <a:hlinkClick r:id="rId32"/>
              </a:rPr>
              <a:t>Nonpuerperal</a:t>
            </a:r>
            <a:endParaRPr lang="en-US" dirty="0">
              <a:effectLst/>
            </a:endParaRPr>
          </a:p>
          <a:p>
            <a:pPr rtl="0"/>
            <a:r>
              <a:rPr lang="en-US" dirty="0">
                <a:effectLst/>
                <a:hlinkClick r:id="rId33"/>
              </a:rPr>
              <a:t>3 Symptoms</a:t>
            </a:r>
            <a:r>
              <a:rPr lang="en-US" dirty="0">
                <a:effectLst/>
              </a:rPr>
              <a:t> </a:t>
            </a:r>
          </a:p>
          <a:p>
            <a:pPr lvl="1" rtl="0"/>
            <a:r>
              <a:rPr lang="en-US" dirty="0">
                <a:effectLst/>
                <a:hlinkClick r:id="rId34"/>
              </a:rPr>
              <a:t>3.1 Breast abscess</a:t>
            </a:r>
            <a:endParaRPr lang="en-US" dirty="0">
              <a:effectLst/>
            </a:endParaRPr>
          </a:p>
          <a:p>
            <a:pPr rtl="0"/>
            <a:r>
              <a:rPr lang="en-US" dirty="0">
                <a:effectLst/>
                <a:hlinkClick r:id="rId35"/>
              </a:rPr>
              <a:t>4 Causes</a:t>
            </a:r>
            <a:endParaRPr lang="en-US" dirty="0">
              <a:effectLst/>
            </a:endParaRPr>
          </a:p>
          <a:p>
            <a:pPr rtl="0"/>
            <a:r>
              <a:rPr lang="en-US" dirty="0">
                <a:effectLst/>
                <a:hlinkClick r:id="rId36"/>
              </a:rPr>
              <a:t>5 Treatment</a:t>
            </a:r>
            <a:r>
              <a:rPr lang="en-US" dirty="0">
                <a:effectLst/>
              </a:rPr>
              <a:t> </a:t>
            </a:r>
          </a:p>
          <a:p>
            <a:pPr lvl="1" rtl="0"/>
            <a:r>
              <a:rPr lang="en-US" dirty="0">
                <a:effectLst/>
                <a:hlinkClick r:id="rId37"/>
              </a:rPr>
              <a:t>5.1 Treatment of breast abscess</a:t>
            </a:r>
            <a:endParaRPr lang="en-US" dirty="0">
              <a:effectLst/>
            </a:endParaRPr>
          </a:p>
          <a:p>
            <a:pPr lvl="1" rtl="0"/>
            <a:r>
              <a:rPr lang="en-US" dirty="0">
                <a:effectLst/>
                <a:hlinkClick r:id="rId38"/>
              </a:rPr>
              <a:t>5.2 Prognosis</a:t>
            </a:r>
            <a:endParaRPr lang="en-US" dirty="0">
              <a:effectLst/>
            </a:endParaRPr>
          </a:p>
          <a:p>
            <a:pPr rtl="0"/>
            <a:r>
              <a:rPr lang="en-US" dirty="0">
                <a:effectLst/>
                <a:hlinkClick r:id="rId39"/>
              </a:rPr>
              <a:t>6 Risk factors</a:t>
            </a:r>
            <a:r>
              <a:rPr lang="en-US" dirty="0">
                <a:effectLst/>
              </a:rPr>
              <a:t> </a:t>
            </a:r>
          </a:p>
          <a:p>
            <a:pPr lvl="1" rtl="0"/>
            <a:r>
              <a:rPr lang="en-US" dirty="0">
                <a:effectLst/>
                <a:hlinkClick r:id="rId40"/>
              </a:rPr>
              <a:t>6.1 Weaning</a:t>
            </a:r>
            <a:endParaRPr lang="en-US" dirty="0">
              <a:effectLst/>
            </a:endParaRPr>
          </a:p>
          <a:p>
            <a:pPr rtl="0"/>
            <a:r>
              <a:rPr lang="en-US" dirty="0">
                <a:effectLst/>
                <a:hlinkClick r:id="rId41"/>
              </a:rPr>
              <a:t>7 Complications</a:t>
            </a:r>
            <a:endParaRPr lang="en-US" dirty="0">
              <a:effectLst/>
            </a:endParaRPr>
          </a:p>
          <a:p>
            <a:pPr rtl="0"/>
            <a:r>
              <a:rPr lang="en-US" dirty="0">
                <a:effectLst/>
                <a:hlinkClick r:id="rId42"/>
              </a:rPr>
              <a:t>8 Tests and diagnosis</a:t>
            </a:r>
            <a:endParaRPr lang="en-US" dirty="0">
              <a:effectLst/>
            </a:endParaRPr>
          </a:p>
          <a:p>
            <a:pPr rtl="0"/>
            <a:r>
              <a:rPr lang="en-US" dirty="0">
                <a:effectLst/>
                <a:hlinkClick r:id="rId43"/>
              </a:rPr>
              <a:t>9 Breast cancer</a:t>
            </a:r>
            <a:endParaRPr lang="en-US" dirty="0">
              <a:effectLst/>
            </a:endParaRPr>
          </a:p>
          <a:p>
            <a:pPr rtl="0"/>
            <a:r>
              <a:rPr lang="en-US" dirty="0">
                <a:effectLst/>
                <a:hlinkClick r:id="rId44"/>
              </a:rPr>
              <a:t>10 In domestic animals</a:t>
            </a:r>
            <a:endParaRPr lang="en-US" dirty="0">
              <a:effectLst/>
            </a:endParaRPr>
          </a:p>
          <a:p>
            <a:pPr rtl="0"/>
            <a:r>
              <a:rPr lang="en-US" dirty="0">
                <a:effectLst/>
                <a:hlinkClick r:id="rId45"/>
              </a:rPr>
              <a:t>11 See also</a:t>
            </a:r>
            <a:endParaRPr lang="en-US" dirty="0">
              <a:effectLst/>
            </a:endParaRPr>
          </a:p>
          <a:p>
            <a:pPr rtl="0"/>
            <a:r>
              <a:rPr lang="en-US" dirty="0">
                <a:effectLst/>
                <a:hlinkClick r:id="rId46"/>
              </a:rPr>
              <a:t>12 References</a:t>
            </a:r>
            <a:endParaRPr lang="en-US" dirty="0">
              <a:effectLst/>
            </a:endParaRPr>
          </a:p>
          <a:p>
            <a:pPr rtl="0"/>
            <a:r>
              <a:rPr lang="en-US" dirty="0">
                <a:effectLst/>
                <a:hlinkClick r:id="rId47"/>
              </a:rPr>
              <a:t>13 External links</a:t>
            </a:r>
            <a:endParaRPr lang="en-US" dirty="0">
              <a:effectLst/>
            </a:endParaRPr>
          </a:p>
          <a:p>
            <a:pPr rtl="0"/>
            <a:r>
              <a:rPr lang="en-US" b="1" dirty="0">
                <a:effectLst/>
              </a:rPr>
              <a:t>Terminology[</a:t>
            </a:r>
            <a:r>
              <a:rPr lang="en-US" b="1" dirty="0">
                <a:effectLst/>
                <a:hlinkClick r:id="rId48" tooltip="Edit section: Terminology"/>
              </a:rPr>
              <a:t>edit</a:t>
            </a:r>
            <a:r>
              <a:rPr lang="en-US" b="1" dirty="0">
                <a:effectLst/>
              </a:rPr>
              <a:t>]</a:t>
            </a:r>
          </a:p>
          <a:p>
            <a:pPr rtl="0"/>
            <a:r>
              <a:rPr lang="en-US" dirty="0">
                <a:effectLst/>
              </a:rPr>
              <a:t>Popular usage of the term </a:t>
            </a:r>
            <a:r>
              <a:rPr lang="en-US" i="1" dirty="0">
                <a:effectLst/>
              </a:rPr>
              <a:t>mastitis</a:t>
            </a:r>
            <a:r>
              <a:rPr lang="en-US" dirty="0">
                <a:effectLst/>
              </a:rPr>
              <a:t> varies by geographic region. Outside the US it is commonly used for </a:t>
            </a:r>
            <a:r>
              <a:rPr lang="en-US" dirty="0">
                <a:effectLst/>
                <a:hlinkClick r:id="rId49" tooltip="Puerperal"/>
              </a:rPr>
              <a:t>puerperal</a:t>
            </a:r>
            <a:r>
              <a:rPr lang="en-US" dirty="0">
                <a:effectLst/>
              </a:rPr>
              <a:t> and </a:t>
            </a:r>
            <a:r>
              <a:rPr lang="en-US" dirty="0" err="1">
                <a:effectLst/>
              </a:rPr>
              <a:t>nonpuerperal</a:t>
            </a:r>
            <a:r>
              <a:rPr lang="en-US" dirty="0">
                <a:effectLst/>
              </a:rPr>
              <a:t> cases, in the US the term </a:t>
            </a:r>
            <a:r>
              <a:rPr lang="en-US" dirty="0" err="1">
                <a:effectLst/>
              </a:rPr>
              <a:t>nonpuerperal</a:t>
            </a:r>
            <a:r>
              <a:rPr lang="en-US" dirty="0">
                <a:effectLst/>
              </a:rPr>
              <a:t> mastitis is rarely used and alternative names such as duct </a:t>
            </a:r>
            <a:r>
              <a:rPr lang="en-US" dirty="0" err="1">
                <a:effectLst/>
              </a:rPr>
              <a:t>ectasia</a:t>
            </a:r>
            <a:r>
              <a:rPr lang="en-US" dirty="0">
                <a:effectLst/>
              </a:rPr>
              <a:t>, </a:t>
            </a:r>
            <a:r>
              <a:rPr lang="en-US" dirty="0" err="1">
                <a:effectLst/>
              </a:rPr>
              <a:t>subareolar</a:t>
            </a:r>
            <a:r>
              <a:rPr lang="en-US" dirty="0">
                <a:effectLst/>
              </a:rPr>
              <a:t> abscess and plasma cell mastitis are more frequently used.</a:t>
            </a:r>
          </a:p>
          <a:p>
            <a:pPr rtl="0"/>
            <a:r>
              <a:rPr lang="en-US" dirty="0">
                <a:effectLst/>
                <a:hlinkClick r:id="rId50" tooltip="Chronic cystic mastitis"/>
              </a:rPr>
              <a:t>Chronic cystic mastitis</a:t>
            </a:r>
            <a:r>
              <a:rPr lang="en-US" dirty="0">
                <a:effectLst/>
              </a:rPr>
              <a:t> is a different (older) name for </a:t>
            </a:r>
            <a:r>
              <a:rPr lang="en-US" b="1" dirty="0">
                <a:effectLst/>
              </a:rPr>
              <a:t>fibrocystic disease</a:t>
            </a:r>
            <a:r>
              <a:rPr lang="en-US" dirty="0">
                <a:effectLst/>
              </a:rPr>
              <a:t>.</a:t>
            </a:r>
          </a:p>
          <a:p>
            <a:pPr rtl="0"/>
            <a:r>
              <a:rPr lang="en-US" dirty="0">
                <a:effectLst/>
              </a:rPr>
              <a:t>American usage: mastitis usually refers to puerperal (occurring to breastfeeding mothers) mastitis with symptoms of systemic infection. Lighter cases of puerperal mastitis are often called </a:t>
            </a:r>
            <a:r>
              <a:rPr lang="en-US" b="1" dirty="0">
                <a:effectLst/>
              </a:rPr>
              <a:t>breast engorgement</a:t>
            </a:r>
            <a:r>
              <a:rPr lang="en-US" dirty="0">
                <a:effectLst/>
              </a:rPr>
              <a:t>.</a:t>
            </a:r>
          </a:p>
          <a:p>
            <a:pPr rtl="0"/>
            <a:r>
              <a:rPr lang="en-US" dirty="0">
                <a:effectLst/>
              </a:rPr>
              <a:t>In this Wikipedia article </a:t>
            </a:r>
            <a:r>
              <a:rPr lang="en-US" b="1" dirty="0">
                <a:effectLst/>
              </a:rPr>
              <a:t>mastitis</a:t>
            </a:r>
            <a:r>
              <a:rPr lang="en-US" dirty="0">
                <a:effectLst/>
              </a:rPr>
              <a:t> is used in the original sense of the definition as </a:t>
            </a:r>
            <a:r>
              <a:rPr lang="en-US" dirty="0">
                <a:effectLst/>
                <a:hlinkClick r:id="rId16" tooltip="Inflammation"/>
              </a:rPr>
              <a:t>inflammation</a:t>
            </a:r>
            <a:r>
              <a:rPr lang="en-US" dirty="0">
                <a:effectLst/>
              </a:rPr>
              <a:t> of the breast with additional qualifiers where appropriate.</a:t>
            </a:r>
          </a:p>
          <a:p>
            <a:pPr rtl="0"/>
            <a:r>
              <a:rPr lang="en-US" b="1" dirty="0">
                <a:effectLst/>
              </a:rPr>
              <a:t>Types[</a:t>
            </a:r>
            <a:r>
              <a:rPr lang="en-US" b="1" dirty="0">
                <a:effectLst/>
                <a:hlinkClick r:id="rId51" tooltip="Edit section: Types"/>
              </a:rPr>
              <a:t>edit</a:t>
            </a:r>
            <a:r>
              <a:rPr lang="en-US" b="1" dirty="0">
                <a:effectLst/>
              </a:rPr>
              <a:t>]</a:t>
            </a:r>
          </a:p>
          <a:p>
            <a:pPr rtl="0"/>
            <a:r>
              <a:rPr lang="en-US" dirty="0">
                <a:effectLst/>
              </a:rPr>
              <a:t>It is called </a:t>
            </a:r>
            <a:r>
              <a:rPr lang="en-US" dirty="0">
                <a:effectLst/>
                <a:hlinkClick r:id="rId52" tooltip="wikt:puerperal"/>
              </a:rPr>
              <a:t>puerperal</a:t>
            </a:r>
            <a:r>
              <a:rPr lang="en-US" dirty="0">
                <a:effectLst/>
              </a:rPr>
              <a:t> mastitis (or </a:t>
            </a:r>
            <a:r>
              <a:rPr lang="en-US" i="1" dirty="0">
                <a:effectLst/>
              </a:rPr>
              <a:t>lactation mastitis</a:t>
            </a:r>
            <a:r>
              <a:rPr lang="en-US" dirty="0">
                <a:effectLst/>
              </a:rPr>
              <a:t> or </a:t>
            </a:r>
            <a:r>
              <a:rPr lang="en-US" i="1" dirty="0" err="1">
                <a:effectLst/>
              </a:rPr>
              <a:t>lactational</a:t>
            </a:r>
            <a:r>
              <a:rPr lang="en-US" i="1" dirty="0">
                <a:effectLst/>
              </a:rPr>
              <a:t> mastitis</a:t>
            </a:r>
            <a:r>
              <a:rPr lang="en-US" dirty="0">
                <a:effectLst/>
              </a:rPr>
              <a:t>) when it occurs in </a:t>
            </a:r>
            <a:r>
              <a:rPr lang="en-US" dirty="0">
                <a:effectLst/>
                <a:hlinkClick r:id="rId53" tooltip="Lactating"/>
              </a:rPr>
              <a:t>lactating</a:t>
            </a:r>
            <a:r>
              <a:rPr lang="en-US" dirty="0">
                <a:effectLst/>
              </a:rPr>
              <a:t> mothers and </a:t>
            </a:r>
            <a:r>
              <a:rPr lang="en-US" b="1" dirty="0">
                <a:effectLst/>
              </a:rPr>
              <a:t>non-puerperal</a:t>
            </a:r>
            <a:r>
              <a:rPr lang="en-US" dirty="0">
                <a:effectLst/>
              </a:rPr>
              <a:t> (or </a:t>
            </a:r>
            <a:r>
              <a:rPr lang="en-US" i="1" dirty="0" err="1">
                <a:effectLst/>
              </a:rPr>
              <a:t>nonlactational</a:t>
            </a:r>
            <a:r>
              <a:rPr lang="en-US" dirty="0">
                <a:effectLst/>
              </a:rPr>
              <a:t>) otherwise. Mastitis can, in rare cases, occur in men. </a:t>
            </a:r>
            <a:r>
              <a:rPr lang="en-US" dirty="0">
                <a:effectLst/>
                <a:hlinkClick r:id="rId54" tooltip="Inflammatory breast cancer"/>
              </a:rPr>
              <a:t>Inflammatory breast cancer</a:t>
            </a:r>
            <a:r>
              <a:rPr lang="en-US" dirty="0">
                <a:effectLst/>
              </a:rPr>
              <a:t> has symptoms very similar to mastitis and must be ruled out.</a:t>
            </a:r>
          </a:p>
          <a:p>
            <a:pPr rtl="0"/>
            <a:r>
              <a:rPr lang="en-US" dirty="0">
                <a:effectLst/>
              </a:rPr>
              <a:t>The symptoms are similar for puerperal and </a:t>
            </a:r>
            <a:r>
              <a:rPr lang="en-US" dirty="0" err="1">
                <a:effectLst/>
              </a:rPr>
              <a:t>nonpuerperal</a:t>
            </a:r>
            <a:r>
              <a:rPr lang="en-US" dirty="0">
                <a:effectLst/>
              </a:rPr>
              <a:t> mastitis but predisposing factors and treatment can be very different.</a:t>
            </a:r>
          </a:p>
          <a:p>
            <a:pPr rtl="0"/>
            <a:r>
              <a:rPr lang="en-US" b="1" dirty="0">
                <a:effectLst/>
              </a:rPr>
              <a:t>Puerperal[</a:t>
            </a:r>
            <a:r>
              <a:rPr lang="en-US" b="1" dirty="0">
                <a:effectLst/>
                <a:hlinkClick r:id="rId55" tooltip="Edit section: Puerperal"/>
              </a:rPr>
              <a:t>edit</a:t>
            </a:r>
            <a:r>
              <a:rPr lang="en-US" b="1" dirty="0">
                <a:effectLst/>
              </a:rPr>
              <a:t>]</a:t>
            </a:r>
          </a:p>
          <a:p>
            <a:pPr rtl="0"/>
            <a:r>
              <a:rPr lang="en-US" dirty="0">
                <a:effectLst/>
              </a:rPr>
              <a:t>Puerperal mastitis is the inflammation of the breast in connection with pregnancy, </a:t>
            </a:r>
            <a:r>
              <a:rPr lang="en-US" dirty="0">
                <a:effectLst/>
                <a:hlinkClick r:id="rId56" tooltip="Breastfeeding"/>
              </a:rPr>
              <a:t>breastfeeding</a:t>
            </a:r>
            <a:r>
              <a:rPr lang="en-US" dirty="0">
                <a:effectLst/>
              </a:rPr>
              <a:t> or weaning. Since one of the most prominent symptoms is tension and engorgement of the breast, it is thought to be caused by blocked </a:t>
            </a:r>
            <a:r>
              <a:rPr lang="en-US" dirty="0">
                <a:effectLst/>
                <a:hlinkClick r:id="rId57" tooltip="Lactiferous duct"/>
              </a:rPr>
              <a:t>milk ducts</a:t>
            </a:r>
            <a:r>
              <a:rPr lang="en-US" dirty="0">
                <a:effectLst/>
              </a:rPr>
              <a:t> or milk excess. It is relatively common; estimates range depending on methodology between 5–33%. However only about 0.4–0.5% of breastfeeding mothers develop an abscess.</a:t>
            </a:r>
          </a:p>
          <a:p>
            <a:pPr rtl="0"/>
            <a:r>
              <a:rPr lang="en-US" dirty="0">
                <a:effectLst/>
              </a:rPr>
              <a:t>Some predisposing factors are known but their predictive value is minimal. It appears that proper breastfeeding technique, frequent breastfeeding and avoidance of stress are the most important factors that can be influenced.</a:t>
            </a:r>
          </a:p>
          <a:p>
            <a:pPr rtl="0"/>
            <a:r>
              <a:rPr lang="en-US" dirty="0">
                <a:effectLst/>
              </a:rPr>
              <a:t>Light cases of mastitis are often called </a:t>
            </a:r>
            <a:r>
              <a:rPr lang="en-US" dirty="0">
                <a:effectLst/>
                <a:hlinkClick r:id="rId58" tooltip="Breast engorgement"/>
              </a:rPr>
              <a:t>breast engorgement</a:t>
            </a:r>
            <a:r>
              <a:rPr lang="en-US" dirty="0">
                <a:effectLst/>
              </a:rPr>
              <a:t>; the distinction is overlapping and possibly arbitrary or subject to regional variations.</a:t>
            </a:r>
          </a:p>
          <a:p>
            <a:pPr rtl="0"/>
            <a:r>
              <a:rPr lang="en-US" b="1" dirty="0" err="1">
                <a:effectLst/>
              </a:rPr>
              <a:t>Nonpuerperal</a:t>
            </a:r>
            <a:r>
              <a:rPr lang="en-US" b="1" dirty="0">
                <a:effectLst/>
              </a:rPr>
              <a:t>[</a:t>
            </a:r>
            <a:r>
              <a:rPr lang="en-US" b="1" dirty="0">
                <a:effectLst/>
                <a:hlinkClick r:id="rId59" tooltip="Edit section: Nonpuerperal"/>
              </a:rPr>
              <a:t>edit</a:t>
            </a:r>
            <a:r>
              <a:rPr lang="en-US" b="1" dirty="0">
                <a:effectLst/>
              </a:rPr>
              <a:t>]</a:t>
            </a:r>
          </a:p>
          <a:p>
            <a:pPr rtl="0"/>
            <a:r>
              <a:rPr lang="en-US" dirty="0">
                <a:effectLst/>
              </a:rPr>
              <a:t>Main article: </a:t>
            </a:r>
            <a:r>
              <a:rPr lang="en-US" dirty="0" err="1">
                <a:effectLst/>
                <a:hlinkClick r:id="rId60" tooltip="Nonpuerperal mastitis"/>
              </a:rPr>
              <a:t>Nonpuerperal</a:t>
            </a:r>
            <a:r>
              <a:rPr lang="en-US" dirty="0">
                <a:effectLst/>
                <a:hlinkClick r:id="rId60" tooltip="Nonpuerperal mastitis"/>
              </a:rPr>
              <a:t> mastitis</a:t>
            </a:r>
            <a:endParaRPr lang="en-US" dirty="0">
              <a:effectLst/>
            </a:endParaRPr>
          </a:p>
          <a:p>
            <a:pPr rtl="0"/>
            <a:r>
              <a:rPr lang="en-US" dirty="0">
                <a:effectLst/>
              </a:rPr>
              <a:t>The term </a:t>
            </a:r>
            <a:r>
              <a:rPr lang="en-US" dirty="0" err="1">
                <a:effectLst/>
              </a:rPr>
              <a:t>nonpuerperal</a:t>
            </a:r>
            <a:r>
              <a:rPr lang="en-US" dirty="0">
                <a:effectLst/>
              </a:rPr>
              <a:t> mastitis describes inflammatory lesions of the breast occurring unrelated to pregnancy and breastfeeding. This article includes description of mastitis as well as various kinds of mammary abscesses. Skin related conditions like dermatitis and </a:t>
            </a:r>
            <a:r>
              <a:rPr lang="en-US" dirty="0" err="1">
                <a:effectLst/>
              </a:rPr>
              <a:t>foliculitis</a:t>
            </a:r>
            <a:r>
              <a:rPr lang="en-US" dirty="0">
                <a:effectLst/>
              </a:rPr>
              <a:t> are a separate entity.</a:t>
            </a:r>
          </a:p>
          <a:p>
            <a:pPr rtl="0"/>
            <a:r>
              <a:rPr lang="en-US" dirty="0">
                <a:effectLst/>
              </a:rPr>
              <a:t>Names for non-puerperal mastitis are not used very consistently and include </a:t>
            </a:r>
            <a:r>
              <a:rPr lang="en-US" b="1" dirty="0">
                <a:effectLst/>
              </a:rPr>
              <a:t>mastitis</a:t>
            </a:r>
            <a:r>
              <a:rPr lang="en-US" dirty="0">
                <a:effectLst/>
              </a:rPr>
              <a:t>, </a:t>
            </a:r>
            <a:r>
              <a:rPr lang="en-US" b="1" dirty="0" err="1">
                <a:effectLst/>
              </a:rPr>
              <a:t>subareolar</a:t>
            </a:r>
            <a:r>
              <a:rPr lang="en-US" b="1" dirty="0">
                <a:effectLst/>
              </a:rPr>
              <a:t> abscess</a:t>
            </a:r>
            <a:r>
              <a:rPr lang="en-US" dirty="0">
                <a:effectLst/>
              </a:rPr>
              <a:t>, </a:t>
            </a:r>
            <a:r>
              <a:rPr lang="en-US" b="1" dirty="0">
                <a:effectLst/>
              </a:rPr>
              <a:t>duct </a:t>
            </a:r>
            <a:r>
              <a:rPr lang="en-US" b="1" dirty="0" err="1">
                <a:effectLst/>
              </a:rPr>
              <a:t>ectasia</a:t>
            </a:r>
            <a:r>
              <a:rPr lang="en-US" dirty="0">
                <a:effectLst/>
              </a:rPr>
              <a:t>, </a:t>
            </a:r>
            <a:r>
              <a:rPr lang="en-US" b="1" dirty="0" err="1">
                <a:effectLst/>
              </a:rPr>
              <a:t>periductal</a:t>
            </a:r>
            <a:r>
              <a:rPr lang="en-US" b="1" dirty="0">
                <a:effectLst/>
              </a:rPr>
              <a:t> inflammation</a:t>
            </a:r>
            <a:r>
              <a:rPr lang="en-US" dirty="0">
                <a:effectLst/>
              </a:rPr>
              <a:t>, </a:t>
            </a:r>
            <a:r>
              <a:rPr lang="en-US" b="1" dirty="0" err="1">
                <a:effectLst/>
                <a:hlinkClick r:id="rId61" tooltip="Zuska's disease"/>
              </a:rPr>
              <a:t>Zuska's</a:t>
            </a:r>
            <a:r>
              <a:rPr lang="en-US" b="1" dirty="0">
                <a:effectLst/>
                <a:hlinkClick r:id="rId61" tooltip="Zuska's disease"/>
              </a:rPr>
              <a:t> disease</a:t>
            </a:r>
            <a:r>
              <a:rPr lang="en-US" dirty="0">
                <a:effectLst/>
              </a:rPr>
              <a:t> and others.</a:t>
            </a:r>
          </a:p>
          <a:p>
            <a:pPr rtl="0"/>
            <a:r>
              <a:rPr lang="en-US" b="1" dirty="0">
                <a:effectLst/>
              </a:rPr>
              <a:t>Symptoms[</a:t>
            </a:r>
            <a:r>
              <a:rPr lang="en-US" b="1" dirty="0">
                <a:effectLst/>
                <a:hlinkClick r:id="rId62" tooltip="Edit section: Symptoms"/>
              </a:rPr>
              <a:t>edit</a:t>
            </a:r>
            <a:r>
              <a:rPr lang="en-US" b="1" dirty="0">
                <a:effectLst/>
              </a:rPr>
              <a:t>]</a:t>
            </a:r>
          </a:p>
          <a:p>
            <a:pPr rtl="0"/>
            <a:r>
              <a:rPr lang="en-US" dirty="0">
                <a:effectLst/>
              </a:rPr>
              <a:t>Lactation mastitis usually affects only one breast and the symptoms can develop quickly.</a:t>
            </a:r>
            <a:r>
              <a:rPr lang="en-US" baseline="30000" dirty="0">
                <a:effectLst/>
                <a:hlinkClick r:id="rId63"/>
              </a:rPr>
              <a:t>[5]</a:t>
            </a:r>
            <a:r>
              <a:rPr lang="en-US" dirty="0">
                <a:effectLst/>
              </a:rPr>
              <a:t> The signs and symptoms usually appear suddenly and they include:</a:t>
            </a:r>
          </a:p>
          <a:p>
            <a:pPr rtl="0"/>
            <a:r>
              <a:rPr lang="en-US" dirty="0">
                <a:effectLst/>
                <a:hlinkClick r:id="rId64" tooltip="Breast tenderness"/>
              </a:rPr>
              <a:t>Breast tenderness</a:t>
            </a:r>
            <a:r>
              <a:rPr lang="en-US" dirty="0">
                <a:effectLst/>
              </a:rPr>
              <a:t> or warmth to the touch</a:t>
            </a:r>
          </a:p>
          <a:p>
            <a:pPr rtl="0"/>
            <a:r>
              <a:rPr lang="en-US" dirty="0">
                <a:effectLst/>
              </a:rPr>
              <a:t>General malaise or feeling ill</a:t>
            </a:r>
          </a:p>
          <a:p>
            <a:pPr rtl="0"/>
            <a:r>
              <a:rPr lang="en-US" dirty="0">
                <a:effectLst/>
                <a:hlinkClick r:id="rId65" tooltip="Swelling (medical)"/>
              </a:rPr>
              <a:t>Swelling</a:t>
            </a:r>
            <a:r>
              <a:rPr lang="en-US" dirty="0">
                <a:effectLst/>
              </a:rPr>
              <a:t> of the breast</a:t>
            </a:r>
          </a:p>
          <a:p>
            <a:pPr rtl="0"/>
            <a:r>
              <a:rPr lang="en-US" dirty="0">
                <a:effectLst/>
                <a:hlinkClick r:id="rId66" tooltip="Pain"/>
              </a:rPr>
              <a:t>Pain</a:t>
            </a:r>
            <a:r>
              <a:rPr lang="en-US" dirty="0">
                <a:effectLst/>
              </a:rPr>
              <a:t> or a burning sensation continuously or while breast-feeding</a:t>
            </a:r>
          </a:p>
          <a:p>
            <a:pPr rtl="0"/>
            <a:r>
              <a:rPr lang="en-US" dirty="0">
                <a:effectLst/>
              </a:rPr>
              <a:t>Skin redness, often in a wedge-shaped pattern</a:t>
            </a:r>
          </a:p>
          <a:p>
            <a:pPr rtl="0"/>
            <a:r>
              <a:rPr lang="en-US" dirty="0">
                <a:effectLst/>
                <a:hlinkClick r:id="rId67" tooltip="Fever"/>
              </a:rPr>
              <a:t>Fever</a:t>
            </a:r>
            <a:r>
              <a:rPr lang="en-US" dirty="0">
                <a:effectLst/>
              </a:rPr>
              <a:t> of 101 F (38.3 C) or greater</a:t>
            </a:r>
            <a:r>
              <a:rPr lang="en-US" baseline="30000" dirty="0">
                <a:effectLst/>
                <a:hlinkClick r:id="rId68"/>
              </a:rPr>
              <a:t>[6]</a:t>
            </a:r>
            <a:endParaRPr lang="en-US" dirty="0">
              <a:effectLst/>
            </a:endParaRPr>
          </a:p>
          <a:p>
            <a:pPr rtl="0"/>
            <a:r>
              <a:rPr lang="en-US" dirty="0">
                <a:effectLst/>
              </a:rPr>
              <a:t>The affected breast can then start to appear lumpy and red.</a:t>
            </a:r>
          </a:p>
          <a:p>
            <a:pPr rtl="0"/>
            <a:r>
              <a:rPr lang="en-US" dirty="0">
                <a:effectLst/>
              </a:rPr>
              <a:t>Some women may also experience </a:t>
            </a:r>
            <a:r>
              <a:rPr lang="en-US" dirty="0">
                <a:effectLst/>
                <a:hlinkClick r:id="rId69" tooltip="Influenza"/>
              </a:rPr>
              <a:t>flu</a:t>
            </a:r>
            <a:r>
              <a:rPr lang="en-US" dirty="0">
                <a:effectLst/>
              </a:rPr>
              <a:t>-like symptoms such as:</a:t>
            </a:r>
          </a:p>
          <a:p>
            <a:pPr rtl="0"/>
            <a:r>
              <a:rPr lang="en-US" dirty="0">
                <a:effectLst/>
                <a:hlinkClick r:id="rId66" tooltip="Pain"/>
              </a:rPr>
              <a:t>Aches</a:t>
            </a:r>
            <a:endParaRPr lang="en-US" dirty="0">
              <a:effectLst/>
            </a:endParaRPr>
          </a:p>
          <a:p>
            <a:pPr rtl="0"/>
            <a:r>
              <a:rPr lang="en-US" dirty="0">
                <a:effectLst/>
                <a:hlinkClick r:id="rId70" tooltip="Shivering"/>
              </a:rPr>
              <a:t>Shivering</a:t>
            </a:r>
            <a:r>
              <a:rPr lang="en-US" dirty="0">
                <a:effectLst/>
              </a:rPr>
              <a:t> and </a:t>
            </a:r>
            <a:r>
              <a:rPr lang="en-US" dirty="0">
                <a:effectLst/>
                <a:hlinkClick r:id="rId71" tooltip="Chills"/>
              </a:rPr>
              <a:t>chills</a:t>
            </a:r>
            <a:endParaRPr lang="en-US" dirty="0">
              <a:effectLst/>
            </a:endParaRPr>
          </a:p>
          <a:p>
            <a:pPr rtl="0"/>
            <a:r>
              <a:rPr lang="en-US" dirty="0">
                <a:effectLst/>
              </a:rPr>
              <a:t>Feeling </a:t>
            </a:r>
            <a:r>
              <a:rPr lang="en-US" dirty="0">
                <a:effectLst/>
                <a:hlinkClick r:id="rId72" tooltip="Anxious"/>
              </a:rPr>
              <a:t>anxious</a:t>
            </a:r>
            <a:r>
              <a:rPr lang="en-US" dirty="0">
                <a:effectLst/>
              </a:rPr>
              <a:t> or stressed</a:t>
            </a:r>
          </a:p>
          <a:p>
            <a:pPr rtl="0"/>
            <a:r>
              <a:rPr lang="en-US" dirty="0">
                <a:effectLst/>
                <a:hlinkClick r:id="rId73" tooltip="Fatigue (medical)"/>
              </a:rPr>
              <a:t>Fatigue</a:t>
            </a:r>
            <a:r>
              <a:rPr lang="en-US" baseline="30000" dirty="0">
                <a:effectLst/>
                <a:hlinkClick r:id="rId74"/>
              </a:rPr>
              <a:t>[7]</a:t>
            </a:r>
            <a:endParaRPr lang="en-US" dirty="0">
              <a:effectLst/>
            </a:endParaRPr>
          </a:p>
          <a:p>
            <a:pPr rtl="0"/>
            <a:r>
              <a:rPr lang="en-US" dirty="0">
                <a:effectLst/>
              </a:rPr>
              <a:t>Contact should be made with a health care provider with special breastfeeding competence as soon as the patient recognizes the combination of signs and symptoms. Most of the women first experience the flu-like symptoms and just after they may notice a sore red area on the breast. Also, women should seek medical care if they notice any abnormal discharge from the </a:t>
            </a:r>
            <a:r>
              <a:rPr lang="en-US" dirty="0">
                <a:effectLst/>
                <a:hlinkClick r:id="rId75" tooltip="Nipples"/>
              </a:rPr>
              <a:t>nipples</a:t>
            </a:r>
            <a:r>
              <a:rPr lang="en-US" dirty="0">
                <a:effectLst/>
              </a:rPr>
              <a:t>, if breast pain is making it difficult to function each day, or they have prolonged, unexplained breast pain.</a:t>
            </a:r>
          </a:p>
          <a:p>
            <a:pPr rtl="0"/>
            <a:r>
              <a:rPr lang="en-US" b="1" dirty="0">
                <a:effectLst/>
              </a:rPr>
              <a:t>Breast abscess[</a:t>
            </a:r>
            <a:r>
              <a:rPr lang="en-US" b="1" dirty="0">
                <a:effectLst/>
                <a:hlinkClick r:id="rId76" tooltip="Edit section: Breast abscess"/>
              </a:rPr>
              <a:t>edit</a:t>
            </a:r>
            <a:r>
              <a:rPr lang="en-US" b="1" dirty="0">
                <a:effectLst/>
              </a:rPr>
              <a:t>]</a:t>
            </a:r>
          </a:p>
          <a:p>
            <a:pPr rtl="0"/>
            <a:r>
              <a:rPr lang="en-US" dirty="0">
                <a:effectLst/>
              </a:rPr>
              <a:t>A </a:t>
            </a:r>
            <a:r>
              <a:rPr lang="en-US" b="1" dirty="0">
                <a:effectLst/>
              </a:rPr>
              <a:t>breast </a:t>
            </a:r>
            <a:r>
              <a:rPr lang="en-US" b="1" dirty="0">
                <a:effectLst/>
                <a:hlinkClick r:id="rId77" tooltip="Abscess"/>
              </a:rPr>
              <a:t>abscess</a:t>
            </a:r>
            <a:r>
              <a:rPr lang="en-US" dirty="0">
                <a:effectLst/>
              </a:rPr>
              <a:t> is a collection of </a:t>
            </a:r>
            <a:r>
              <a:rPr lang="en-US" dirty="0">
                <a:effectLst/>
                <a:hlinkClick r:id="rId78" tooltip="Pus"/>
              </a:rPr>
              <a:t>pus</a:t>
            </a:r>
            <a:r>
              <a:rPr lang="en-US" dirty="0">
                <a:effectLst/>
              </a:rPr>
              <a:t> that develops into the breast. During lactation, breast abscess develops only rarely, most sources cite about 0.4–0.5%</a:t>
            </a:r>
            <a:r>
              <a:rPr lang="en-US" baseline="30000" dirty="0">
                <a:effectLst/>
              </a:rPr>
              <a:t>[</a:t>
            </a:r>
            <a:r>
              <a:rPr lang="en-US" i="1" baseline="30000" dirty="0">
                <a:effectLst/>
                <a:hlinkClick r:id="rId79" tooltip="Wikipedia:Citation needed"/>
              </a:rPr>
              <a:t>citation needed</a:t>
            </a:r>
            <a:r>
              <a:rPr lang="en-US" baseline="30000" dirty="0">
                <a:effectLst/>
              </a:rPr>
              <a:t>]</a:t>
            </a:r>
            <a:r>
              <a:rPr lang="en-US" dirty="0">
                <a:effectLst/>
              </a:rPr>
              <a:t> of breastfeeding women. Known risk factors are age over 30, </a:t>
            </a:r>
            <a:r>
              <a:rPr lang="en-US" dirty="0" err="1">
                <a:effectLst/>
              </a:rPr>
              <a:t>primiparous</a:t>
            </a:r>
            <a:r>
              <a:rPr lang="en-US" dirty="0">
                <a:effectLst/>
              </a:rPr>
              <a:t> and late delivery. No correlation was found with smoking status however this may be in part because much fewer smoking women choose to breastfeed</a:t>
            </a:r>
            <a:r>
              <a:rPr lang="en-US" baseline="30000" dirty="0">
                <a:effectLst/>
              </a:rPr>
              <a:t>[</a:t>
            </a:r>
            <a:r>
              <a:rPr lang="en-US" i="1" baseline="30000" dirty="0">
                <a:effectLst/>
                <a:hlinkClick r:id="rId79" tooltip="Wikipedia:Citation needed"/>
              </a:rPr>
              <a:t>citation needed</a:t>
            </a:r>
            <a:r>
              <a:rPr lang="en-US" baseline="30000" dirty="0">
                <a:effectLst/>
              </a:rPr>
              <a:t>]</a:t>
            </a:r>
            <a:r>
              <a:rPr lang="en-US" dirty="0">
                <a:effectLst/>
              </a:rPr>
              <a:t>. Antibiotics were not shown effective in prevention of lactation abscess but are useful to treat a secondary infection (see section </a:t>
            </a:r>
            <a:r>
              <a:rPr lang="en-US" dirty="0">
                <a:effectLst/>
                <a:hlinkClick r:id="rId37"/>
              </a:rPr>
              <a:t>Treatment of breast abscess</a:t>
            </a:r>
            <a:r>
              <a:rPr lang="en-US" dirty="0">
                <a:effectLst/>
              </a:rPr>
              <a:t>).</a:t>
            </a:r>
          </a:p>
          <a:p>
            <a:pPr rtl="0"/>
            <a:r>
              <a:rPr lang="en-US" dirty="0">
                <a:effectLst/>
              </a:rPr>
              <a:t>Keratinizing squamous metaplasia of lactiferous ducts may play a similar</a:t>
            </a:r>
            <a:r>
              <a:rPr lang="en-US" baseline="30000" dirty="0">
                <a:effectLst/>
              </a:rPr>
              <a:t>[</a:t>
            </a:r>
            <a:r>
              <a:rPr lang="en-US" i="1" baseline="30000" dirty="0">
                <a:effectLst/>
                <a:hlinkClick r:id="rId80" tooltip="Wikipedia:Please clarify"/>
              </a:rPr>
              <a:t>clarification needed</a:t>
            </a:r>
            <a:r>
              <a:rPr lang="en-US" baseline="30000" dirty="0">
                <a:effectLst/>
              </a:rPr>
              <a:t>]</a:t>
            </a:r>
            <a:r>
              <a:rPr lang="en-US" dirty="0">
                <a:effectLst/>
              </a:rPr>
              <a:t> role in the pathogenesis of </a:t>
            </a:r>
            <a:r>
              <a:rPr lang="en-US" dirty="0" err="1">
                <a:effectLst/>
              </a:rPr>
              <a:t>nonpuerperal</a:t>
            </a:r>
            <a:r>
              <a:rPr lang="en-US" dirty="0">
                <a:effectLst/>
              </a:rPr>
              <a:t> </a:t>
            </a:r>
            <a:r>
              <a:rPr lang="en-US" dirty="0" err="1">
                <a:effectLst/>
                <a:hlinkClick r:id="rId81" tooltip="Subareolar abscess"/>
              </a:rPr>
              <a:t>subareolar</a:t>
            </a:r>
            <a:r>
              <a:rPr lang="en-US" dirty="0">
                <a:effectLst/>
                <a:hlinkClick r:id="rId81" tooltip="Subareolar abscess"/>
              </a:rPr>
              <a:t> abscess</a:t>
            </a:r>
            <a:r>
              <a:rPr lang="en-US" dirty="0">
                <a:effectLst/>
              </a:rPr>
              <a:t>.</a:t>
            </a:r>
          </a:p>
          <a:p>
            <a:pPr rtl="0"/>
            <a:r>
              <a:rPr lang="en-US" b="1" dirty="0">
                <a:effectLst/>
              </a:rPr>
              <a:t>Causes[</a:t>
            </a:r>
            <a:r>
              <a:rPr lang="en-US" b="1" dirty="0">
                <a:effectLst/>
                <a:hlinkClick r:id="rId82" tooltip="Edit section: Causes"/>
              </a:rPr>
              <a:t>edit</a:t>
            </a:r>
            <a:r>
              <a:rPr lang="en-US" b="1" dirty="0">
                <a:effectLst/>
              </a:rPr>
              <a:t>]</a:t>
            </a:r>
          </a:p>
          <a:p>
            <a:pPr rtl="0"/>
            <a:r>
              <a:rPr lang="en-US" dirty="0">
                <a:effectLst/>
              </a:rPr>
              <a:t>Since the 1980s mastitis has often been divided into non-infectious and infectious sub-groups. However, recent research </a:t>
            </a:r>
            <a:r>
              <a:rPr lang="en-US" baseline="30000" dirty="0">
                <a:effectLst/>
                <a:hlinkClick r:id="rId83"/>
              </a:rPr>
              <a:t>[8]</a:t>
            </a:r>
            <a:r>
              <a:rPr lang="en-US" dirty="0">
                <a:effectLst/>
              </a:rPr>
              <a:t> suggests that it may not be feasible to make divisions in this way. It has been shown that types and amounts of potentially pathogenic bacteria in breast milk are not correlated to the severity of symptoms. Moreover, although only 15% of women with mastitis in </a:t>
            </a:r>
            <a:r>
              <a:rPr lang="en-US" dirty="0" err="1">
                <a:effectLst/>
              </a:rPr>
              <a:t>Kvist</a:t>
            </a:r>
            <a:r>
              <a:rPr lang="en-US" dirty="0">
                <a:effectLst/>
              </a:rPr>
              <a:t> et al.'s study were given antibiotics, all recovered and few had recurring symptoms. Many healthy breastfeeding women wishing to donate breast milk have potentially pathogenic bacteria in their milk but have no symptoms of mastitis.</a:t>
            </a:r>
          </a:p>
          <a:p>
            <a:pPr rtl="0"/>
            <a:r>
              <a:rPr lang="en-US" dirty="0">
                <a:effectLst/>
              </a:rPr>
              <a:t>Mastitis typically develops when the </a:t>
            </a:r>
            <a:r>
              <a:rPr lang="en-US" dirty="0">
                <a:effectLst/>
                <a:hlinkClick r:id="rId84" tooltip="Milk"/>
              </a:rPr>
              <a:t>milk</a:t>
            </a:r>
            <a:r>
              <a:rPr lang="en-US" dirty="0">
                <a:effectLst/>
              </a:rPr>
              <a:t> is not properly removed from the breast. Milk stasis can lead to the milk ducts in the breasts becoming blocked, as the breast milk not being properly and regularly expressed.</a:t>
            </a:r>
            <a:r>
              <a:rPr lang="en-US" baseline="30000" dirty="0">
                <a:effectLst/>
                <a:hlinkClick r:id="rId85"/>
              </a:rPr>
              <a:t>[9]</a:t>
            </a:r>
            <a:r>
              <a:rPr lang="en-US" dirty="0">
                <a:effectLst/>
              </a:rPr>
              <a:t> It has also been suggested that blocked milk ducts can occur as a result of pressure on the breast, such as tight-fitting </a:t>
            </a:r>
            <a:r>
              <a:rPr lang="en-US" dirty="0">
                <a:effectLst/>
                <a:hlinkClick r:id="rId86" tooltip="Clothing"/>
              </a:rPr>
              <a:t>clothing</a:t>
            </a:r>
            <a:r>
              <a:rPr lang="en-US" dirty="0">
                <a:effectLst/>
              </a:rPr>
              <a:t> or an over-restrictive bra, although there is sparse evidence for this supposition . Mastitis may occur when the baby is not appropriately attached to the breast while feeding, when the baby has infrequent feeds or has problems suckling the milk out of the breast.</a:t>
            </a:r>
          </a:p>
          <a:p>
            <a:pPr rtl="0"/>
            <a:r>
              <a:rPr lang="en-US" dirty="0">
                <a:effectLst/>
              </a:rPr>
              <a:t>Some women (approximately 15% in </a:t>
            </a:r>
            <a:r>
              <a:rPr lang="en-US" dirty="0" err="1">
                <a:effectLst/>
              </a:rPr>
              <a:t>Kvist</a:t>
            </a:r>
            <a:r>
              <a:rPr lang="en-US" dirty="0">
                <a:effectLst/>
              </a:rPr>
              <a:t> et al. study)</a:t>
            </a:r>
            <a:r>
              <a:rPr lang="en-US" baseline="30000" dirty="0">
                <a:effectLst/>
                <a:hlinkClick r:id="rId83"/>
              </a:rPr>
              <a:t>[8]</a:t>
            </a:r>
            <a:r>
              <a:rPr lang="en-US" dirty="0">
                <a:effectLst/>
              </a:rPr>
              <a:t> will require antibiotic treatment for infection which is usually caused by bacteria from the </a:t>
            </a:r>
            <a:r>
              <a:rPr lang="en-US" dirty="0">
                <a:effectLst/>
                <a:hlinkClick r:id="rId87" tooltip="Skin"/>
              </a:rPr>
              <a:t>skin</a:t>
            </a:r>
            <a:r>
              <a:rPr lang="en-US" dirty="0">
                <a:effectLst/>
              </a:rPr>
              <a:t> or the baby's </a:t>
            </a:r>
            <a:r>
              <a:rPr lang="en-US" dirty="0">
                <a:effectLst/>
                <a:hlinkClick r:id="rId88" tooltip="Mouth"/>
              </a:rPr>
              <a:t>mouth</a:t>
            </a:r>
            <a:r>
              <a:rPr lang="en-US" dirty="0">
                <a:effectLst/>
              </a:rPr>
              <a:t> that entering the milk ducts through skin lesions of the nipple or through the opening of the nipple.</a:t>
            </a:r>
            <a:r>
              <a:rPr lang="en-US" baseline="30000" dirty="0">
                <a:effectLst/>
                <a:hlinkClick r:id="rId89"/>
              </a:rPr>
              <a:t>[10]</a:t>
            </a:r>
            <a:r>
              <a:rPr lang="en-US" dirty="0">
                <a:effectLst/>
              </a:rPr>
              <a:t> Infection is usually caused by </a:t>
            </a:r>
            <a:r>
              <a:rPr lang="en-US" i="1" dirty="0">
                <a:effectLst/>
                <a:hlinkClick r:id="rId19" tooltip="Staphylococcus aureus"/>
              </a:rPr>
              <a:t>staphylococcus aureus</a:t>
            </a:r>
            <a:r>
              <a:rPr lang="en-US" dirty="0">
                <a:effectLst/>
              </a:rPr>
              <a:t>.</a:t>
            </a:r>
            <a:r>
              <a:rPr lang="en-US" baseline="30000" dirty="0">
                <a:effectLst/>
                <a:hlinkClick r:id="rId90"/>
              </a:rPr>
              <a:t>[11]</a:t>
            </a:r>
            <a:endParaRPr lang="en-US" dirty="0">
              <a:effectLst/>
            </a:endParaRPr>
          </a:p>
          <a:p>
            <a:pPr rtl="0"/>
            <a:r>
              <a:rPr lang="en-US" dirty="0">
                <a:effectLst/>
              </a:rPr>
              <a:t>Mastitis is quite common among breastfeeding women. The WHO estimates that although incidences vary between 2.6% and 33%, the prevalence globally is approximately 10% of breastfeeding women. Most mothers who develop mastitis usually do so within the first few weeks after delivery. Most breast infections occur within the first or second month after delivery or at the time of </a:t>
            </a:r>
            <a:r>
              <a:rPr lang="en-US" dirty="0">
                <a:effectLst/>
                <a:hlinkClick r:id="rId91" tooltip="Weaning"/>
              </a:rPr>
              <a:t>weaning</a:t>
            </a:r>
            <a:r>
              <a:rPr lang="en-US" dirty="0">
                <a:effectLst/>
              </a:rPr>
              <a:t>.</a:t>
            </a:r>
            <a:r>
              <a:rPr lang="en-US" baseline="30000" dirty="0">
                <a:effectLst/>
                <a:hlinkClick r:id="rId92"/>
              </a:rPr>
              <a:t>[12]</a:t>
            </a:r>
            <a:r>
              <a:rPr lang="en-US" dirty="0">
                <a:effectLst/>
              </a:rPr>
              <a:t> However, in rare cases it affects women who are not breastfeeding.</a:t>
            </a:r>
            <a:r>
              <a:rPr lang="en-US" baseline="30000" dirty="0">
                <a:effectLst/>
                <a:hlinkClick r:id="rId93"/>
              </a:rPr>
              <a:t>[13]</a:t>
            </a:r>
            <a:endParaRPr lang="en-US" dirty="0">
              <a:effectLst/>
            </a:endParaRPr>
          </a:p>
          <a:p>
            <a:pPr rtl="0"/>
            <a:r>
              <a:rPr lang="en-US" dirty="0">
                <a:effectLst/>
              </a:rPr>
              <a:t>Infectious pathogens commonly associated with mastitis are </a:t>
            </a:r>
            <a:r>
              <a:rPr lang="en-US" i="1" dirty="0">
                <a:effectLst/>
                <a:hlinkClick r:id="rId19" tooltip="Staphylococcus aureus"/>
              </a:rPr>
              <a:t>Staphylococcus aureus</a:t>
            </a:r>
            <a:r>
              <a:rPr lang="en-US" dirty="0">
                <a:effectLst/>
              </a:rPr>
              <a:t>, </a:t>
            </a:r>
            <a:r>
              <a:rPr lang="en-US" i="1" dirty="0">
                <a:effectLst/>
                <a:hlinkClick r:id="rId94" tooltip="Streptococcus"/>
              </a:rPr>
              <a:t>streptococcus</a:t>
            </a:r>
            <a:r>
              <a:rPr lang="en-US" dirty="0">
                <a:effectLst/>
              </a:rPr>
              <a:t> spp., </a:t>
            </a:r>
            <a:r>
              <a:rPr lang="en-US" dirty="0">
                <a:effectLst/>
                <a:hlinkClick r:id="rId95" tooltip="Gram-negative"/>
              </a:rPr>
              <a:t>gram-negative</a:t>
            </a:r>
            <a:r>
              <a:rPr lang="en-US" dirty="0">
                <a:effectLst/>
              </a:rPr>
              <a:t> bacilli such as </a:t>
            </a:r>
            <a:r>
              <a:rPr lang="en-US" i="1" dirty="0">
                <a:effectLst/>
                <a:hlinkClick r:id="rId96" tooltip="Escherichia coli"/>
              </a:rPr>
              <a:t>Escherichia coli</a:t>
            </a:r>
            <a:r>
              <a:rPr lang="en-US" dirty="0">
                <a:effectLst/>
              </a:rPr>
              <a:t>. </a:t>
            </a:r>
            <a:r>
              <a:rPr lang="en-US" i="1" dirty="0">
                <a:effectLst/>
                <a:hlinkClick r:id="rId97" tooltip="Salmonella"/>
              </a:rPr>
              <a:t>Salmonella</a:t>
            </a:r>
            <a:r>
              <a:rPr lang="en-US" i="1" dirty="0">
                <a:effectLst/>
              </a:rPr>
              <a:t> spp.</a:t>
            </a:r>
            <a:r>
              <a:rPr lang="en-US" dirty="0">
                <a:effectLst/>
              </a:rPr>
              <a:t>, </a:t>
            </a:r>
            <a:r>
              <a:rPr lang="en-US" dirty="0">
                <a:effectLst/>
                <a:hlinkClick r:id="rId98" tooltip="Mycobacteria"/>
              </a:rPr>
              <a:t>mycobacteria</a:t>
            </a:r>
            <a:r>
              <a:rPr lang="en-US" dirty="0">
                <a:effectLst/>
              </a:rPr>
              <a:t>, </a:t>
            </a:r>
            <a:r>
              <a:rPr lang="en-US" i="1" dirty="0">
                <a:effectLst/>
                <a:hlinkClick r:id="rId99" tooltip="Candida (genus)"/>
              </a:rPr>
              <a:t>candida</a:t>
            </a:r>
            <a:r>
              <a:rPr lang="en-US" dirty="0">
                <a:effectLst/>
              </a:rPr>
              <a:t>, and </a:t>
            </a:r>
            <a:r>
              <a:rPr lang="en-US" dirty="0">
                <a:effectLst/>
                <a:hlinkClick r:id="rId100" tooltip="Cryptococcus (fungus)"/>
              </a:rPr>
              <a:t>Cryptococcus</a:t>
            </a:r>
            <a:r>
              <a:rPr lang="en-US" dirty="0">
                <a:effectLst/>
              </a:rPr>
              <a:t> have been identified in rare instances.</a:t>
            </a:r>
            <a:r>
              <a:rPr lang="en-US" baseline="30000" dirty="0">
                <a:effectLst/>
                <a:hlinkClick r:id="rId101"/>
              </a:rPr>
              <a:t>[14]</a:t>
            </a:r>
            <a:endParaRPr lang="en-US" dirty="0">
              <a:effectLst/>
            </a:endParaRPr>
          </a:p>
          <a:p>
            <a:pPr rtl="0"/>
            <a:r>
              <a:rPr lang="en-US" dirty="0">
                <a:effectLst/>
              </a:rPr>
              <a:t>Recent research suggests that infectious pathogens play a much smaller role in the pathogenesis than was commonly assumed only a few years ago. Most detected pathogens are very common species that are natural part of the breast fauna and simple detection of their presence is not sufficient to prove a causative role. Furthermore there are indications that treatment with antibiotics may have minimal impact,</a:t>
            </a:r>
            <a:r>
              <a:rPr lang="en-US" baseline="30000" dirty="0">
                <a:effectLst/>
                <a:hlinkClick r:id="rId26"/>
              </a:rPr>
              <a:t>[3]</a:t>
            </a:r>
            <a:r>
              <a:rPr lang="en-US" baseline="30000" dirty="0">
                <a:effectLst/>
                <a:hlinkClick r:id="rId27"/>
              </a:rPr>
              <a:t>[4]</a:t>
            </a:r>
            <a:r>
              <a:rPr lang="en-US" dirty="0">
                <a:effectLst/>
              </a:rPr>
              <a:t> and over-all there is insufficient evidence to confirm or refute the effectiveness of antibiotic therapy for treating </a:t>
            </a:r>
            <a:r>
              <a:rPr lang="en-US" dirty="0" err="1">
                <a:effectLst/>
              </a:rPr>
              <a:t>lactational</a:t>
            </a:r>
            <a:r>
              <a:rPr lang="en-US" dirty="0">
                <a:effectLst/>
              </a:rPr>
              <a:t> mastitis.</a:t>
            </a:r>
            <a:r>
              <a:rPr lang="en-US" baseline="30000" dirty="0">
                <a:effectLst/>
                <a:hlinkClick r:id="rId102"/>
              </a:rPr>
              <a:t>[15]</a:t>
            </a:r>
            <a:endParaRPr lang="en-US" dirty="0">
              <a:effectLst/>
            </a:endParaRPr>
          </a:p>
          <a:p>
            <a:pPr rtl="0"/>
            <a:r>
              <a:rPr lang="en-US" dirty="0">
                <a:effectLst/>
              </a:rPr>
              <a:t>The presence of cracks or sores on the nipples increases the likelihood of infection. Tight clothing or ill-fitting bras may also cause problems as they compress the breasts. There is a possibility that infants carrying infectious pathogens in their noses can infect their mothers;</a:t>
            </a:r>
            <a:r>
              <a:rPr lang="en-US" baseline="30000" dirty="0">
                <a:effectLst/>
                <a:hlinkClick r:id="rId103"/>
              </a:rPr>
              <a:t>[16]</a:t>
            </a:r>
            <a:r>
              <a:rPr lang="en-US" dirty="0">
                <a:effectLst/>
              </a:rPr>
              <a:t> the clinical significance of this finding is still unknown.</a:t>
            </a:r>
          </a:p>
          <a:p>
            <a:pPr rtl="0"/>
            <a:r>
              <a:rPr lang="en-US" dirty="0">
                <a:effectLst/>
              </a:rPr>
              <a:t>Mastitis, as well as breast abscess, can also be caused by direct </a:t>
            </a:r>
            <a:r>
              <a:rPr lang="en-US" dirty="0">
                <a:effectLst/>
                <a:hlinkClick r:id="rId104" tooltip="Trauma (medicine)"/>
              </a:rPr>
              <a:t>trauma</a:t>
            </a:r>
            <a:r>
              <a:rPr lang="en-US" dirty="0">
                <a:effectLst/>
              </a:rPr>
              <a:t> to the breast tissue (breast injury). Such injury can occur for example during sports activities</a:t>
            </a:r>
            <a:r>
              <a:rPr lang="en-US" baseline="30000" dirty="0">
                <a:effectLst/>
                <a:hlinkClick r:id="rId105"/>
              </a:rPr>
              <a:t>[17]</a:t>
            </a:r>
            <a:r>
              <a:rPr lang="en-US" dirty="0">
                <a:effectLst/>
              </a:rPr>
              <a:t> or due to </a:t>
            </a:r>
            <a:r>
              <a:rPr lang="en-US" dirty="0">
                <a:effectLst/>
                <a:hlinkClick r:id="rId106" tooltip="Seat belt"/>
              </a:rPr>
              <a:t>seat belt</a:t>
            </a:r>
            <a:r>
              <a:rPr lang="en-US" dirty="0">
                <a:effectLst/>
              </a:rPr>
              <a:t> injury.</a:t>
            </a:r>
          </a:p>
          <a:p>
            <a:pPr rtl="0"/>
            <a:r>
              <a:rPr lang="en-US" dirty="0">
                <a:effectLst/>
              </a:rPr>
              <a:t>Mastitis can also develop due to contamination of a breast implant or any other foreign body, for example after nipple </a:t>
            </a:r>
            <a:r>
              <a:rPr lang="en-US" dirty="0">
                <a:effectLst/>
                <a:hlinkClick r:id="rId107" tooltip="Piercing"/>
              </a:rPr>
              <a:t>piercing</a:t>
            </a:r>
            <a:r>
              <a:rPr lang="en-US" dirty="0">
                <a:effectLst/>
              </a:rPr>
              <a:t>. In such cases, the removal of the foreign body is indicated.</a:t>
            </a:r>
            <a:r>
              <a:rPr lang="en-US" baseline="30000" dirty="0">
                <a:effectLst/>
                <a:hlinkClick r:id="rId108"/>
              </a:rPr>
              <a:t>[18]</a:t>
            </a:r>
            <a:endParaRPr lang="en-US" dirty="0">
              <a:effectLst/>
            </a:endParaRPr>
          </a:p>
          <a:p>
            <a:pPr rtl="0"/>
            <a:r>
              <a:rPr lang="en-US" dirty="0">
                <a:effectLst/>
              </a:rPr>
              <a:t>In some rare cases Mastitis can also occur in men.</a:t>
            </a:r>
          </a:p>
          <a:p>
            <a:pPr rtl="0"/>
            <a:r>
              <a:rPr lang="en-US" b="1" dirty="0">
                <a:effectLst/>
              </a:rPr>
              <a:t>Treatment[</a:t>
            </a:r>
            <a:r>
              <a:rPr lang="en-US" b="1" dirty="0">
                <a:effectLst/>
                <a:hlinkClick r:id="rId109" tooltip="Edit section: Treatment"/>
              </a:rPr>
              <a:t>edit</a:t>
            </a:r>
            <a:r>
              <a:rPr lang="en-US" b="1" dirty="0">
                <a:effectLst/>
              </a:rPr>
              <a:t>]</a:t>
            </a:r>
          </a:p>
          <a:p>
            <a:pPr rtl="0"/>
            <a:r>
              <a:rPr lang="en-US" dirty="0">
                <a:effectLst/>
              </a:rPr>
              <a:t>In lactation mastitis, frequent emptying of both breasts by breastfeeding is essential. Also essential is adequate fluid supply for the mother </a:t>
            </a:r>
            <a:r>
              <a:rPr lang="en-US" b="1" dirty="0">
                <a:effectLst/>
              </a:rPr>
              <a:t>and</a:t>
            </a:r>
            <a:r>
              <a:rPr lang="en-US" dirty="0">
                <a:effectLst/>
              </a:rPr>
              <a:t> baby. Use of pumps to empty the breast is now considered somewhat controversial.</a:t>
            </a:r>
            <a:r>
              <a:rPr lang="en-US" baseline="30000" dirty="0">
                <a:effectLst/>
              </a:rPr>
              <a:t>[</a:t>
            </a:r>
            <a:r>
              <a:rPr lang="en-US" i="1" baseline="30000" dirty="0">
                <a:effectLst/>
                <a:hlinkClick r:id="rId79" tooltip="Wikipedia:Citation needed"/>
              </a:rPr>
              <a:t>citation needed</a:t>
            </a:r>
            <a:r>
              <a:rPr lang="en-US" baseline="30000" dirty="0">
                <a:effectLst/>
              </a:rPr>
              <a:t>]</a:t>
            </a:r>
            <a:endParaRPr lang="en-US" dirty="0">
              <a:effectLst/>
            </a:endParaRPr>
          </a:p>
          <a:p>
            <a:pPr rtl="0"/>
            <a:r>
              <a:rPr lang="en-US" dirty="0">
                <a:effectLst/>
              </a:rPr>
              <a:t>For breastfeeding women with light mastitis, massage and application of heat prior to feeding can help as this may aid unblocking the ducts. However in more severe cases of mastitis heat or massage could make the symptoms worse and cold compresses are better suited to contain the inflammation.</a:t>
            </a:r>
          </a:p>
          <a:p>
            <a:pPr rtl="0"/>
            <a:r>
              <a:rPr lang="en-US" dirty="0">
                <a:effectLst/>
              </a:rPr>
              <a:t>In lactation mastitis, </a:t>
            </a:r>
            <a:r>
              <a:rPr lang="en-US" dirty="0">
                <a:effectLst/>
                <a:hlinkClick r:id="rId110" tooltip="Antibiotics"/>
              </a:rPr>
              <a:t>antibiotics</a:t>
            </a:r>
            <a:r>
              <a:rPr lang="en-US" dirty="0">
                <a:effectLst/>
              </a:rPr>
              <a:t> are not needed in the overwhelming majority of cases and should be used only for bacterial infections.</a:t>
            </a:r>
            <a:r>
              <a:rPr lang="en-US" baseline="30000" dirty="0">
                <a:effectLst/>
                <a:hlinkClick r:id="rId26"/>
              </a:rPr>
              <a:t>[3]</a:t>
            </a:r>
            <a:r>
              <a:rPr lang="en-US" dirty="0">
                <a:effectLst/>
              </a:rPr>
              <a:t> </a:t>
            </a:r>
            <a:r>
              <a:rPr lang="en-US" dirty="0" err="1">
                <a:effectLst/>
                <a:hlinkClick r:id="rId111" tooltip="Dicloxacillin"/>
              </a:rPr>
              <a:t>Dicloxacillin</a:t>
            </a:r>
            <a:r>
              <a:rPr lang="en-US" dirty="0">
                <a:effectLst/>
              </a:rPr>
              <a:t> or </a:t>
            </a:r>
            <a:r>
              <a:rPr lang="en-US" dirty="0">
                <a:effectLst/>
                <a:hlinkClick r:id="rId112" tooltip="Cephalexin"/>
              </a:rPr>
              <a:t>cephalexin</a:t>
            </a:r>
            <a:r>
              <a:rPr lang="en-US" dirty="0">
                <a:effectLst/>
              </a:rPr>
              <a:t> are sometimes recommended,</a:t>
            </a:r>
            <a:r>
              <a:rPr lang="en-US" baseline="30000" dirty="0">
                <a:effectLst/>
                <a:hlinkClick r:id="rId113"/>
              </a:rPr>
              <a:t>[19]</a:t>
            </a:r>
            <a:r>
              <a:rPr lang="en-US" dirty="0">
                <a:effectLst/>
              </a:rPr>
              <a:t> because of the high rates of penicillin resistant staphylococci.</a:t>
            </a:r>
          </a:p>
          <a:p>
            <a:pPr rtl="0"/>
            <a:r>
              <a:rPr lang="en-US" dirty="0" err="1">
                <a:effectLst/>
              </a:rPr>
              <a:t>Nonpuerperal</a:t>
            </a:r>
            <a:r>
              <a:rPr lang="en-US" dirty="0">
                <a:effectLst/>
              </a:rPr>
              <a:t> mastitis is treated by medication and possibly aspiration or drainage (see in particular </a:t>
            </a:r>
            <a:r>
              <a:rPr lang="en-US" dirty="0">
                <a:effectLst/>
                <a:hlinkClick r:id="rId114" tooltip="Subareolar abscess"/>
              </a:rPr>
              <a:t>treatment of </a:t>
            </a:r>
            <a:r>
              <a:rPr lang="en-US" dirty="0" err="1">
                <a:effectLst/>
                <a:hlinkClick r:id="rId114" tooltip="Subareolar abscess"/>
              </a:rPr>
              <a:t>subareolar</a:t>
            </a:r>
            <a:r>
              <a:rPr lang="en-US" dirty="0">
                <a:effectLst/>
                <a:hlinkClick r:id="rId114" tooltip="Subareolar abscess"/>
              </a:rPr>
              <a:t> abscess</a:t>
            </a:r>
            <a:r>
              <a:rPr lang="en-US" dirty="0">
                <a:effectLst/>
              </a:rPr>
              <a:t> and </a:t>
            </a:r>
            <a:r>
              <a:rPr lang="en-US" dirty="0">
                <a:effectLst/>
                <a:hlinkClick r:id="rId115" tooltip="Granulomatous mastitis"/>
              </a:rPr>
              <a:t>treatment of granulomatous mastitis</a:t>
            </a:r>
            <a:r>
              <a:rPr lang="en-US" dirty="0">
                <a:effectLst/>
              </a:rPr>
              <a:t>). According to a </a:t>
            </a:r>
            <a:r>
              <a:rPr lang="en-US" dirty="0">
                <a:effectLst/>
                <a:hlinkClick r:id="rId116" tooltip="BMJ"/>
              </a:rPr>
              <a:t>BMJ</a:t>
            </a:r>
            <a:r>
              <a:rPr lang="en-US" dirty="0">
                <a:effectLst/>
              </a:rPr>
              <a:t> best practice report, antibiotics are generally to be used in all </a:t>
            </a:r>
            <a:r>
              <a:rPr lang="en-US" dirty="0" err="1">
                <a:effectLst/>
              </a:rPr>
              <a:t>nonpuerperal</a:t>
            </a:r>
            <a:r>
              <a:rPr lang="en-US" dirty="0">
                <a:effectLst/>
              </a:rPr>
              <a:t> mastitis cases, with replacement of the antibiotics by an antifungal agent such as </a:t>
            </a:r>
            <a:r>
              <a:rPr lang="en-US" dirty="0">
                <a:effectLst/>
                <a:hlinkClick r:id="rId117" tooltip="Fluconazole"/>
              </a:rPr>
              <a:t>fluconazole</a:t>
            </a:r>
            <a:r>
              <a:rPr lang="en-US" dirty="0">
                <a:effectLst/>
              </a:rPr>
              <a:t> in cases of deep fungal infections, and corticosteroids are to be used in case of granulomatous mastitis (with differential diagnosis to tuberculosis infection of the breast).</a:t>
            </a:r>
            <a:r>
              <a:rPr lang="en-US" baseline="30000" dirty="0">
                <a:effectLst/>
                <a:hlinkClick r:id="rId108"/>
              </a:rPr>
              <a:t>[18]</a:t>
            </a:r>
            <a:endParaRPr lang="en-US" dirty="0">
              <a:effectLst/>
            </a:endParaRPr>
          </a:p>
          <a:p>
            <a:pPr rtl="0"/>
            <a:r>
              <a:rPr lang="en-US" b="1" dirty="0">
                <a:effectLst/>
              </a:rPr>
              <a:t>Treatment of breast abscess[</a:t>
            </a:r>
            <a:r>
              <a:rPr lang="en-US" b="1" dirty="0">
                <a:effectLst/>
                <a:hlinkClick r:id="rId118" tooltip="Edit section: Treatment of breast abscess"/>
              </a:rPr>
              <a:t>edit</a:t>
            </a:r>
            <a:r>
              <a:rPr lang="en-US" b="1" dirty="0">
                <a:effectLst/>
              </a:rPr>
              <a:t>]</a:t>
            </a:r>
          </a:p>
          <a:p>
            <a:pPr rtl="0"/>
            <a:r>
              <a:rPr lang="en-US" dirty="0">
                <a:effectLst/>
              </a:rPr>
              <a:t>An abscess (or suspected abscess) in the breast may be treated by </a:t>
            </a:r>
            <a:r>
              <a:rPr lang="en-US" dirty="0">
                <a:effectLst/>
                <a:hlinkClick r:id="rId119" tooltip="Breast ultrasound"/>
              </a:rPr>
              <a:t>ultrasound</a:t>
            </a:r>
            <a:r>
              <a:rPr lang="en-US" dirty="0">
                <a:effectLst/>
              </a:rPr>
              <a:t>-guided </a:t>
            </a:r>
            <a:r>
              <a:rPr lang="en-US" dirty="0">
                <a:effectLst/>
                <a:hlinkClick r:id="rId120" tooltip="Fine-needle aspiration"/>
              </a:rPr>
              <a:t>fine-needle aspiration</a:t>
            </a:r>
            <a:r>
              <a:rPr lang="en-US" dirty="0">
                <a:effectLst/>
              </a:rPr>
              <a:t> (percutaneous aspiration) or by surgical </a:t>
            </a:r>
            <a:r>
              <a:rPr lang="en-US" dirty="0">
                <a:effectLst/>
                <a:hlinkClick r:id="rId121" tooltip="Incision and drainage"/>
              </a:rPr>
              <a:t>incision and drainage</a:t>
            </a:r>
            <a:r>
              <a:rPr lang="en-US" dirty="0">
                <a:effectLst/>
              </a:rPr>
              <a:t>; each of these approaches is performed under antibiotic coverage. In case of puerperal breast abscess, breastfeeding from the affected breast should be continued where possible.</a:t>
            </a:r>
            <a:r>
              <a:rPr lang="en-US" baseline="30000" dirty="0">
                <a:effectLst/>
                <a:hlinkClick r:id="rId26"/>
              </a:rPr>
              <a:t>[3]</a:t>
            </a:r>
            <a:r>
              <a:rPr lang="en-US" baseline="30000" dirty="0">
                <a:effectLst/>
                <a:hlinkClick r:id="rId122"/>
              </a:rPr>
              <a:t>[20]</a:t>
            </a:r>
            <a:endParaRPr lang="en-US" dirty="0">
              <a:effectLst/>
            </a:endParaRPr>
          </a:p>
          <a:p>
            <a:pPr rtl="0"/>
            <a:r>
              <a:rPr lang="en-US" dirty="0">
                <a:effectLst/>
              </a:rPr>
              <a:t>For small breast abscesses, </a:t>
            </a:r>
            <a:r>
              <a:rPr lang="en-US" dirty="0">
                <a:effectLst/>
                <a:hlinkClick r:id="rId119" tooltip="Breast ultrasound"/>
              </a:rPr>
              <a:t>ultrasound</a:t>
            </a:r>
            <a:r>
              <a:rPr lang="en-US" dirty="0">
                <a:effectLst/>
              </a:rPr>
              <a:t>-guided </a:t>
            </a:r>
            <a:r>
              <a:rPr lang="en-US" dirty="0">
                <a:effectLst/>
                <a:hlinkClick r:id="rId123" tooltip="Fine needle aspiration"/>
              </a:rPr>
              <a:t>fine needle aspiration</a:t>
            </a:r>
            <a:r>
              <a:rPr lang="en-US" dirty="0">
                <a:effectLst/>
              </a:rPr>
              <a:t> such as to completely drain the abscess is widely recognized as a preferred initial management.</a:t>
            </a:r>
            <a:r>
              <a:rPr lang="en-US" baseline="30000" dirty="0">
                <a:effectLst/>
                <a:hlinkClick r:id="rId124"/>
              </a:rPr>
              <a:t>[21]</a:t>
            </a:r>
            <a:endParaRPr lang="en-US" dirty="0">
              <a:effectLst/>
            </a:endParaRPr>
          </a:p>
          <a:p>
            <a:pPr rtl="0"/>
            <a:r>
              <a:rPr lang="en-US" dirty="0">
                <a:effectLst/>
              </a:rPr>
              <a:t>A recent review article suggested the following line of treatment for suspected breast abscess: initially, antibiotics treatment, ultrasound evaluation and, if fluid is present, ultrasound-guided fine needle aspiration of the abscess with an </a:t>
            </a:r>
            <a:r>
              <a:rPr lang="en-US" dirty="0">
                <a:effectLst/>
                <a:hlinkClick r:id="rId125" tooltip="Needle gauge comparison chart"/>
              </a:rPr>
              <a:t>18 gauge</a:t>
            </a:r>
            <a:r>
              <a:rPr lang="en-US" dirty="0">
                <a:effectLst/>
              </a:rPr>
              <a:t> </a:t>
            </a:r>
            <a:r>
              <a:rPr lang="en-US" dirty="0">
                <a:effectLst/>
                <a:hlinkClick r:id="rId126" tooltip="Hypodermic needle"/>
              </a:rPr>
              <a:t>needle</a:t>
            </a:r>
            <a:r>
              <a:rPr lang="en-US" dirty="0">
                <a:effectLst/>
              </a:rPr>
              <a:t>, under </a:t>
            </a:r>
            <a:r>
              <a:rPr lang="en-US" dirty="0">
                <a:effectLst/>
                <a:hlinkClick r:id="rId127" tooltip="Saline (medicine)"/>
              </a:rPr>
              <a:t>saline</a:t>
            </a:r>
            <a:r>
              <a:rPr lang="en-US" dirty="0">
                <a:effectLst/>
              </a:rPr>
              <a:t> </a:t>
            </a:r>
            <a:r>
              <a:rPr lang="en-US" dirty="0">
                <a:effectLst/>
                <a:hlinkClick r:id="rId128" tooltip="Therapeutic irrigation"/>
              </a:rPr>
              <a:t>lavage</a:t>
            </a:r>
            <a:r>
              <a:rPr lang="en-US" dirty="0">
                <a:effectLst/>
              </a:rPr>
              <a:t> until clear.</a:t>
            </a:r>
            <a:r>
              <a:rPr lang="en-US" baseline="30000" dirty="0">
                <a:effectLst/>
                <a:hlinkClick r:id="rId129"/>
              </a:rPr>
              <a:t>[22]</a:t>
            </a:r>
            <a:r>
              <a:rPr lang="en-US" dirty="0">
                <a:effectLst/>
              </a:rPr>
              <a:t> The exudate is then sent for microbiological analysis for identification of the pathogen and determination of its </a:t>
            </a:r>
            <a:r>
              <a:rPr lang="en-US" dirty="0">
                <a:effectLst/>
                <a:hlinkClick r:id="rId130" tooltip="Antibiotic sensitivity"/>
              </a:rPr>
              <a:t>antibiotic sensitivity</a:t>
            </a:r>
            <a:r>
              <a:rPr lang="en-US" dirty="0">
                <a:effectLst/>
              </a:rPr>
              <a:t> profile (</a:t>
            </a:r>
            <a:r>
              <a:rPr lang="en-US" dirty="0" err="1">
                <a:effectLst/>
                <a:hlinkClick r:id="rId131" tooltip="Antibiogram"/>
              </a:rPr>
              <a:t>antibiogram</a:t>
            </a:r>
            <a:r>
              <a:rPr lang="en-US" dirty="0">
                <a:effectLst/>
              </a:rPr>
              <a:t>),</a:t>
            </a:r>
            <a:r>
              <a:rPr lang="en-US" baseline="30000" dirty="0">
                <a:effectLst/>
                <a:hlinkClick r:id="rId132"/>
              </a:rPr>
              <a:t>[23]</a:t>
            </a:r>
            <a:r>
              <a:rPr lang="en-US" dirty="0">
                <a:effectLst/>
              </a:rPr>
              <a:t> which may in turn give an indication for changing the antibiotics prescription. At follow-up, a </a:t>
            </a:r>
            <a:r>
              <a:rPr lang="en-US" dirty="0">
                <a:effectLst/>
                <a:hlinkClick r:id="rId133" tooltip="Mammography"/>
              </a:rPr>
              <a:t>mammography</a:t>
            </a:r>
            <a:r>
              <a:rPr lang="en-US" dirty="0">
                <a:effectLst/>
              </a:rPr>
              <a:t> is performed if the condition has resolved; otherwise the ultrasound-guided fine-needle aspiration with lavage and microbiological analysis is repeated.</a:t>
            </a:r>
            <a:r>
              <a:rPr lang="en-US" baseline="30000" dirty="0">
                <a:effectLst/>
                <a:hlinkClick r:id="rId134"/>
              </a:rPr>
              <a:t>[24]</a:t>
            </a:r>
            <a:r>
              <a:rPr lang="en-US" dirty="0">
                <a:effectLst/>
              </a:rPr>
              <a:t> If three to five aspirations still do not resolve the condition, percutaneous drainage in combination with placement of an indwelling </a:t>
            </a:r>
            <a:r>
              <a:rPr lang="en-US" dirty="0">
                <a:effectLst/>
                <a:hlinkClick r:id="rId135" tooltip="Catheter"/>
              </a:rPr>
              <a:t>catheter</a:t>
            </a:r>
            <a:r>
              <a:rPr lang="en-US" dirty="0">
                <a:effectLst/>
              </a:rPr>
              <a:t> is indicated, and only if several attempts at ultrasound-guided drainage fail, </a:t>
            </a:r>
            <a:r>
              <a:rPr lang="en-US" dirty="0">
                <a:effectLst/>
                <a:hlinkClick r:id="rId136" tooltip="Breast surgery"/>
              </a:rPr>
              <a:t>surgical resection</a:t>
            </a:r>
            <a:r>
              <a:rPr lang="en-US" dirty="0">
                <a:effectLst/>
              </a:rPr>
              <a:t> of the inflamed </a:t>
            </a:r>
            <a:r>
              <a:rPr lang="en-US" dirty="0">
                <a:effectLst/>
                <a:hlinkClick r:id="rId57" tooltip="Lactiferous duct"/>
              </a:rPr>
              <a:t>lactiferous ducts</a:t>
            </a:r>
            <a:r>
              <a:rPr lang="en-US" dirty="0">
                <a:effectLst/>
              </a:rPr>
              <a:t> (preferably performed after the acute episode is over) should be considered.</a:t>
            </a:r>
            <a:r>
              <a:rPr lang="en-US" baseline="30000" dirty="0">
                <a:effectLst/>
                <a:hlinkClick r:id="rId137"/>
              </a:rPr>
              <a:t>[25]</a:t>
            </a:r>
            <a:r>
              <a:rPr lang="en-US" dirty="0">
                <a:effectLst/>
              </a:rPr>
              <a:t> It is noted, however, that even the excision of the affected ducts does not necessarily prevent </a:t>
            </a:r>
            <a:r>
              <a:rPr lang="en-US" dirty="0">
                <a:effectLst/>
                <a:hlinkClick r:id="rId138" tooltip="Relapse"/>
              </a:rPr>
              <a:t>recurrence</a:t>
            </a:r>
            <a:r>
              <a:rPr lang="en-US" dirty="0">
                <a:effectLst/>
              </a:rPr>
              <a:t>.</a:t>
            </a:r>
            <a:r>
              <a:rPr lang="en-US" baseline="30000" dirty="0">
                <a:effectLst/>
                <a:hlinkClick r:id="rId137"/>
              </a:rPr>
              <a:t>[25]</a:t>
            </a:r>
            <a:endParaRPr lang="en-US" dirty="0">
              <a:effectLst/>
            </a:endParaRPr>
          </a:p>
          <a:p>
            <a:pPr rtl="0"/>
            <a:r>
              <a:rPr lang="en-US" dirty="0" err="1">
                <a:effectLst/>
              </a:rPr>
              <a:t>Nonpuerperal</a:t>
            </a:r>
            <a:r>
              <a:rPr lang="en-US" dirty="0">
                <a:effectLst/>
              </a:rPr>
              <a:t> breast abscesses have a higher rate of recurrence compared to puerperal breast abscesses.</a:t>
            </a:r>
            <a:r>
              <a:rPr lang="en-US" baseline="30000" dirty="0">
                <a:effectLst/>
                <a:hlinkClick r:id="rId139"/>
              </a:rPr>
              <a:t>[26]</a:t>
            </a:r>
            <a:r>
              <a:rPr lang="en-US" dirty="0">
                <a:effectLst/>
              </a:rPr>
              <a:t> There is a high statistical correlation of </a:t>
            </a:r>
            <a:r>
              <a:rPr lang="en-US" dirty="0" err="1">
                <a:effectLst/>
              </a:rPr>
              <a:t>nonpuerperal</a:t>
            </a:r>
            <a:r>
              <a:rPr lang="en-US" dirty="0">
                <a:effectLst/>
              </a:rPr>
              <a:t> breast abscess with </a:t>
            </a:r>
            <a:r>
              <a:rPr lang="en-US" dirty="0">
                <a:effectLst/>
                <a:hlinkClick r:id="rId140" tooltip="Diabetes mellitus"/>
              </a:rPr>
              <a:t>diabetes mellitus</a:t>
            </a:r>
            <a:r>
              <a:rPr lang="en-US" dirty="0">
                <a:effectLst/>
              </a:rPr>
              <a:t> (DM). On this basis, it has recently been suggested that diabetes screening should be performed on patients with such abscess.</a:t>
            </a:r>
            <a:r>
              <a:rPr lang="en-US" baseline="30000" dirty="0">
                <a:effectLst/>
                <a:hlinkClick r:id="rId141"/>
              </a:rPr>
              <a:t>[27]</a:t>
            </a:r>
            <a:r>
              <a:rPr lang="en-US" baseline="30000" dirty="0">
                <a:effectLst/>
                <a:hlinkClick r:id="rId142"/>
              </a:rPr>
              <a:t>[28]</a:t>
            </a:r>
            <a:endParaRPr lang="en-US" dirty="0">
              <a:effectLst/>
            </a:endParaRPr>
          </a:p>
          <a:p>
            <a:pPr rtl="0"/>
            <a:r>
              <a:rPr lang="en-US" b="1" dirty="0">
                <a:effectLst/>
              </a:rPr>
              <a:t>Prognosis[</a:t>
            </a:r>
            <a:r>
              <a:rPr lang="en-US" b="1" dirty="0">
                <a:effectLst/>
                <a:hlinkClick r:id="rId143" tooltip="Edit section: Prognosis"/>
              </a:rPr>
              <a:t>edit</a:t>
            </a:r>
            <a:r>
              <a:rPr lang="en-US" b="1" dirty="0">
                <a:effectLst/>
              </a:rPr>
              <a:t>]</a:t>
            </a:r>
          </a:p>
          <a:p>
            <a:pPr rtl="0"/>
            <a:r>
              <a:rPr lang="en-US" dirty="0">
                <a:effectLst/>
              </a:rPr>
              <a:t>Temperature and severity of symptoms at presentation do not predict outcome, women with sore or damaged nipples may need special attention.</a:t>
            </a:r>
            <a:r>
              <a:rPr lang="en-US" baseline="30000" dirty="0">
                <a:effectLst/>
                <a:hlinkClick r:id="rId144"/>
              </a:rPr>
              <a:t>[29]</a:t>
            </a:r>
            <a:r>
              <a:rPr lang="en-US" baseline="30000" dirty="0">
                <a:effectLst/>
                <a:hlinkClick r:id="rId145"/>
              </a:rPr>
              <a:t>[30]</a:t>
            </a:r>
            <a:endParaRPr lang="en-US" dirty="0">
              <a:effectLst/>
            </a:endParaRPr>
          </a:p>
          <a:p>
            <a:pPr rtl="0"/>
            <a:r>
              <a:rPr lang="en-US" b="1" dirty="0">
                <a:effectLst/>
              </a:rPr>
              <a:t>Risk factors[</a:t>
            </a:r>
            <a:r>
              <a:rPr lang="en-US" b="1" dirty="0">
                <a:effectLst/>
                <a:hlinkClick r:id="rId146" tooltip="Edit section: Risk factors"/>
              </a:rPr>
              <a:t>edit</a:t>
            </a:r>
            <a:r>
              <a:rPr lang="en-US" b="1" dirty="0">
                <a:effectLst/>
              </a:rPr>
              <a:t>]</a:t>
            </a:r>
          </a:p>
          <a:p>
            <a:pPr rtl="0"/>
            <a:r>
              <a:rPr lang="en-US" dirty="0">
                <a:effectLst/>
              </a:rPr>
              <a:t>Women who are breastfeeding are at risk for developing mastitis especially if they have sore or cracked nipples or have had mastitis before while breastfeeding another baby. Also, the chances of getting mastitis increases if women use only one position to breastfeed or wear a tight-fitting bra, which may restrict milk flow </a:t>
            </a:r>
            <a:r>
              <a:rPr lang="en-US" baseline="30000" dirty="0">
                <a:effectLst/>
                <a:hlinkClick r:id="rId147"/>
              </a:rPr>
              <a:t>[31]</a:t>
            </a:r>
            <a:endParaRPr lang="en-US" dirty="0">
              <a:effectLst/>
            </a:endParaRPr>
          </a:p>
          <a:p>
            <a:pPr rtl="0"/>
            <a:r>
              <a:rPr lang="en-US" dirty="0">
                <a:effectLst/>
              </a:rPr>
              <a:t>Women with </a:t>
            </a:r>
            <a:r>
              <a:rPr lang="en-US" dirty="0">
                <a:effectLst/>
                <a:hlinkClick r:id="rId148" tooltip="Diabetes"/>
              </a:rPr>
              <a:t>diabetes</a:t>
            </a:r>
            <a:r>
              <a:rPr lang="en-US" dirty="0">
                <a:effectLst/>
              </a:rPr>
              <a:t>, </a:t>
            </a:r>
            <a:r>
              <a:rPr lang="en-US" dirty="0">
                <a:effectLst/>
                <a:hlinkClick r:id="rId149" tooltip="Chronic illness"/>
              </a:rPr>
              <a:t>chronic illness</a:t>
            </a:r>
            <a:r>
              <a:rPr lang="en-US" dirty="0">
                <a:effectLst/>
              </a:rPr>
              <a:t>, </a:t>
            </a:r>
            <a:r>
              <a:rPr lang="en-US" dirty="0">
                <a:effectLst/>
                <a:hlinkClick r:id="rId150" tooltip="AIDS"/>
              </a:rPr>
              <a:t>AIDS</a:t>
            </a:r>
            <a:r>
              <a:rPr lang="en-US" dirty="0">
                <a:effectLst/>
              </a:rPr>
              <a:t>, or an impaired immune system may be more susceptible to the development of mastitis.</a:t>
            </a:r>
            <a:r>
              <a:rPr lang="en-US" baseline="30000" dirty="0">
                <a:effectLst/>
                <a:hlinkClick r:id="rId92"/>
              </a:rPr>
              <a:t>[12]</a:t>
            </a:r>
            <a:endParaRPr lang="en-US" dirty="0">
              <a:effectLst/>
            </a:endParaRPr>
          </a:p>
          <a:p>
            <a:pPr rtl="0"/>
            <a:r>
              <a:rPr lang="en-US" b="1" dirty="0">
                <a:effectLst/>
              </a:rPr>
              <a:t>Weaning[</a:t>
            </a:r>
            <a:r>
              <a:rPr lang="en-US" b="1" dirty="0">
                <a:effectLst/>
                <a:hlinkClick r:id="rId151" tooltip="Edit section: Weaning"/>
              </a:rPr>
              <a:t>edit</a:t>
            </a:r>
            <a:r>
              <a:rPr lang="en-US" b="1" dirty="0">
                <a:effectLst/>
              </a:rPr>
              <a:t>]</a:t>
            </a:r>
          </a:p>
          <a:p>
            <a:pPr rtl="0"/>
            <a:r>
              <a:rPr lang="en-US" dirty="0">
                <a:effectLst/>
              </a:rPr>
              <a:t>This section </a:t>
            </a:r>
            <a:r>
              <a:rPr lang="en-US" b="1" dirty="0">
                <a:effectLst/>
              </a:rPr>
              <a:t>does not </a:t>
            </a:r>
            <a:r>
              <a:rPr lang="en-US" b="1" dirty="0">
                <a:effectLst/>
                <a:hlinkClick r:id="rId152" tooltip="Wikipedia:Citing sources"/>
              </a:rPr>
              <a:t>cite</a:t>
            </a:r>
            <a:r>
              <a:rPr lang="en-US" b="1" dirty="0">
                <a:effectLst/>
              </a:rPr>
              <a:t> any </a:t>
            </a:r>
            <a:r>
              <a:rPr lang="en-US" b="1" dirty="0">
                <a:effectLst/>
                <a:hlinkClick r:id="rId153" tooltip="Wikipedia:Verifiability"/>
              </a:rPr>
              <a:t>references or sources</a:t>
            </a:r>
            <a:r>
              <a:rPr lang="en-US" dirty="0">
                <a:effectLst/>
              </a:rPr>
              <a:t>. Please help improve this section by </a:t>
            </a:r>
            <a:r>
              <a:rPr lang="en-US" dirty="0">
                <a:effectLst/>
                <a:hlinkClick r:id="rId154" tooltip="Help:Introduction to referencing/1"/>
              </a:rPr>
              <a:t>adding citations to reliable sources</a:t>
            </a:r>
            <a:r>
              <a:rPr lang="en-US" dirty="0">
                <a:effectLst/>
              </a:rPr>
              <a:t>. Unsourced material may be challenged and </a:t>
            </a:r>
            <a:r>
              <a:rPr lang="en-US" dirty="0">
                <a:effectLst/>
                <a:hlinkClick r:id="rId155" tooltip="Wikipedia:Verifiability"/>
              </a:rPr>
              <a:t>removed</a:t>
            </a:r>
            <a:r>
              <a:rPr lang="en-US" dirty="0">
                <a:effectLst/>
              </a:rPr>
              <a:t>. </a:t>
            </a:r>
            <a:r>
              <a:rPr lang="en-US" i="1" dirty="0">
                <a:effectLst/>
              </a:rPr>
              <a:t>(June 2015)</a:t>
            </a:r>
            <a:r>
              <a:rPr lang="en-US" dirty="0">
                <a:effectLst/>
              </a:rPr>
              <a:t>Breast engorgement or mastitis occur frequently after weaning. The pregnancy/lactation related hormones usually return to normal levels shortly after weaning but for some women it can take several months and there is an increased risk of rebound lactation and mastitis before hormone levels settle. Avoiding stress is important because the same hormones are also stress hormones. Even after hormone levels settle it takes some time for the breast gland to rebuild to its </a:t>
            </a:r>
            <a:r>
              <a:rPr lang="en-US" dirty="0" err="1">
                <a:effectLst/>
              </a:rPr>
              <a:t>nonlactating</a:t>
            </a:r>
            <a:r>
              <a:rPr lang="en-US" dirty="0">
                <a:effectLst/>
              </a:rPr>
              <a:t> state and it may be particularly prone to mastitis during this time.</a:t>
            </a:r>
          </a:p>
          <a:p>
            <a:pPr rtl="0"/>
            <a:r>
              <a:rPr lang="en-US" dirty="0">
                <a:effectLst/>
              </a:rPr>
              <a:t>Most cases of post weaning mastitis or breast engorgement resolve with relatively little treatment. Recurrent post weaning mastitis on the other hand can be an indication of a developing </a:t>
            </a:r>
            <a:r>
              <a:rPr lang="en-US" dirty="0">
                <a:effectLst/>
                <a:hlinkClick r:id="rId156" tooltip="Hyperprolactinemia"/>
              </a:rPr>
              <a:t>hyperprolactinemia</a:t>
            </a:r>
            <a:r>
              <a:rPr lang="en-US" dirty="0">
                <a:effectLst/>
              </a:rPr>
              <a:t> or </a:t>
            </a:r>
            <a:r>
              <a:rPr lang="en-US" dirty="0">
                <a:effectLst/>
                <a:hlinkClick r:id="rId157" tooltip="Thyroid"/>
              </a:rPr>
              <a:t>thyroid</a:t>
            </a:r>
            <a:r>
              <a:rPr lang="en-US" dirty="0">
                <a:effectLst/>
              </a:rPr>
              <a:t> disorders and </a:t>
            </a:r>
            <a:r>
              <a:rPr lang="en-US" dirty="0" err="1">
                <a:effectLst/>
              </a:rPr>
              <a:t>endocrinological</a:t>
            </a:r>
            <a:r>
              <a:rPr lang="en-US" dirty="0">
                <a:effectLst/>
              </a:rPr>
              <a:t> examination must be considered.</a:t>
            </a:r>
          </a:p>
          <a:p>
            <a:pPr rtl="0"/>
            <a:r>
              <a:rPr lang="en-US" dirty="0">
                <a:effectLst/>
              </a:rPr>
              <a:t>Cold compresses, lactation inhibiting herbs or medication can be used.</a:t>
            </a:r>
          </a:p>
          <a:p>
            <a:pPr rtl="0"/>
            <a:r>
              <a:rPr lang="en-US" dirty="0">
                <a:effectLst/>
                <a:hlinkClick r:id="rId158" tooltip="Salvia officinalis"/>
              </a:rPr>
              <a:t>Salvia </a:t>
            </a:r>
            <a:r>
              <a:rPr lang="en-US" dirty="0" err="1">
                <a:effectLst/>
                <a:hlinkClick r:id="rId158" tooltip="Salvia officinalis"/>
              </a:rPr>
              <a:t>officinalis</a:t>
            </a:r>
            <a:r>
              <a:rPr lang="en-US" dirty="0">
                <a:effectLst/>
              </a:rPr>
              <a:t> is commonly used for weaning (</a:t>
            </a:r>
            <a:r>
              <a:rPr lang="en-US" dirty="0" err="1">
                <a:effectLst/>
              </a:rPr>
              <a:t>Veldhuizen-Staas</a:t>
            </a:r>
            <a:r>
              <a:rPr lang="en-US" dirty="0">
                <a:effectLst/>
              </a:rPr>
              <a:t> C. 2007),</a:t>
            </a:r>
            <a:r>
              <a:rPr lang="en-US" baseline="30000" dirty="0">
                <a:effectLst/>
              </a:rPr>
              <a:t>[</a:t>
            </a:r>
            <a:r>
              <a:rPr lang="en-US" i="1" baseline="30000" dirty="0">
                <a:effectLst/>
                <a:hlinkClick r:id="rId79" tooltip="Wikipedia:Citation needed"/>
              </a:rPr>
              <a:t>citation needed</a:t>
            </a:r>
            <a:r>
              <a:rPr lang="en-US" baseline="30000" dirty="0">
                <a:effectLst/>
              </a:rPr>
              <a:t>]</a:t>
            </a:r>
            <a:r>
              <a:rPr lang="en-US" dirty="0">
                <a:effectLst/>
              </a:rPr>
              <a:t> but no peer reviewed literature is known on this subject. </a:t>
            </a:r>
            <a:r>
              <a:rPr lang="en-US" dirty="0" err="1">
                <a:effectLst/>
                <a:hlinkClick r:id="rId159" tooltip="Chasteberry"/>
              </a:rPr>
              <a:t>Chasteberry</a:t>
            </a:r>
            <a:r>
              <a:rPr lang="en-US" dirty="0">
                <a:effectLst/>
              </a:rPr>
              <a:t> extract can improve prolactin levels which may reduce risk of recurrence but no data is available for use in mastitis.</a:t>
            </a:r>
          </a:p>
          <a:p>
            <a:pPr rtl="0"/>
            <a:r>
              <a:rPr lang="en-US" dirty="0">
                <a:effectLst/>
              </a:rPr>
              <a:t>Prolactin lowering medication has been frequently used for weaning in the past but is much less used since </a:t>
            </a:r>
            <a:r>
              <a:rPr lang="en-US" dirty="0" err="1">
                <a:effectLst/>
              </a:rPr>
              <a:t>Parlodel</a:t>
            </a:r>
            <a:r>
              <a:rPr lang="en-US" dirty="0">
                <a:effectLst/>
              </a:rPr>
              <a:t> (</a:t>
            </a:r>
            <a:r>
              <a:rPr lang="en-US" dirty="0" err="1">
                <a:effectLst/>
                <a:hlinkClick r:id="rId160" tooltip="Bromocriptine"/>
              </a:rPr>
              <a:t>bromocriptine</a:t>
            </a:r>
            <a:r>
              <a:rPr lang="en-US" dirty="0">
                <a:effectLst/>
              </a:rPr>
              <a:t>) approval for weaning has been withdrawn in the US over safety concerns. While the question of </a:t>
            </a:r>
            <a:r>
              <a:rPr lang="en-US" dirty="0" err="1">
                <a:effectLst/>
              </a:rPr>
              <a:t>bromocriptin</a:t>
            </a:r>
            <a:r>
              <a:rPr lang="en-US" dirty="0">
                <a:effectLst/>
              </a:rPr>
              <a:t> safety for weaning purposes was never completely resolved it became apparent that it was not very effective in the prescribed dose and did rarely justify the unpleasant side effects.</a:t>
            </a:r>
          </a:p>
          <a:p>
            <a:pPr rtl="0"/>
            <a:r>
              <a:rPr lang="en-US" dirty="0">
                <a:effectLst/>
              </a:rPr>
              <a:t>Other prolactin lowering medications (</a:t>
            </a:r>
            <a:r>
              <a:rPr lang="en-US" dirty="0" err="1">
                <a:effectLst/>
                <a:hlinkClick r:id="rId161" tooltip="Cabergoline"/>
              </a:rPr>
              <a:t>cabergoline</a:t>
            </a:r>
            <a:r>
              <a:rPr lang="en-US" dirty="0">
                <a:effectLst/>
              </a:rPr>
              <a:t>, </a:t>
            </a:r>
            <a:r>
              <a:rPr lang="en-US" dirty="0" err="1">
                <a:effectLst/>
                <a:hlinkClick r:id="rId162" tooltip="Lisuride"/>
              </a:rPr>
              <a:t>lisuride</a:t>
            </a:r>
            <a:r>
              <a:rPr lang="en-US" dirty="0">
                <a:effectLst/>
              </a:rPr>
              <a:t>) are effective and appear safe but are not widely used for weaning.</a:t>
            </a:r>
            <a:r>
              <a:rPr lang="en-US" baseline="30000" dirty="0">
                <a:effectLst/>
              </a:rPr>
              <a:t>[</a:t>
            </a:r>
            <a:r>
              <a:rPr lang="en-US" i="1" baseline="30000" dirty="0">
                <a:effectLst/>
                <a:hlinkClick r:id="rId79" tooltip="Wikipedia:Citation needed"/>
              </a:rPr>
              <a:t>citation needed</a:t>
            </a:r>
            <a:r>
              <a:rPr lang="en-US" baseline="30000" dirty="0">
                <a:effectLst/>
              </a:rPr>
              <a:t>]</a:t>
            </a:r>
            <a:endParaRPr lang="en-US" dirty="0">
              <a:effectLst/>
            </a:endParaRPr>
          </a:p>
          <a:p>
            <a:pPr rtl="0"/>
            <a:r>
              <a:rPr lang="en-US" dirty="0">
                <a:effectLst/>
                <a:hlinkClick r:id="rId163" tooltip="Granulomatous mastitis"/>
              </a:rPr>
              <a:t>Granulomatous (non-puerperal) mastitis</a:t>
            </a:r>
            <a:r>
              <a:rPr lang="en-US" dirty="0">
                <a:effectLst/>
              </a:rPr>
              <a:t> is known to occur on average 2 years and almost exclusively up to 6 years after pregnancy. It is an extremely rare condition and believed to be in many cases related to an autoimmune reaction to milk proteins following incomplete inhibition of milk secretion and hyperprolactinemia.</a:t>
            </a:r>
          </a:p>
          <a:p>
            <a:pPr rtl="0"/>
            <a:r>
              <a:rPr lang="en-US" dirty="0">
                <a:effectLst/>
              </a:rPr>
              <a:t>Distinction between puerperal (but post-weaning) and </a:t>
            </a:r>
            <a:r>
              <a:rPr lang="en-US" dirty="0" err="1">
                <a:effectLst/>
              </a:rPr>
              <a:t>nonpuerperal</a:t>
            </a:r>
            <a:r>
              <a:rPr lang="en-US" dirty="0">
                <a:effectLst/>
              </a:rPr>
              <a:t> mastitis is somewhat arbitrary.</a:t>
            </a:r>
          </a:p>
          <a:p>
            <a:pPr rtl="0"/>
            <a:r>
              <a:rPr lang="en-US" b="1" dirty="0">
                <a:effectLst/>
              </a:rPr>
              <a:t>Complications[</a:t>
            </a:r>
            <a:r>
              <a:rPr lang="en-US" b="1" dirty="0">
                <a:effectLst/>
                <a:hlinkClick r:id="rId164" tooltip="Edit section: Complications"/>
              </a:rPr>
              <a:t>edit</a:t>
            </a:r>
            <a:r>
              <a:rPr lang="en-US" b="1" dirty="0">
                <a:effectLst/>
              </a:rPr>
              <a:t>]</a:t>
            </a:r>
          </a:p>
          <a:p>
            <a:pPr rtl="0"/>
            <a:r>
              <a:rPr lang="en-US" dirty="0">
                <a:effectLst/>
              </a:rPr>
              <a:t>Complications that may arise from mastitis include </a:t>
            </a:r>
            <a:r>
              <a:rPr lang="en-US" dirty="0">
                <a:effectLst/>
                <a:hlinkClick r:id="rId138" tooltip="Relapse"/>
              </a:rPr>
              <a:t>recurrence</a:t>
            </a:r>
            <a:r>
              <a:rPr lang="en-US" dirty="0">
                <a:effectLst/>
              </a:rPr>
              <a:t>, milk stasis and </a:t>
            </a:r>
            <a:r>
              <a:rPr lang="en-US" dirty="0">
                <a:effectLst/>
                <a:hlinkClick r:id="rId77" tooltip="Abscess"/>
              </a:rPr>
              <a:t>abscess</a:t>
            </a:r>
            <a:r>
              <a:rPr lang="en-US" dirty="0">
                <a:effectLst/>
              </a:rPr>
              <a:t>.</a:t>
            </a:r>
          </a:p>
          <a:p>
            <a:pPr rtl="0"/>
            <a:r>
              <a:rPr lang="en-US" i="1" dirty="0">
                <a:effectLst/>
              </a:rPr>
              <a:t>Recurrence:</a:t>
            </a:r>
            <a:r>
              <a:rPr lang="en-US" dirty="0">
                <a:effectLst/>
              </a:rPr>
              <a:t> women who have had mastitis once are likely to develop it again with a future child or with the same infant. Recurrence appears especially in cases of delayed or inadequate treatment.</a:t>
            </a:r>
          </a:p>
          <a:p>
            <a:pPr rtl="0"/>
            <a:r>
              <a:rPr lang="en-US" i="1" dirty="0">
                <a:effectLst/>
              </a:rPr>
              <a:t>Milk stasis</a:t>
            </a:r>
            <a:r>
              <a:rPr lang="en-US" dirty="0">
                <a:effectLst/>
              </a:rPr>
              <a:t>: this is another complication that may arise from mastitis and it occurs when the milk is not completely drained from the breast. This causes increased pressure on the ducts and leakage of milk into surrounding breast tissue, which can lead to pain and inflammation.</a:t>
            </a:r>
            <a:r>
              <a:rPr lang="en-US" baseline="30000" dirty="0">
                <a:effectLst/>
                <a:hlinkClick r:id="rId165"/>
              </a:rPr>
              <a:t>[32]</a:t>
            </a:r>
            <a:endParaRPr lang="en-US" dirty="0">
              <a:effectLst/>
            </a:endParaRPr>
          </a:p>
          <a:p>
            <a:pPr rtl="0"/>
            <a:r>
              <a:rPr lang="en-US" i="1" dirty="0">
                <a:effectLst/>
              </a:rPr>
              <a:t>Abscess</a:t>
            </a:r>
            <a:r>
              <a:rPr lang="en-US" dirty="0">
                <a:effectLst/>
              </a:rPr>
              <a:t>: delayed treatment or inadequate treatment, especially in mastitis related to milk stasis, may lead to the formation of an </a:t>
            </a:r>
            <a:r>
              <a:rPr lang="en-US" dirty="0">
                <a:effectLst/>
                <a:hlinkClick r:id="rId34"/>
              </a:rPr>
              <a:t>abscess within the breast tissue</a:t>
            </a:r>
            <a:r>
              <a:rPr lang="en-US" dirty="0">
                <a:effectLst/>
              </a:rPr>
              <a:t>, that is, a collection of </a:t>
            </a:r>
            <a:r>
              <a:rPr lang="en-US" dirty="0">
                <a:effectLst/>
                <a:hlinkClick r:id="rId78" tooltip="Pus"/>
              </a:rPr>
              <a:t>pus</a:t>
            </a:r>
            <a:r>
              <a:rPr lang="en-US" dirty="0">
                <a:effectLst/>
              </a:rPr>
              <a:t> that develops into the breast. The abscess is the most severe complication that women can get from this condition. An abscess ultimately requires surgical drainage.</a:t>
            </a:r>
          </a:p>
          <a:p>
            <a:pPr rtl="0"/>
            <a:r>
              <a:rPr lang="en-US" b="1" dirty="0">
                <a:effectLst/>
              </a:rPr>
              <a:t>Tests and diagnosis[</a:t>
            </a:r>
            <a:r>
              <a:rPr lang="en-US" b="1" dirty="0">
                <a:effectLst/>
                <a:hlinkClick r:id="rId166" tooltip="Edit section: Tests and diagnosis"/>
              </a:rPr>
              <a:t>edit</a:t>
            </a:r>
            <a:r>
              <a:rPr lang="en-US" b="1" dirty="0">
                <a:effectLst/>
              </a:rPr>
              <a:t>]</a:t>
            </a:r>
          </a:p>
          <a:p>
            <a:pPr rtl="0"/>
            <a:r>
              <a:rPr lang="en-US" dirty="0">
                <a:effectLst/>
              </a:rPr>
              <a:t>The diagnosis of mastitis and breast abscess can usually be made based on a </a:t>
            </a:r>
            <a:r>
              <a:rPr lang="en-US" dirty="0">
                <a:effectLst/>
                <a:hlinkClick r:id="rId167" tooltip="Physical examination"/>
              </a:rPr>
              <a:t>physical examination</a:t>
            </a:r>
            <a:r>
              <a:rPr lang="en-US" dirty="0">
                <a:effectLst/>
              </a:rPr>
              <a:t>.</a:t>
            </a:r>
            <a:r>
              <a:rPr lang="en-US" baseline="30000" dirty="0">
                <a:effectLst/>
                <a:hlinkClick r:id="rId90"/>
              </a:rPr>
              <a:t>[11]</a:t>
            </a:r>
            <a:r>
              <a:rPr lang="en-US" dirty="0">
                <a:effectLst/>
              </a:rPr>
              <a:t> The doctor will also take into account the signs and symptoms of the condition.</a:t>
            </a:r>
          </a:p>
          <a:p>
            <a:pPr rtl="0"/>
            <a:r>
              <a:rPr lang="en-US" dirty="0">
                <a:effectLst/>
              </a:rPr>
              <a:t>However, if the doctor is not sure whether the mass is an abscess or a </a:t>
            </a:r>
            <a:r>
              <a:rPr lang="en-US" dirty="0">
                <a:effectLst/>
                <a:hlinkClick r:id="rId168" tooltip="Tumor"/>
              </a:rPr>
              <a:t>tumor</a:t>
            </a:r>
            <a:r>
              <a:rPr lang="en-US" dirty="0">
                <a:effectLst/>
              </a:rPr>
              <a:t>, a </a:t>
            </a:r>
            <a:r>
              <a:rPr lang="en-US" dirty="0">
                <a:effectLst/>
                <a:hlinkClick r:id="rId119" tooltip="Breast ultrasound"/>
              </a:rPr>
              <a:t>breast ultrasound</a:t>
            </a:r>
            <a:r>
              <a:rPr lang="en-US" dirty="0">
                <a:effectLst/>
              </a:rPr>
              <a:t> may be performed. The ultrasound provides a clear image of the breast tissue and may be helpful in distinguishing between simple mastitis and abscess or in diagnosing an abscess deep in the breast. The test consists of placing an ultrasound probe over the breast.</a:t>
            </a:r>
          </a:p>
          <a:p>
            <a:pPr rtl="0"/>
            <a:r>
              <a:rPr lang="en-US" dirty="0">
                <a:effectLst/>
              </a:rPr>
              <a:t>In cases of infectious mastitis, cultures may be needed in order to determine what type of organism is causing the infection. Cultures are helpful in deciding the specific type of </a:t>
            </a:r>
            <a:r>
              <a:rPr lang="en-US" dirty="0">
                <a:effectLst/>
                <a:hlinkClick r:id="rId110" tooltip="Antibiotics"/>
              </a:rPr>
              <a:t>antibiotics</a:t>
            </a:r>
            <a:r>
              <a:rPr lang="en-US" dirty="0">
                <a:effectLst/>
              </a:rPr>
              <a:t> that will be used in curing the disease. These cultures may be taken either from the breast milk or of the material aspirated from an abscess.</a:t>
            </a:r>
          </a:p>
          <a:p>
            <a:pPr rtl="0"/>
            <a:r>
              <a:rPr lang="en-US" dirty="0">
                <a:effectLst/>
                <a:hlinkClick r:id="rId169" tooltip="Mammograms"/>
              </a:rPr>
              <a:t>Mammograms</a:t>
            </a:r>
            <a:r>
              <a:rPr lang="en-US" dirty="0">
                <a:effectLst/>
              </a:rPr>
              <a:t> or </a:t>
            </a:r>
            <a:r>
              <a:rPr lang="en-US" dirty="0">
                <a:effectLst/>
                <a:hlinkClick r:id="rId170" tooltip="Breast biopsy"/>
              </a:rPr>
              <a:t>breast biopsies</a:t>
            </a:r>
            <a:r>
              <a:rPr lang="en-US" dirty="0">
                <a:effectLst/>
              </a:rPr>
              <a:t> are normally performed on women who do not respond to treatment or on non-breastfeeding women. This type of tests is sometimes ordered to exclude the possibility of a rare type of breast cancer which causes symptoms similar to those of mastitis.</a:t>
            </a:r>
          </a:p>
          <a:p>
            <a:pPr rtl="0"/>
            <a:r>
              <a:rPr lang="en-US" b="1" dirty="0">
                <a:effectLst/>
              </a:rPr>
              <a:t>Breast cancer[</a:t>
            </a:r>
            <a:r>
              <a:rPr lang="en-US" b="1" dirty="0">
                <a:effectLst/>
                <a:hlinkClick r:id="rId171" tooltip="Edit section: Breast cancer"/>
              </a:rPr>
              <a:t>edit</a:t>
            </a:r>
            <a:r>
              <a:rPr lang="en-US" b="1" dirty="0">
                <a:effectLst/>
              </a:rPr>
              <a:t>]</a:t>
            </a:r>
          </a:p>
          <a:p>
            <a:pPr rtl="0"/>
            <a:r>
              <a:rPr lang="en-US" dirty="0">
                <a:effectLst/>
              </a:rPr>
              <a:t>Breast cancer may coincide with or mimic symptoms of mastitis. Only full resolution of symptoms </a:t>
            </a:r>
            <a:r>
              <a:rPr lang="en-US" b="1" dirty="0">
                <a:effectLst/>
              </a:rPr>
              <a:t>and</a:t>
            </a:r>
            <a:r>
              <a:rPr lang="en-US" dirty="0">
                <a:effectLst/>
              </a:rPr>
              <a:t> careful examination are sufficient to exclude the diagnosis of breast cancer.</a:t>
            </a:r>
          </a:p>
          <a:p>
            <a:pPr rtl="0"/>
            <a:r>
              <a:rPr lang="en-US" dirty="0">
                <a:effectLst/>
              </a:rPr>
              <a:t>Lifetime risk for </a:t>
            </a:r>
            <a:r>
              <a:rPr lang="en-US" dirty="0">
                <a:effectLst/>
                <a:hlinkClick r:id="rId172" tooltip="Breast cancer"/>
              </a:rPr>
              <a:t>breast cancer</a:t>
            </a:r>
            <a:r>
              <a:rPr lang="en-US" dirty="0">
                <a:effectLst/>
              </a:rPr>
              <a:t> is significantly reduced for women who were pregnant and breastfeeding. Mastitis episodes do not appear to influence lifetime risk of breast cancer.</a:t>
            </a:r>
          </a:p>
          <a:p>
            <a:pPr rtl="0"/>
            <a:r>
              <a:rPr lang="en-US" dirty="0">
                <a:effectLst/>
              </a:rPr>
              <a:t>Mastitis does however cause great difficulties in diagnosis of breast cancer and delayed diagnosis and treatment can result in worse outcome.</a:t>
            </a:r>
          </a:p>
          <a:p>
            <a:pPr rtl="0"/>
            <a:r>
              <a:rPr lang="en-US" dirty="0">
                <a:effectLst/>
              </a:rPr>
              <a:t>Breast cancer may coincide with mastitis or develop shortly afterwards. All suspicious symptoms that do not </a:t>
            </a:r>
            <a:r>
              <a:rPr lang="en-US" b="1" dirty="0">
                <a:effectLst/>
              </a:rPr>
              <a:t>completely</a:t>
            </a:r>
            <a:r>
              <a:rPr lang="en-US" dirty="0">
                <a:effectLst/>
              </a:rPr>
              <a:t> disappear within 5 weeks must be investigated.</a:t>
            </a:r>
          </a:p>
          <a:p>
            <a:pPr rtl="0"/>
            <a:r>
              <a:rPr lang="en-US" dirty="0">
                <a:effectLst/>
              </a:rPr>
              <a:t>Breast cancer incidence during pregnancy and lactation is assumed to be the same as in controls. Course and prognosis are also very similar to age matched controls.</a:t>
            </a:r>
            <a:r>
              <a:rPr lang="en-US" baseline="30000" dirty="0">
                <a:effectLst/>
                <a:hlinkClick r:id="rId173"/>
              </a:rPr>
              <a:t>[33]</a:t>
            </a:r>
            <a:r>
              <a:rPr lang="en-US" baseline="30000" dirty="0">
                <a:effectLst/>
                <a:hlinkClick r:id="rId174"/>
              </a:rPr>
              <a:t>[34]</a:t>
            </a:r>
            <a:r>
              <a:rPr lang="en-US" dirty="0">
                <a:effectLst/>
              </a:rPr>
              <a:t> However diagnosis during lactation is particularly problematic, often leading to delayed diagnosis and treatment.</a:t>
            </a:r>
          </a:p>
          <a:p>
            <a:pPr rtl="0"/>
            <a:r>
              <a:rPr lang="en-US" dirty="0">
                <a:effectLst/>
              </a:rPr>
              <a:t>Some data suggest that </a:t>
            </a:r>
            <a:r>
              <a:rPr lang="en-US" dirty="0" err="1">
                <a:effectLst/>
              </a:rPr>
              <a:t>noninflammatory</a:t>
            </a:r>
            <a:r>
              <a:rPr lang="en-US" dirty="0">
                <a:effectLst/>
              </a:rPr>
              <a:t> breast cancer incidence is increased within a year following episodes of </a:t>
            </a:r>
            <a:r>
              <a:rPr lang="en-US" dirty="0" err="1">
                <a:effectLst/>
              </a:rPr>
              <a:t>nonpuerperal</a:t>
            </a:r>
            <a:r>
              <a:rPr lang="en-US" dirty="0">
                <a:effectLst/>
              </a:rPr>
              <a:t> mastitis and special care is required for follow-up cancer prevention screening.</a:t>
            </a:r>
            <a:r>
              <a:rPr lang="en-US" baseline="30000" dirty="0">
                <a:effectLst/>
                <a:hlinkClick r:id="rId175"/>
              </a:rPr>
              <a:t>[35]</a:t>
            </a:r>
            <a:r>
              <a:rPr lang="en-US" dirty="0">
                <a:effectLst/>
              </a:rPr>
              <a:t> So far only data from short term observation is available and total risk increase can not be judged. Because of the very short time between presentation of mastitis and breast cancer in this study it is considered very unlikely that the inflammation had any substantial role in carcinogenesis, rather it would appear that some precancerous lesions may increase the risk of inflammation (</a:t>
            </a:r>
            <a:r>
              <a:rPr lang="en-US" dirty="0">
                <a:effectLst/>
                <a:hlinkClick r:id="rId176" tooltip="Hyperplasia"/>
              </a:rPr>
              <a:t>hyperplasia</a:t>
            </a:r>
            <a:r>
              <a:rPr lang="en-US" dirty="0">
                <a:effectLst/>
              </a:rPr>
              <a:t> causing duct obstruction, hypersensitivity to cytokines or hormones) or the lesions may have common predisposing factors.</a:t>
            </a:r>
          </a:p>
          <a:p>
            <a:pPr rtl="0"/>
            <a:r>
              <a:rPr lang="en-US" dirty="0">
                <a:effectLst/>
              </a:rPr>
              <a:t>A very serious type of breast cancer called </a:t>
            </a:r>
            <a:r>
              <a:rPr lang="en-US" dirty="0">
                <a:effectLst/>
                <a:hlinkClick r:id="rId54" tooltip="Inflammatory breast cancer"/>
              </a:rPr>
              <a:t>inflammatory breast cancer</a:t>
            </a:r>
            <a:r>
              <a:rPr lang="en-US" dirty="0">
                <a:effectLst/>
              </a:rPr>
              <a:t> presents with similar symptoms as mastitis (both puerperal and </a:t>
            </a:r>
            <a:r>
              <a:rPr lang="en-US" dirty="0" err="1">
                <a:effectLst/>
              </a:rPr>
              <a:t>nonpuerperal</a:t>
            </a:r>
            <a:r>
              <a:rPr lang="en-US" dirty="0">
                <a:effectLst/>
              </a:rPr>
              <a:t>). It is the most aggressive type of breast cancer with the highest mortality rate. The inflammatory </a:t>
            </a:r>
            <a:r>
              <a:rPr lang="en-US" dirty="0">
                <a:effectLst/>
                <a:hlinkClick r:id="rId177" tooltip="Phenotype"/>
              </a:rPr>
              <a:t>phenotype</a:t>
            </a:r>
            <a:r>
              <a:rPr lang="en-US" dirty="0">
                <a:effectLst/>
              </a:rPr>
              <a:t> of IBC is thought to be mostly caused by invasion and blocking of dermal lymphatics, however it was recently shown that </a:t>
            </a:r>
            <a:r>
              <a:rPr lang="en-US" dirty="0">
                <a:effectLst/>
                <a:hlinkClick r:id="rId178" tooltip="NF-κB"/>
              </a:rPr>
              <a:t>NF-</a:t>
            </a:r>
            <a:r>
              <a:rPr lang="en-US" dirty="0" err="1">
                <a:effectLst/>
                <a:hlinkClick r:id="rId178" tooltip="NF-κB"/>
              </a:rPr>
              <a:t>κB</a:t>
            </a:r>
            <a:r>
              <a:rPr lang="en-US" dirty="0">
                <a:effectLst/>
              </a:rPr>
              <a:t> target genes activation may significantly contribute to the inflammatory phenotype. Case reports show that inflammatory breast cancer symptoms can flare up following injury or inflammation making it even more likely to be mistaken for mastitis. Symptoms are also known to partially respond to progesterone and antibiotics, reaction to other common medications can not be ruled out at this point.</a:t>
            </a:r>
            <a:r>
              <a:rPr lang="en-US" baseline="30000" dirty="0">
                <a:effectLst/>
                <a:hlinkClick r:id="rId179"/>
              </a:rPr>
              <a:t>[36]</a:t>
            </a:r>
            <a:r>
              <a:rPr lang="en-US" baseline="30000" dirty="0">
                <a:effectLst/>
                <a:hlinkClick r:id="rId180"/>
              </a:rPr>
              <a:t>[37]</a:t>
            </a:r>
            <a:r>
              <a:rPr lang="en-US" baseline="30000" dirty="0">
                <a:effectLst/>
                <a:hlinkClick r:id="rId181"/>
              </a:rPr>
              <a:t>[38]</a:t>
            </a:r>
            <a:r>
              <a:rPr lang="en-US" baseline="30000" dirty="0">
                <a:effectLst/>
                <a:hlinkClick r:id="rId182"/>
              </a:rPr>
              <a:t>[39]</a:t>
            </a:r>
            <a:r>
              <a:rPr lang="en-US" baseline="30000" dirty="0">
                <a:effectLst/>
                <a:hlinkClick r:id="rId183"/>
              </a:rPr>
              <a:t>[40]</a:t>
            </a:r>
            <a:endParaRPr lang="en-US" dirty="0">
              <a:effectLst/>
            </a:endParaRPr>
          </a:p>
          <a:p>
            <a:pPr rtl="0"/>
            <a:r>
              <a:rPr lang="en-US" b="1" dirty="0">
                <a:effectLst/>
              </a:rPr>
              <a:t>In domestic animals[</a:t>
            </a:r>
            <a:r>
              <a:rPr lang="en-US" b="1" dirty="0">
                <a:effectLst/>
                <a:hlinkClick r:id="rId184" tooltip="Edit section: In domestic animals"/>
              </a:rPr>
              <a:t>edit</a:t>
            </a:r>
            <a:r>
              <a:rPr lang="en-US" b="1" dirty="0">
                <a:effectLst/>
              </a:rPr>
              <a:t>]</a:t>
            </a:r>
          </a:p>
          <a:p>
            <a:pPr rtl="0"/>
            <a:r>
              <a:rPr lang="en-US" dirty="0">
                <a:effectLst/>
              </a:rPr>
              <a:t>Udder of a </a:t>
            </a:r>
            <a:r>
              <a:rPr lang="en-US" dirty="0">
                <a:effectLst/>
                <a:hlinkClick r:id="rId185" tooltip="Roux du Valais (page does not exist)"/>
              </a:rPr>
              <a:t>Roux du Valais</a:t>
            </a:r>
            <a:r>
              <a:rPr lang="en-US" dirty="0">
                <a:effectLst/>
              </a:rPr>
              <a:t> sheep after a healed mastitis, one teat was lost due to the disease.</a:t>
            </a:r>
          </a:p>
          <a:p>
            <a:pPr rtl="0"/>
            <a:r>
              <a:rPr lang="en-US" dirty="0">
                <a:effectLst/>
              </a:rPr>
              <a:t>Serous exudate from bovine udder in </a:t>
            </a:r>
            <a:r>
              <a:rPr lang="en-US" i="1" dirty="0">
                <a:effectLst/>
              </a:rPr>
              <a:t>E. coli</a:t>
            </a:r>
            <a:r>
              <a:rPr lang="en-US" dirty="0">
                <a:effectLst/>
              </a:rPr>
              <a:t> mastitis</a:t>
            </a:r>
            <a:r>
              <a:rPr lang="en-US" baseline="30000" dirty="0">
                <a:effectLst/>
                <a:hlinkClick r:id="rId186"/>
              </a:rPr>
              <a:t>[41]</a:t>
            </a:r>
            <a:r>
              <a:rPr lang="en-US" dirty="0">
                <a:effectLst/>
              </a:rPr>
              <a:t> at left. Normal milk at right.</a:t>
            </a:r>
          </a:p>
          <a:p>
            <a:pPr rtl="0"/>
            <a:r>
              <a:rPr lang="en-US" dirty="0">
                <a:effectLst/>
              </a:rPr>
              <a:t>See also: </a:t>
            </a:r>
            <a:r>
              <a:rPr lang="en-US" dirty="0">
                <a:effectLst/>
                <a:hlinkClick r:id="rId187" tooltip="Mastitis in dairy cattle"/>
              </a:rPr>
              <a:t>Mastitis in dairy cattle</a:t>
            </a:r>
            <a:endParaRPr lang="en-US" dirty="0">
              <a:effectLst/>
            </a:endParaRPr>
          </a:p>
          <a:p>
            <a:pPr rtl="0"/>
            <a:r>
              <a:rPr lang="en-US" dirty="0">
                <a:effectLst/>
              </a:rPr>
              <a:t>Mastitis occurs in domestic animals as in human beings, and is especially a concern in </a:t>
            </a:r>
            <a:r>
              <a:rPr lang="en-US" dirty="0">
                <a:effectLst/>
                <a:hlinkClick r:id="rId188" tooltip="Livestock"/>
              </a:rPr>
              <a:t>livestock</a:t>
            </a:r>
            <a:r>
              <a:rPr lang="en-US" dirty="0">
                <a:effectLst/>
              </a:rPr>
              <a:t>, since milk from the affected </a:t>
            </a:r>
            <a:r>
              <a:rPr lang="en-US" dirty="0">
                <a:effectLst/>
                <a:hlinkClick r:id="rId189" tooltip="Udder"/>
              </a:rPr>
              <a:t>udders</a:t>
            </a:r>
            <a:r>
              <a:rPr lang="en-US" dirty="0">
                <a:effectLst/>
              </a:rPr>
              <a:t> of livestock may enter the food supply and pose a health risk.</a:t>
            </a:r>
          </a:p>
          <a:p>
            <a:pPr rtl="0"/>
            <a:r>
              <a:rPr lang="en-US" dirty="0">
                <a:effectLst/>
              </a:rPr>
              <a:t>It is a major condition in some species, like </a:t>
            </a:r>
            <a:r>
              <a:rPr lang="en-US" dirty="0">
                <a:effectLst/>
                <a:hlinkClick r:id="rId190" tooltip="Dairy cows"/>
              </a:rPr>
              <a:t>dairy cows</a:t>
            </a:r>
            <a:r>
              <a:rPr lang="en-US" dirty="0">
                <a:effectLst/>
              </a:rPr>
              <a:t>. This is the cause of very much unwanted </a:t>
            </a:r>
            <a:r>
              <a:rPr lang="en-US" dirty="0">
                <a:effectLst/>
                <a:hlinkClick r:id="rId191" tooltip="Suffering"/>
              </a:rPr>
              <a:t>suffering</a:t>
            </a:r>
            <a:r>
              <a:rPr lang="en-US" dirty="0">
                <a:effectLst/>
              </a:rPr>
              <a:t> for the dairy cows. It is of tremendous economic importance for the </a:t>
            </a:r>
            <a:r>
              <a:rPr lang="en-US" dirty="0">
                <a:effectLst/>
                <a:hlinkClick r:id="rId192" tooltip="Dairy industry"/>
              </a:rPr>
              <a:t>dairy industry</a:t>
            </a:r>
            <a:r>
              <a:rPr lang="en-US" dirty="0">
                <a:effectLst/>
              </a:rPr>
              <a:t>, and it is also of concern for </a:t>
            </a:r>
            <a:r>
              <a:rPr lang="en-US" dirty="0">
                <a:effectLst/>
                <a:hlinkClick r:id="rId193" tooltip="Public health"/>
              </a:rPr>
              <a:t>public health</a:t>
            </a:r>
            <a:r>
              <a:rPr lang="en-US" dirty="0">
                <a:effectLst/>
              </a:rPr>
              <a:t>. The same considerations apply to mastitis in </a:t>
            </a:r>
            <a:r>
              <a:rPr lang="en-US" dirty="0">
                <a:effectLst/>
                <a:hlinkClick r:id="rId194" tooltip="Sheep"/>
              </a:rPr>
              <a:t>sheep</a:t>
            </a:r>
            <a:r>
              <a:rPr lang="en-US" dirty="0">
                <a:effectLst/>
              </a:rPr>
              <a:t> and </a:t>
            </a:r>
            <a:r>
              <a:rPr lang="en-US" dirty="0">
                <a:effectLst/>
                <a:hlinkClick r:id="rId195" tooltip="Goats"/>
              </a:rPr>
              <a:t>goats</a:t>
            </a:r>
            <a:r>
              <a:rPr lang="en-US" dirty="0">
                <a:effectLst/>
              </a:rPr>
              <a:t> and other milk producing females. It is also of economic importance in the </a:t>
            </a:r>
            <a:r>
              <a:rPr lang="en-US" dirty="0">
                <a:effectLst/>
                <a:hlinkClick r:id="rId196" tooltip="Pig"/>
              </a:rPr>
              <a:t>sow</a:t>
            </a:r>
            <a:r>
              <a:rPr lang="en-US" dirty="0">
                <a:effectLst/>
              </a:rPr>
              <a:t>, but, in this species, it is not related to public health. In other domestic females (</a:t>
            </a:r>
            <a:r>
              <a:rPr lang="en-US" dirty="0">
                <a:effectLst/>
                <a:hlinkClick r:id="rId197" tooltip="Cat"/>
              </a:rPr>
              <a:t>queen</a:t>
            </a:r>
            <a:r>
              <a:rPr lang="en-US" dirty="0">
                <a:effectLst/>
              </a:rPr>
              <a:t>, </a:t>
            </a:r>
            <a:r>
              <a:rPr lang="en-US" dirty="0">
                <a:effectLst/>
                <a:hlinkClick r:id="rId198" tooltip="Horse"/>
              </a:rPr>
              <a:t>mare</a:t>
            </a:r>
            <a:r>
              <a:rPr lang="en-US" dirty="0">
                <a:effectLst/>
              </a:rPr>
              <a:t>, etc.), it is more an individual illness dealt with by </a:t>
            </a:r>
            <a:r>
              <a:rPr lang="en-US" dirty="0">
                <a:effectLst/>
                <a:hlinkClick r:id="rId199" tooltip="Veterinary physician"/>
              </a:rPr>
              <a:t>veterinary practitioners</a:t>
            </a:r>
            <a:r>
              <a:rPr lang="en-US" dirty="0">
                <a:effectLst/>
              </a:rPr>
              <a:t>.</a:t>
            </a:r>
          </a:p>
          <a:p>
            <a:pPr rtl="0"/>
            <a:r>
              <a:rPr lang="en-US" b="1" dirty="0">
                <a:effectLst/>
              </a:rPr>
              <a:t>See also[</a:t>
            </a:r>
            <a:r>
              <a:rPr lang="en-US" b="1" dirty="0">
                <a:effectLst/>
                <a:hlinkClick r:id="rId200" tooltip="Edit section: See also"/>
              </a:rPr>
              <a:t>edit</a:t>
            </a:r>
            <a:r>
              <a:rPr lang="en-US" b="1" dirty="0">
                <a:effectLst/>
              </a:rPr>
              <a:t>]</a:t>
            </a:r>
          </a:p>
          <a:p>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78</a:t>
            </a:fld>
            <a:endParaRPr lang="en-US"/>
          </a:p>
        </p:txBody>
      </p:sp>
    </p:spTree>
    <p:extLst>
      <p:ext uri="{BB962C8B-B14F-4D97-AF65-F5344CB8AC3E}">
        <p14:creationId xmlns:p14="http://schemas.microsoft.com/office/powerpoint/2010/main" val="1583044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Insufficient milk intake, dehydration, and jaundice in the infant can become evident within the first week of life. Signs of insufficient milk intake include: lethargy, delayed stooling, decreased urine output, weight loss &gt;7% of birth weight, </a:t>
            </a:r>
            <a:r>
              <a:rPr lang="en-US" dirty="0" err="1"/>
              <a:t>hypernatremic</a:t>
            </a:r>
            <a:r>
              <a:rPr lang="en-US" dirty="0"/>
              <a:t> dehydration, inconsolable crying and increased hunger. Insufficient milk intake may be caused by insufficient milk production, failure of established breastfeeding, and health conditions in the infant that prevent proper breast stimulation. Parents should be counseled that breastfed neonates feed 8-12 times a day with a minimum of 8 times per day. Careful attention to prenatal history can identify maternal factors that may be associated with this problem (failure of breasts to enlarge during pregnancy or within the first few days after delivery). Direct observation of breastfeeding can help identify improper technique. If a large volume of milk is expressed manually after breastfeeding, then the infant might not be extracting enough milk, eventually leading to decreased milk output. Late preterm infants (34-36 </a:t>
            </a:r>
            <a:r>
              <a:rPr lang="en-US" dirty="0" err="1"/>
              <a:t>wk</a:t>
            </a:r>
            <a:r>
              <a:rPr lang="en-US" dirty="0"/>
              <a:t>) are at risk for insufficient milk syndrome because of poor suck and swallow patterns or medical issues.</a:t>
            </a:r>
          </a:p>
          <a:p>
            <a:r>
              <a:rPr lang="en-US" dirty="0"/>
              <a:t>Jaundice Breastfeeding jaundice is a common reason for hospital </a:t>
            </a:r>
            <a:r>
              <a:rPr lang="en-US" dirty="0" err="1"/>
              <a:t>readmis</a:t>
            </a:r>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79</a:t>
            </a:fld>
            <a:endParaRPr lang="en-US"/>
          </a:p>
        </p:txBody>
      </p:sp>
    </p:spTree>
    <p:extLst>
      <p:ext uri="{BB962C8B-B14F-4D97-AF65-F5344CB8AC3E}">
        <p14:creationId xmlns:p14="http://schemas.microsoft.com/office/powerpoint/2010/main" val="4231051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Breast-milk jaundice is of late onset and has an incidence in term infants of 2% to 4%. By day 4, instead of the usual fall in the serum bilirubin level, the bilirubin level continues to rise and may reach 20 to 30 mg/</a:t>
            </a:r>
            <a:r>
              <a:rPr lang="en-US" dirty="0" err="1"/>
              <a:t>dL</a:t>
            </a:r>
            <a:r>
              <a:rPr lang="en-US" dirty="0"/>
              <a:t> by 14 days of age. If breast-feeding is continued, the levels will stay elevated and then fall slowly at 2 weeks of age, returning to normal by 4 to 12 weeks of age. If breast-feeding is stopped, the bilirubin level will fall rapidly in 48 hours. If nursing is then resumed, the bilirubin may rise 2 to 4 mg/</a:t>
            </a:r>
            <a:r>
              <a:rPr lang="en-US" dirty="0" err="1"/>
              <a:t>dL</a:t>
            </a:r>
            <a:r>
              <a:rPr lang="en-US" dirty="0"/>
              <a:t> but usually will not reach the previous high level. These infants show good weight gain, have normal liver function test (LFT) results, and show no evidence of hemolysis. Mothers with infants who have breast-milk jaundice syndrome have a recurrence rate of 70% in future pregnancies (see I.B.3 for potential genetic influences). The mechanism of true breast-milk jaundice is unknown but is thought to be due to an unidentified factor (or factors) in breast milk interfering with bilirubin metabolism. Additionally, compared with formula-fed infants, breast-fed infants are more likely to have increased </a:t>
            </a:r>
            <a:r>
              <a:rPr lang="en-US" dirty="0" err="1"/>
              <a:t>enterohepatic</a:t>
            </a:r>
            <a:r>
              <a:rPr lang="en-US" dirty="0"/>
              <a:t> circulation because they ingest the β-</a:t>
            </a:r>
            <a:r>
              <a:rPr lang="en-US" dirty="0" err="1"/>
              <a:t>glucuronidase</a:t>
            </a:r>
            <a:r>
              <a:rPr lang="en-US" dirty="0"/>
              <a:t> present in breast milk, are slower to be colonized with intestinal bacteria that convert CB to </a:t>
            </a:r>
            <a:r>
              <a:rPr lang="en-US" dirty="0" err="1"/>
              <a:t>urobilinoids</a:t>
            </a:r>
            <a:r>
              <a:rPr lang="en-US" dirty="0"/>
              <a:t>, and excrete less stool. There are reports of kernicterus in otherwise healthy, breast-fed, term newborns.</a:t>
            </a:r>
          </a:p>
          <a:p>
            <a:r>
              <a:rPr lang="en-US" dirty="0"/>
              <a:t>b. Breast-feeding jaundice. Infants who are breast-fed have higher bilirubin levels after day 3 of life compared to formula-fed infants. The differences in the levels of bilirubin are usually not clinically significant. The incidence of peak bilirubin levels &gt;12 mg/</a:t>
            </a:r>
            <a:r>
              <a:rPr lang="en-US" dirty="0" err="1"/>
              <a:t>dL</a:t>
            </a:r>
            <a:r>
              <a:rPr lang="en-US" dirty="0"/>
              <a:t> in breast-fed term infants is 12% to 13%. The main factor thought to be responsible for breast-feeding jaundice is a decreased intake of milk that leads to increased </a:t>
            </a:r>
            <a:r>
              <a:rPr lang="en-US" dirty="0" err="1"/>
              <a:t>enterohepatic</a:t>
            </a:r>
            <a:r>
              <a:rPr lang="en-US" dirty="0"/>
              <a:t> circulation.</a:t>
            </a:r>
          </a:p>
        </p:txBody>
      </p:sp>
      <p:sp>
        <p:nvSpPr>
          <p:cNvPr id="4" name="Slide Number Placeholder 3"/>
          <p:cNvSpPr>
            <a:spLocks noGrp="1"/>
          </p:cNvSpPr>
          <p:nvPr>
            <p:ph type="sldNum" sz="quarter" idx="10"/>
          </p:nvPr>
        </p:nvSpPr>
        <p:spPr/>
        <p:txBody>
          <a:bodyPr/>
          <a:lstStyle/>
          <a:p>
            <a:fld id="{742E5506-B2FE-470B-BE8C-B51EED410E51}" type="slidenum">
              <a:rPr lang="en-US" smtClean="0"/>
              <a:t>80</a:t>
            </a:fld>
            <a:endParaRPr lang="en-US"/>
          </a:p>
        </p:txBody>
      </p:sp>
    </p:spTree>
    <p:extLst>
      <p:ext uri="{BB962C8B-B14F-4D97-AF65-F5344CB8AC3E}">
        <p14:creationId xmlns:p14="http://schemas.microsoft.com/office/powerpoint/2010/main" val="3790786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Breastfeeding jaundice is a common reason for hospital readmission of healthy breastfed </a:t>
            </a:r>
            <a:r>
              <a:rPr lang="en-US" dirty="0" err="1"/>
              <a:t>infanintake</a:t>
            </a:r>
            <a:r>
              <a:rPr lang="en-US" dirty="0"/>
              <a:t> during the first week of life (see Chapter 102.3). It may also be associated with dehydration and hypernatremia. Breast milk jaundice is a different disorder that causes persistently high serum indirect bilirubin in a thriving healthy baby that becomes evident later than breastfeeding jaundice, but which generally declines in the 2nd to 3rd </a:t>
            </a:r>
            <a:r>
              <a:rPr lang="en-US" dirty="0" err="1"/>
              <a:t>wk</a:t>
            </a:r>
            <a:r>
              <a:rPr lang="en-US" dirty="0"/>
              <a:t> of life. Infants with severe or persistent jaundice should be evaluated for other medical causes (see Chapter 102.3) before ascribing the jaundice to breast milk that might contain inhibitors of </a:t>
            </a:r>
            <a:r>
              <a:rPr lang="en-US" dirty="0" err="1"/>
              <a:t>glucuronyl</a:t>
            </a:r>
            <a:r>
              <a:rPr lang="en-US" dirty="0"/>
              <a:t> </a:t>
            </a:r>
            <a:r>
              <a:rPr lang="en-US" dirty="0" err="1"/>
              <a:t>transferase</a:t>
            </a:r>
            <a:r>
              <a:rPr lang="en-US" dirty="0"/>
              <a:t> or enhanced absorption of bilirubin from the gut. Persistently high bilirubin levels may require changing from breast milk to infant formula for 24-48 </a:t>
            </a:r>
            <a:r>
              <a:rPr lang="en-US" dirty="0" err="1"/>
              <a:t>hr</a:t>
            </a:r>
            <a:r>
              <a:rPr lang="en-US" dirty="0"/>
              <a:t> and/or treatment with phototherapy without cessation of breastfeeding. Breastfeeding should resume after the decline in serum bilirubin. Parents should be reassured and encouraged to continue collecting breast milk during the period when the infant is taking </a:t>
            </a:r>
            <a:r>
              <a:rPr lang="en-US" dirty="0" err="1"/>
              <a:t>formula.ts</a:t>
            </a:r>
            <a:r>
              <a:rPr lang="en-US" dirty="0"/>
              <a:t> and is largely related to insufficient fluid </a:t>
            </a:r>
          </a:p>
        </p:txBody>
      </p:sp>
      <p:sp>
        <p:nvSpPr>
          <p:cNvPr id="4" name="Slide Number Placeholder 3"/>
          <p:cNvSpPr>
            <a:spLocks noGrp="1"/>
          </p:cNvSpPr>
          <p:nvPr>
            <p:ph type="sldNum" sz="quarter" idx="10"/>
          </p:nvPr>
        </p:nvSpPr>
        <p:spPr/>
        <p:txBody>
          <a:bodyPr/>
          <a:lstStyle/>
          <a:p>
            <a:fld id="{742E5506-B2FE-470B-BE8C-B51EED410E51}" type="slidenum">
              <a:rPr lang="en-US" smtClean="0"/>
              <a:t>81</a:t>
            </a:fld>
            <a:endParaRPr lang="en-US"/>
          </a:p>
        </p:txBody>
      </p:sp>
    </p:spTree>
    <p:extLst>
      <p:ext uri="{BB962C8B-B14F-4D97-AF65-F5344CB8AC3E}">
        <p14:creationId xmlns:p14="http://schemas.microsoft.com/office/powerpoint/2010/main" val="37279283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Abstract</a:t>
            </a:r>
          </a:p>
          <a:p>
            <a:r>
              <a:rPr lang="en-US" i="1" dirty="0"/>
              <a:t>A central goal of the Academy of Breastfeeding Medicine is the development of clinical protocols for managing common medical problems that may impact breastfeeding success. These protocols serve only as guidelines for the care of breastfeeding mothers and infants and do not delineate an exclusive course of treatment or serve as standards of medical care. Variations in treatment may be appropriate according to the needs of an individual patient</a:t>
            </a:r>
            <a:r>
              <a:rPr lang="en-US" dirty="0"/>
              <a:t>.</a:t>
            </a:r>
          </a:p>
          <a:p>
            <a:r>
              <a:rPr lang="en-US" dirty="0">
                <a:hlinkClick r:id="rId3" tooltip="Go to other sections in this page"/>
              </a:rPr>
              <a:t>Go to:</a:t>
            </a:r>
            <a:endParaRPr lang="en-US" dirty="0"/>
          </a:p>
          <a:p>
            <a:r>
              <a:rPr lang="en-US" b="1" dirty="0"/>
              <a:t>Definitions</a:t>
            </a:r>
          </a:p>
          <a:p>
            <a:r>
              <a:rPr lang="en-US" dirty="0"/>
              <a:t>When a cleft lip (CL) occurs, the lip is not contiguous, and when a cleft palate (CP) occurs, there is communication between the oral and nasal cavities.</a:t>
            </a:r>
            <a:r>
              <a:rPr lang="en-US" baseline="30000" dirty="0">
                <a:hlinkClick r:id="rId4"/>
              </a:rPr>
              <a:t>1</a:t>
            </a:r>
            <a:r>
              <a:rPr lang="en-US" dirty="0"/>
              <a:t> Clefts can range in severity from a simple notch in the upper lip to a complete opening in the lip extending into the floor of the nasal cavity and involving the alveolus to the incisive foramen.</a:t>
            </a:r>
            <a:r>
              <a:rPr lang="en-US" baseline="30000" dirty="0">
                <a:hlinkClick r:id="rId5"/>
              </a:rPr>
              <a:t>2</a:t>
            </a:r>
            <a:r>
              <a:rPr lang="en-US" dirty="0"/>
              <a:t> Similarly, CP may involve just the soft palate or extend partially or completely through the hard and soft palates.</a:t>
            </a:r>
            <a:r>
              <a:rPr lang="en-US" baseline="30000" dirty="0">
                <a:hlinkClick r:id="rId4"/>
              </a:rPr>
              <a:t>1</a:t>
            </a:r>
            <a:r>
              <a:rPr lang="en-US" dirty="0"/>
              <a:t> In CP, the alveolus remains intact. A CP may be </a:t>
            </a:r>
            <a:r>
              <a:rPr lang="en-US" dirty="0" err="1"/>
              <a:t>submucous</a:t>
            </a:r>
            <a:r>
              <a:rPr lang="en-US" dirty="0"/>
              <a:t> and not immediately detected if there are subtle or no corresponding clinical signs or symptoms.</a:t>
            </a:r>
            <a:r>
              <a:rPr lang="en-US" baseline="30000" dirty="0">
                <a:hlinkClick r:id="rId4"/>
              </a:rPr>
              <a:t>1</a:t>
            </a:r>
            <a:endParaRPr lang="en-US" dirty="0"/>
          </a:p>
          <a:p>
            <a:r>
              <a:rPr lang="en-US" dirty="0">
                <a:hlinkClick r:id="rId3" tooltip="Go to other sections in this page"/>
              </a:rPr>
              <a:t>Go to:</a:t>
            </a:r>
            <a:endParaRPr lang="en-US" dirty="0"/>
          </a:p>
          <a:p>
            <a:r>
              <a:rPr lang="en-US" b="1" dirty="0"/>
              <a:t>Background</a:t>
            </a:r>
          </a:p>
          <a:p>
            <a:r>
              <a:rPr lang="en-US" b="1" dirty="0"/>
              <a:t>Incidence</a:t>
            </a:r>
          </a:p>
          <a:p>
            <a:r>
              <a:rPr lang="en-US" dirty="0"/>
              <a:t>The worldwide prevalence of CL and/or CP (CL/P) ranges from 0.8 to 2.7 cases per 1,000 live births.</a:t>
            </a:r>
            <a:r>
              <a:rPr lang="en-US" baseline="30000" dirty="0">
                <a:hlinkClick r:id="rId6"/>
              </a:rPr>
              <a:t>3</a:t>
            </a:r>
            <a:r>
              <a:rPr lang="en-US" dirty="0"/>
              <a:t> There are differences in incidence rates across racial groups, with the lowest reported incidence among African-American populations (approximately 0.5 per 1,000)</a:t>
            </a:r>
            <a:r>
              <a:rPr lang="en-US" baseline="30000" dirty="0">
                <a:hlinkClick r:id="rId7"/>
              </a:rPr>
              <a:t>4</a:t>
            </a:r>
            <a:r>
              <a:rPr lang="en-US" baseline="30000" dirty="0"/>
              <a:t>,</a:t>
            </a:r>
            <a:r>
              <a:rPr lang="en-US" baseline="30000" dirty="0">
                <a:hlinkClick r:id="rId8"/>
              </a:rPr>
              <a:t>5</a:t>
            </a:r>
            <a:r>
              <a:rPr lang="en-US" dirty="0"/>
              <a:t> and white populations (approximately one per 1,000 births)</a:t>
            </a:r>
            <a:r>
              <a:rPr lang="en-US" baseline="30000" dirty="0">
                <a:hlinkClick r:id="rId6"/>
              </a:rPr>
              <a:t>3</a:t>
            </a:r>
            <a:r>
              <a:rPr lang="en-US" dirty="0"/>
              <a:t> and higher incidence among Native American (approximately 3.5 per 1,000)</a:t>
            </a:r>
            <a:r>
              <a:rPr lang="en-US" baseline="30000" dirty="0">
                <a:hlinkClick r:id="rId9"/>
              </a:rPr>
              <a:t>6</a:t>
            </a:r>
            <a:r>
              <a:rPr lang="en-US" dirty="0"/>
              <a:t> and Asian (approximately 1.7 per 1,000)</a:t>
            </a:r>
            <a:r>
              <a:rPr lang="en-US" baseline="30000" dirty="0">
                <a:hlinkClick r:id="rId10"/>
              </a:rPr>
              <a:t>7</a:t>
            </a:r>
            <a:r>
              <a:rPr lang="en-US" dirty="0"/>
              <a:t> populations.</a:t>
            </a:r>
          </a:p>
          <a:p>
            <a:r>
              <a:rPr lang="en-US" dirty="0"/>
              <a:t>Although reports vary considerably, it is estimated that out of the total number of infants with CL/P, approximately 50% have combined cleft lip and palate (CLP), whereas 30% have isolated CP, and 20% have isolated CL; CL extending to include the alveolus occurs in approximately 5% of cases.</a:t>
            </a:r>
            <a:r>
              <a:rPr lang="en-US" baseline="30000" dirty="0">
                <a:hlinkClick r:id="rId11"/>
              </a:rPr>
              <a:t>8</a:t>
            </a:r>
            <a:r>
              <a:rPr lang="en-US" dirty="0"/>
              <a:t> Clefts are usually unilateral (</a:t>
            </a:r>
            <a:r>
              <a:rPr lang="en-US" dirty="0">
                <a:hlinkClick r:id="rId12"/>
              </a:rPr>
              <a:t>Fig. 1</a:t>
            </a:r>
            <a:r>
              <a:rPr lang="en-US" dirty="0"/>
              <a:t>); however, in approximately 10% of cases, clefts are bilateral.</a:t>
            </a:r>
            <a:r>
              <a:rPr lang="en-US" baseline="30000" dirty="0">
                <a:hlinkClick r:id="rId13"/>
              </a:rPr>
              <a:t>9</a:t>
            </a:r>
            <a:endParaRPr lang="en-US" dirty="0"/>
          </a:p>
          <a:p>
            <a:r>
              <a:rPr lang="en-US" dirty="0">
                <a:hlinkClick r:id="rId12"/>
              </a:rPr>
              <a:t>FIG. 1.</a:t>
            </a:r>
            <a:endParaRPr lang="en-US" dirty="0"/>
          </a:p>
          <a:p>
            <a:r>
              <a:rPr lang="en-US" dirty="0"/>
              <a:t>Unilateral cleft lip. Photo courtesy of John A. </a:t>
            </a:r>
            <a:r>
              <a:rPr lang="en-US" dirty="0" err="1"/>
              <a:t>Girotto</a:t>
            </a:r>
            <a:r>
              <a:rPr lang="en-US" dirty="0"/>
              <a:t>, MD.</a:t>
            </a:r>
          </a:p>
          <a:p>
            <a:r>
              <a:rPr lang="en-US" b="1" dirty="0"/>
              <a:t>Breastfeeding and CL/P</a:t>
            </a:r>
          </a:p>
          <a:p>
            <a:r>
              <a:rPr lang="en-US" dirty="0"/>
              <a:t>In these guidelines, </a:t>
            </a:r>
            <a:r>
              <a:rPr lang="en-US" i="1" dirty="0"/>
              <a:t>breastfeeding</a:t>
            </a:r>
            <a:r>
              <a:rPr lang="en-US" dirty="0"/>
              <a:t> refers to direct placement of baby to the breast for feeding, and </a:t>
            </a:r>
            <a:r>
              <a:rPr lang="en-US" i="1" dirty="0"/>
              <a:t>breastmilk feeding</a:t>
            </a:r>
            <a:r>
              <a:rPr lang="en-US" dirty="0"/>
              <a:t> refers to delivery of breastmilk to baby via bottle, cup, spoon, or any other means except breast. Babies use both suction and compression to breastfeed successfully. The ability to generate suction is necessary for attachment to the breast, maintenance of a stable feeding position, and, together with the let-down reflex, milk extraction. Normally, when a baby is feeding, his or her lips flange firmly against the areola, sealing the oral cavity anteriorly. The soft palate rises up and back to contact the pharyngeal walls and seal the oral cavity posteriorly. As the tongue and jaw drop during sucking, the oral cavity increases in size, and suction is generated, drawing milk from the breast.</a:t>
            </a:r>
            <a:r>
              <a:rPr lang="en-US" baseline="30000" dirty="0">
                <a:hlinkClick r:id="rId14"/>
              </a:rPr>
              <a:t>10</a:t>
            </a:r>
            <a:r>
              <a:rPr lang="en-US" dirty="0"/>
              <a:t> Compression occurs when the baby presses the breast between the tongue and jaw. Suction and compression help milk transfer delivery during breastfeeding.</a:t>
            </a:r>
            <a:r>
              <a:rPr lang="en-US" baseline="30000" dirty="0">
                <a:hlinkClick r:id="rId14"/>
              </a:rPr>
              <a:t>10</a:t>
            </a:r>
            <a:r>
              <a:rPr lang="en-US" baseline="30000" dirty="0"/>
              <a:t>–</a:t>
            </a:r>
            <a:r>
              <a:rPr lang="en-US" baseline="30000" dirty="0">
                <a:hlinkClick r:id="rId15"/>
              </a:rPr>
              <a:t>12</a:t>
            </a:r>
            <a:endParaRPr lang="en-US" dirty="0"/>
          </a:p>
          <a:p>
            <a:r>
              <a:rPr lang="en-US" dirty="0"/>
              <a:t>There is a relationship between the amount of oral pressure generated during feeding and the size/type of cleft and maturity of the baby.</a:t>
            </a:r>
            <a:r>
              <a:rPr lang="en-US" baseline="30000" dirty="0">
                <a:hlinkClick r:id="rId16"/>
              </a:rPr>
              <a:t>13</a:t>
            </a:r>
            <a:r>
              <a:rPr lang="en-US" dirty="0"/>
              <a:t> For this reason, babies with CL are more likely to breastfeed than those with CP and CLP.</a:t>
            </a:r>
            <a:r>
              <a:rPr lang="en-US" baseline="30000" dirty="0">
                <a:hlinkClick r:id="rId17"/>
              </a:rPr>
              <a:t>14</a:t>
            </a:r>
            <a:r>
              <a:rPr lang="en-US" dirty="0"/>
              <a:t> Some babies with small clefts of the soft palate generate suction,</a:t>
            </a:r>
            <a:r>
              <a:rPr lang="en-US" baseline="30000" dirty="0">
                <a:hlinkClick r:id="rId18"/>
              </a:rPr>
              <a:t>15</a:t>
            </a:r>
            <a:r>
              <a:rPr lang="en-US" dirty="0"/>
              <a:t> but others with larger clefts of the soft and/or hard palate may not generate suction.</a:t>
            </a:r>
            <a:r>
              <a:rPr lang="en-US" baseline="30000" dirty="0">
                <a:hlinkClick r:id="rId18"/>
              </a:rPr>
              <a:t>15</a:t>
            </a:r>
            <a:r>
              <a:rPr lang="en-US" baseline="30000" dirty="0"/>
              <a:t>,</a:t>
            </a:r>
            <a:r>
              <a:rPr lang="en-US" baseline="30000" dirty="0">
                <a:hlinkClick r:id="rId19"/>
              </a:rPr>
              <a:t>16</a:t>
            </a:r>
            <a:r>
              <a:rPr lang="en-US" dirty="0"/>
              <a:t> Newborns and premature babies generate lower suction pressures compared with older babies.</a:t>
            </a:r>
            <a:r>
              <a:rPr lang="en-US" baseline="30000" dirty="0">
                <a:hlinkClick r:id="rId16"/>
              </a:rPr>
              <a:t>13</a:t>
            </a:r>
            <a:r>
              <a:rPr lang="en-US" baseline="30000" dirty="0"/>
              <a:t>,</a:t>
            </a:r>
            <a:r>
              <a:rPr lang="en-US" baseline="30000" dirty="0">
                <a:hlinkClick r:id="rId20"/>
              </a:rPr>
              <a:t>17</a:t>
            </a:r>
            <a:r>
              <a:rPr lang="en-US" baseline="30000" dirty="0"/>
              <a:t>,</a:t>
            </a:r>
            <a:r>
              <a:rPr lang="en-US" baseline="30000" dirty="0">
                <a:hlinkClick r:id="rId21"/>
              </a:rPr>
              <a:t>18</a:t>
            </a:r>
            <a:r>
              <a:rPr lang="en-US" dirty="0"/>
              <a:t> Babies with CP or CLP have difficulty creating suction</a:t>
            </a:r>
            <a:r>
              <a:rPr lang="en-US" baseline="30000" dirty="0">
                <a:hlinkClick r:id="rId22"/>
              </a:rPr>
              <a:t>19</a:t>
            </a:r>
            <a:r>
              <a:rPr lang="en-US" dirty="0"/>
              <a:t> because the oral cavity cannot be adequately separated from the nasal cavity during feeding. For these infants, negative consequences may include fatigue during breastfeeding, prolonged feeding times, and impaired growth and nutrition.</a:t>
            </a:r>
          </a:p>
          <a:p>
            <a:r>
              <a:rPr lang="en-US" dirty="0"/>
              <a:t>The literature describing breastfeeding outcomes is limited, and the evidence is anecdotal and contradictory, making the recommendations that follow challenging.</a:t>
            </a:r>
            <a:r>
              <a:rPr lang="en-US" baseline="30000" dirty="0">
                <a:hlinkClick r:id="rId23"/>
              </a:rPr>
              <a:t>20</a:t>
            </a:r>
            <a:endParaRPr lang="en-US" dirty="0"/>
          </a:p>
          <a:p>
            <a:r>
              <a:rPr lang="en-US" dirty="0">
                <a:hlinkClick r:id="rId3" tooltip="Go to other sections in this page"/>
              </a:rPr>
              <a:t>Go to:</a:t>
            </a:r>
            <a:endParaRPr lang="en-US" dirty="0"/>
          </a:p>
          <a:p>
            <a:r>
              <a:rPr lang="en-US" b="1" dirty="0"/>
              <a:t>Recommendations</a:t>
            </a:r>
          </a:p>
          <a:p>
            <a:r>
              <a:rPr lang="en-US" dirty="0"/>
              <a:t>Quality of evidence (levels of evidence I, II-1, II-2, II-3, and III) for each recommendation, as defined in the U.S. Preventive Services Task Force </a:t>
            </a:r>
            <a:r>
              <a:rPr lang="en-US" dirty="0">
                <a:hlinkClick r:id="rId24"/>
              </a:rPr>
              <a:t>Appendix A</a:t>
            </a:r>
            <a:r>
              <a:rPr lang="en-US" dirty="0"/>
              <a:t> Task Force Ratings,</a:t>
            </a:r>
            <a:r>
              <a:rPr lang="en-US" baseline="30000" dirty="0">
                <a:hlinkClick r:id="rId25"/>
              </a:rPr>
              <a:t>21</a:t>
            </a:r>
            <a:r>
              <a:rPr lang="en-US" dirty="0"/>
              <a:t> is noted in parentheses.</a:t>
            </a:r>
          </a:p>
          <a:p>
            <a:r>
              <a:rPr lang="en-US" b="1" dirty="0"/>
              <a:t>Summary of recommendations for clinical practice</a:t>
            </a:r>
          </a:p>
          <a:p>
            <a:r>
              <a:rPr lang="en-US" dirty="0"/>
              <a:t>Based on the reviewed evidence, the following recommendations are made:</a:t>
            </a:r>
          </a:p>
          <a:p>
            <a:pPr>
              <a:buFont typeface="Arial" panose="020B0604020202020204" pitchFamily="34" charset="0"/>
              <a:buChar char="•"/>
            </a:pPr>
            <a:r>
              <a:rPr lang="en-US" dirty="0">
                <a:effectLst/>
              </a:rPr>
              <a:t>1. Mothers should be encouraged to provide the protective benefits of breastmilk. Evidence suggests that breastfeeding protects against otitis media, which is highly prevalent in this population.</a:t>
            </a:r>
            <a:r>
              <a:rPr lang="en-US" baseline="30000" dirty="0">
                <a:effectLst/>
                <a:hlinkClick r:id="rId26"/>
              </a:rPr>
              <a:t>22</a:t>
            </a:r>
            <a:r>
              <a:rPr lang="en-US" baseline="30000" dirty="0">
                <a:effectLst/>
              </a:rPr>
              <a:t>,</a:t>
            </a:r>
            <a:r>
              <a:rPr lang="en-US" baseline="30000" dirty="0">
                <a:effectLst/>
                <a:hlinkClick r:id="rId27"/>
              </a:rPr>
              <a:t>23</a:t>
            </a:r>
            <a:r>
              <a:rPr lang="en-US" dirty="0">
                <a:effectLst/>
              </a:rPr>
              <a:t> (II-2) Breastmilk feeding (via cup, spoon, bottle, etc.) should be promoted in preference to artificial milk feeding. Additionally, there is speculative information regarding possible benefits of breastfeeding versus bottle feeding on the development of the oral cavity.</a:t>
            </a:r>
          </a:p>
          <a:p>
            <a:pPr>
              <a:buFont typeface="Arial" panose="020B0604020202020204" pitchFamily="34" charset="0"/>
              <a:buChar char="•"/>
            </a:pPr>
            <a:r>
              <a:rPr lang="en-US" dirty="0">
                <a:effectLst/>
              </a:rPr>
              <a:t>2. At the same time, mothers should be counseled about likely breastfeeding success. Where direct breastfeeding is unlikely to be the sole feeding method, the need for breastmilk feeding should be encouraged, and, when appropriate, possible delayed transitioning to breastfeeding should be discussed.</a:t>
            </a:r>
          </a:p>
          <a:p>
            <a:pPr>
              <a:buFont typeface="Arial" panose="020B0604020202020204" pitchFamily="34" charset="0"/>
              <a:buChar char="•"/>
            </a:pPr>
            <a:r>
              <a:rPr lang="en-US" dirty="0">
                <a:effectLst/>
              </a:rPr>
              <a:t>3. Babies with CL/P should be evaluated for breastfeeding on an individual basis. In particular, it is important to take into account the size and location of the baby's CL/P as well as the mother's wishes and previous experience with breastfeeding. There is moderate evidence to suggest that infants with CL are able to generate suction</a:t>
            </a:r>
            <a:r>
              <a:rPr lang="en-US" baseline="30000" dirty="0">
                <a:effectLst/>
                <a:hlinkClick r:id="rId22"/>
              </a:rPr>
              <a:t>19</a:t>
            </a:r>
            <a:r>
              <a:rPr lang="en-US" dirty="0">
                <a:effectLst/>
              </a:rPr>
              <a:t> (III), and descriptive reports suggest that these infants are often able to breastfeed successfully.</a:t>
            </a:r>
            <a:r>
              <a:rPr lang="en-US" baseline="30000" dirty="0">
                <a:effectLst/>
                <a:hlinkClick r:id="rId28"/>
              </a:rPr>
              <a:t>24</a:t>
            </a:r>
            <a:r>
              <a:rPr lang="en-US" dirty="0">
                <a:effectLst/>
              </a:rPr>
              <a:t> (III) There is moderate evidence that infants with CP or CLP have difficulty generating suction</a:t>
            </a:r>
            <a:r>
              <a:rPr lang="en-US" baseline="30000" dirty="0">
                <a:effectLst/>
                <a:hlinkClick r:id="rId18"/>
              </a:rPr>
              <a:t>15</a:t>
            </a:r>
            <a:r>
              <a:rPr lang="en-US" dirty="0">
                <a:effectLst/>
              </a:rPr>
              <a:t> (I) and have inefficient sucking patterns</a:t>
            </a:r>
            <a:r>
              <a:rPr lang="en-US" baseline="30000" dirty="0">
                <a:effectLst/>
                <a:hlinkClick r:id="rId19"/>
              </a:rPr>
              <a:t>16</a:t>
            </a:r>
            <a:r>
              <a:rPr lang="en-US" dirty="0">
                <a:effectLst/>
              </a:rPr>
              <a:t> (I) compared with normal infants. The success rates for breastfeeding infants with CP or CLP are observed to be lower than for infants with CL or no cleft.</a:t>
            </a:r>
            <a:r>
              <a:rPr lang="en-US" baseline="30000" dirty="0">
                <a:effectLst/>
                <a:hlinkClick r:id="rId17"/>
              </a:rPr>
              <a:t>14</a:t>
            </a:r>
            <a:r>
              <a:rPr lang="en-US" baseline="30000" dirty="0">
                <a:effectLst/>
              </a:rPr>
              <a:t>,</a:t>
            </a:r>
            <a:r>
              <a:rPr lang="en-US" baseline="30000" dirty="0">
                <a:effectLst/>
                <a:hlinkClick r:id="rId28"/>
              </a:rPr>
              <a:t>24</a:t>
            </a:r>
            <a:r>
              <a:rPr lang="en-US" dirty="0">
                <a:effectLst/>
              </a:rPr>
              <a:t> (III) (</a:t>
            </a:r>
            <a:r>
              <a:rPr lang="en-US" dirty="0">
                <a:effectLst/>
                <a:hlinkClick r:id="rId24"/>
              </a:rPr>
              <a:t>Appendix</a:t>
            </a:r>
            <a:r>
              <a:rPr lang="en-US" dirty="0">
                <a:effectLst/>
              </a:rPr>
              <a:t>)</a:t>
            </a:r>
          </a:p>
          <a:p>
            <a:pPr>
              <a:buFont typeface="Arial" panose="020B0604020202020204" pitchFamily="34" charset="0"/>
              <a:buChar char="•"/>
            </a:pPr>
            <a:r>
              <a:rPr lang="en-US" dirty="0">
                <a:effectLst/>
              </a:rPr>
              <a:t>4. As in normal breastfeeding, knowledgeable support is important. Mothers who wish to breastfeed should be given immediate access to a lactation specialist to assist with positioning, management of milk supply, and expressing milk for supplemental feeds. Several studies have suggested that there is a need for and benefit from having access to a health professional who specializes in CL/P, such as a clinical nurse specialist, during the newborn/infant periods for specialized advice on feeding a baby with CL/P as well as referrals to appropriate services.</a:t>
            </a:r>
            <a:r>
              <a:rPr lang="en-US" baseline="30000" dirty="0">
                <a:effectLst/>
                <a:hlinkClick r:id="rId29"/>
              </a:rPr>
              <a:t>25</a:t>
            </a:r>
            <a:r>
              <a:rPr lang="en-US" dirty="0">
                <a:effectLst/>
              </a:rPr>
              <a:t> Surveys of parents with a child with CL, CLP, or CP indicated a desire for more instruction on feeding challenges as early as possible.</a:t>
            </a:r>
            <a:r>
              <a:rPr lang="en-US" baseline="30000" dirty="0">
                <a:effectLst/>
                <a:hlinkClick r:id="rId30"/>
              </a:rPr>
              <a:t>26</a:t>
            </a:r>
            <a:r>
              <a:rPr lang="en-US" dirty="0">
                <a:effectLst/>
              </a:rPr>
              <a:t> (III)</a:t>
            </a:r>
          </a:p>
          <a:p>
            <a:pPr>
              <a:buFont typeface="Arial" panose="020B0604020202020204" pitchFamily="34" charset="0"/>
              <a:buChar char="•"/>
            </a:pPr>
            <a:r>
              <a:rPr lang="en-US" dirty="0">
                <a:effectLst/>
              </a:rPr>
              <a:t>5. Families may benefit from peer support around breastmilk feeding or breastfeeding found through associations like Wild Smile</a:t>
            </a:r>
            <a:r>
              <a:rPr lang="en-US" baseline="30000" dirty="0">
                <a:effectLst/>
                <a:hlinkClick r:id="rId31"/>
              </a:rPr>
              <a:t>27</a:t>
            </a:r>
            <a:r>
              <a:rPr lang="en-US" dirty="0">
                <a:effectLst/>
              </a:rPr>
              <a:t> in addition to routine referral to breastfeeding support groups.</a:t>
            </a:r>
          </a:p>
          <a:p>
            <a:pPr>
              <a:buFont typeface="Arial" panose="020B0604020202020204" pitchFamily="34" charset="0"/>
              <a:buChar char="•"/>
            </a:pPr>
            <a:r>
              <a:rPr lang="en-US" dirty="0">
                <a:effectLst/>
              </a:rPr>
              <a:t>6. Monitoring of a baby's hydration and weight gain is important while a feeding method is being established. If inadequate, supplemental feeding should be implemented or increased. (See “ABM clinical protocol #3: Hospital guidelines for the use of supplementary feedings in the healthy term breastfed neonate, revised 2009.”</a:t>
            </a:r>
            <a:r>
              <a:rPr lang="en-US" baseline="30000" dirty="0">
                <a:effectLst/>
                <a:hlinkClick r:id="rId32"/>
              </a:rPr>
              <a:t>28</a:t>
            </a:r>
            <a:r>
              <a:rPr lang="en-US" dirty="0">
                <a:effectLst/>
              </a:rPr>
              <a:t>) Infants with CL/P may require supplemental feeds for adequate growth and nutrition.</a:t>
            </a:r>
            <a:r>
              <a:rPr lang="en-US" baseline="30000" dirty="0">
                <a:effectLst/>
                <a:hlinkClick r:id="rId28"/>
              </a:rPr>
              <a:t>24</a:t>
            </a:r>
            <a:r>
              <a:rPr lang="en-US" dirty="0">
                <a:effectLst/>
              </a:rPr>
              <a:t> (III) There is one study that demonstrated that additional maternal support by a clinical nurse specialist can both improve weight gain outcomes and also facilitate referral to appropriate services.</a:t>
            </a:r>
            <a:r>
              <a:rPr lang="en-US" baseline="30000" dirty="0">
                <a:effectLst/>
                <a:hlinkClick r:id="rId33"/>
              </a:rPr>
              <a:t>29</a:t>
            </a:r>
            <a:r>
              <a:rPr lang="en-US" dirty="0">
                <a:effectLst/>
              </a:rPr>
              <a:t> (III)</a:t>
            </a:r>
          </a:p>
          <a:p>
            <a:pPr>
              <a:buFont typeface="Arial" panose="020B0604020202020204" pitchFamily="34" charset="0"/>
              <a:buChar char="•"/>
            </a:pPr>
            <a:r>
              <a:rPr lang="en-US" dirty="0">
                <a:effectLst/>
              </a:rPr>
              <a:t>7. Modification to breastfeeding positions may increase the efficiency and effectiveness of breastfeeding. Positioning recommendations that have been recommended on the basis of weak evidence (clinical experience or expert opinion) and should be evaluated for success are:</a:t>
            </a:r>
          </a:p>
          <a:p>
            <a:pPr marL="742950" lvl="1" indent="-285750">
              <a:buFont typeface="Arial" panose="020B0604020202020204" pitchFamily="34" charset="0"/>
              <a:buChar char="•"/>
            </a:pPr>
            <a:r>
              <a:rPr lang="en-US" dirty="0">
                <a:effectLst/>
              </a:rPr>
              <a:t>a. For infants with CL:</a:t>
            </a:r>
          </a:p>
          <a:p>
            <a:pPr marL="1143000" lvl="2" indent="-228600">
              <a:buFont typeface="Arial" panose="020B0604020202020204" pitchFamily="34" charset="0"/>
              <a:buChar char="•"/>
            </a:pPr>
            <a:r>
              <a:rPr lang="en-US" dirty="0" err="1">
                <a:effectLst/>
              </a:rPr>
              <a:t>i</a:t>
            </a:r>
            <a:r>
              <a:rPr lang="en-US" dirty="0">
                <a:effectLst/>
              </a:rPr>
              <a:t>. The infant should be held so that the CL is oriented toward the top of the breast</a:t>
            </a:r>
            <a:r>
              <a:rPr lang="en-US" baseline="30000" dirty="0">
                <a:effectLst/>
                <a:hlinkClick r:id="rId34"/>
              </a:rPr>
              <a:t>30</a:t>
            </a:r>
            <a:r>
              <a:rPr lang="en-US" baseline="30000" dirty="0">
                <a:effectLst/>
              </a:rPr>
              <a:t>,</a:t>
            </a:r>
            <a:r>
              <a:rPr lang="en-US" baseline="30000" dirty="0">
                <a:effectLst/>
                <a:hlinkClick r:id="rId35"/>
              </a:rPr>
              <a:t>31</a:t>
            </a:r>
            <a:r>
              <a:rPr lang="en-US" dirty="0">
                <a:effectLst/>
              </a:rPr>
              <a:t> (for example, an infant with a [right] CL may feed more efficiently in a cross-cradle position at the right breast and a “football/twin style” position at the left breast). (III)</a:t>
            </a:r>
          </a:p>
          <a:p>
            <a:pPr marL="1143000" lvl="2" indent="-228600">
              <a:buFont typeface="Arial" panose="020B0604020202020204" pitchFamily="34" charset="0"/>
              <a:buChar char="•"/>
            </a:pPr>
            <a:r>
              <a:rPr lang="en-US" dirty="0">
                <a:effectLst/>
              </a:rPr>
              <a:t>ii. The mother may occlude the CL with her thumb or finger</a:t>
            </a:r>
            <a:r>
              <a:rPr lang="en-US" baseline="30000" dirty="0">
                <a:effectLst/>
                <a:hlinkClick r:id="rId35"/>
              </a:rPr>
              <a:t>31</a:t>
            </a:r>
            <a:r>
              <a:rPr lang="en-US" baseline="30000" dirty="0">
                <a:effectLst/>
              </a:rPr>
              <a:t>,</a:t>
            </a:r>
            <a:r>
              <a:rPr lang="en-US" baseline="30000" dirty="0">
                <a:effectLst/>
                <a:hlinkClick r:id="rId36"/>
              </a:rPr>
              <a:t>32</a:t>
            </a:r>
            <a:r>
              <a:rPr lang="en-US" dirty="0">
                <a:effectLst/>
              </a:rPr>
              <a:t> and/or support the infant's cheeks to decrease the width of the cleft and increase closure around the nipple.</a:t>
            </a:r>
            <a:r>
              <a:rPr lang="en-US" baseline="30000" dirty="0">
                <a:effectLst/>
                <a:hlinkClick r:id="rId37"/>
              </a:rPr>
              <a:t>33</a:t>
            </a:r>
            <a:r>
              <a:rPr lang="en-US" dirty="0">
                <a:effectLst/>
              </a:rPr>
              <a:t> (III)</a:t>
            </a:r>
          </a:p>
          <a:p>
            <a:pPr marL="1143000" lvl="2" indent="-228600">
              <a:buFont typeface="Arial" panose="020B0604020202020204" pitchFamily="34" charset="0"/>
              <a:buChar char="•"/>
            </a:pPr>
            <a:r>
              <a:rPr lang="en-US" dirty="0">
                <a:effectLst/>
              </a:rPr>
              <a:t>iii. For bilateral CL, a “face on” straddle position may be more effective than other breastfeeding positions.</a:t>
            </a:r>
            <a:r>
              <a:rPr lang="en-US" baseline="30000" dirty="0">
                <a:effectLst/>
                <a:hlinkClick r:id="rId35"/>
              </a:rPr>
              <a:t>31</a:t>
            </a:r>
            <a:r>
              <a:rPr lang="en-US" dirty="0">
                <a:effectLst/>
              </a:rPr>
              <a:t> (III)</a:t>
            </a:r>
          </a:p>
          <a:p>
            <a:pPr marL="742950" lvl="1" indent="-285750">
              <a:buFont typeface="Arial" panose="020B0604020202020204" pitchFamily="34" charset="0"/>
              <a:buChar char="•"/>
            </a:pPr>
            <a:r>
              <a:rPr lang="en-US" dirty="0">
                <a:effectLst/>
              </a:rPr>
              <a:t>b. For infants with CP or CLP:</a:t>
            </a:r>
          </a:p>
          <a:p>
            <a:pPr marL="1143000" lvl="2" indent="-228600">
              <a:buFont typeface="Arial" panose="020B0604020202020204" pitchFamily="34" charset="0"/>
              <a:buChar char="•"/>
            </a:pPr>
            <a:r>
              <a:rPr lang="en-US" dirty="0" err="1">
                <a:effectLst/>
              </a:rPr>
              <a:t>i</a:t>
            </a:r>
            <a:r>
              <a:rPr lang="en-US" dirty="0">
                <a:effectLst/>
              </a:rPr>
              <a:t>. Positioning should be semi-upright to reduce nasal regurgitation and reflux of breastmilk into the Eustachian tubes.</a:t>
            </a:r>
            <a:r>
              <a:rPr lang="en-US" baseline="30000" dirty="0">
                <a:effectLst/>
                <a:hlinkClick r:id="rId35"/>
              </a:rPr>
              <a:t>31</a:t>
            </a:r>
            <a:r>
              <a:rPr lang="en-US" baseline="30000" dirty="0">
                <a:effectLst/>
              </a:rPr>
              <a:t>,</a:t>
            </a:r>
            <a:r>
              <a:rPr lang="en-US" baseline="30000" dirty="0">
                <a:effectLst/>
                <a:hlinkClick r:id="rId36"/>
              </a:rPr>
              <a:t>32</a:t>
            </a:r>
            <a:r>
              <a:rPr lang="en-US" baseline="30000" dirty="0">
                <a:effectLst/>
              </a:rPr>
              <a:t>,</a:t>
            </a:r>
            <a:r>
              <a:rPr lang="en-US" baseline="30000" dirty="0">
                <a:effectLst/>
                <a:hlinkClick r:id="rId38"/>
              </a:rPr>
              <a:t>34</a:t>
            </a:r>
            <a:r>
              <a:rPr lang="en-US" baseline="30000" dirty="0">
                <a:effectLst/>
              </a:rPr>
              <a:t>–</a:t>
            </a:r>
            <a:r>
              <a:rPr lang="en-US" baseline="30000" dirty="0">
                <a:effectLst/>
                <a:hlinkClick r:id="rId39"/>
              </a:rPr>
              <a:t>36</a:t>
            </a:r>
            <a:r>
              <a:rPr lang="en-US" dirty="0">
                <a:effectLst/>
              </a:rPr>
              <a:t> (III)</a:t>
            </a:r>
          </a:p>
          <a:p>
            <a:pPr marL="1143000" lvl="2" indent="-228600">
              <a:buFont typeface="Arial" panose="020B0604020202020204" pitchFamily="34" charset="0"/>
              <a:buChar char="•"/>
            </a:pPr>
            <a:r>
              <a:rPr lang="en-US" dirty="0">
                <a:effectLst/>
              </a:rPr>
              <a:t>ii. A “football hold”/twin position (the body of the infant positioned alongside the mother, rather than across the mother's lap, and with the infant's shoulders higher than his or her body) may be more effective than a cross-cradle position.</a:t>
            </a:r>
            <a:r>
              <a:rPr lang="en-US" baseline="30000" dirty="0">
                <a:effectLst/>
                <a:hlinkClick r:id="rId39"/>
              </a:rPr>
              <a:t>36</a:t>
            </a:r>
            <a:r>
              <a:rPr lang="en-US" dirty="0">
                <a:effectLst/>
              </a:rPr>
              <a:t> (III)</a:t>
            </a:r>
          </a:p>
          <a:p>
            <a:pPr marL="1143000" lvl="2" indent="-228600">
              <a:buFont typeface="Arial" panose="020B0604020202020204" pitchFamily="34" charset="0"/>
              <a:buChar char="•"/>
            </a:pPr>
            <a:r>
              <a:rPr lang="en-US" dirty="0">
                <a:effectLst/>
              </a:rPr>
              <a:t>iii. For infants with CP it may also be useful to position the breast toward the “greater segment”—the side of the palate that has the most intact bone. This may facilitate better compression and stop the nipple being pushed into the cleft site.</a:t>
            </a:r>
            <a:r>
              <a:rPr lang="en-US" baseline="30000" dirty="0">
                <a:effectLst/>
                <a:hlinkClick r:id="rId40"/>
              </a:rPr>
              <a:t>37</a:t>
            </a:r>
            <a:r>
              <a:rPr lang="en-US" dirty="0">
                <a:effectLst/>
              </a:rPr>
              <a:t> (III)</a:t>
            </a:r>
          </a:p>
          <a:p>
            <a:pPr marL="1143000" lvl="2" indent="-228600">
              <a:buFont typeface="Arial" panose="020B0604020202020204" pitchFamily="34" charset="0"/>
              <a:buChar char="•"/>
            </a:pPr>
            <a:r>
              <a:rPr lang="en-US" dirty="0">
                <a:effectLst/>
              </a:rPr>
              <a:t>iv. Some experts suggest supporting the infant's chin to stabilize the jaw during sucking</a:t>
            </a:r>
            <a:r>
              <a:rPr lang="en-US" baseline="30000" dirty="0">
                <a:effectLst/>
                <a:hlinkClick r:id="rId36"/>
              </a:rPr>
              <a:t>32</a:t>
            </a:r>
            <a:r>
              <a:rPr lang="en-US" dirty="0">
                <a:effectLst/>
              </a:rPr>
              <a:t> and/or supporting the breast so that it remains in the infant's mouth.</a:t>
            </a:r>
            <a:r>
              <a:rPr lang="en-US" baseline="30000" dirty="0">
                <a:effectLst/>
                <a:hlinkClick r:id="rId37"/>
              </a:rPr>
              <a:t>33</a:t>
            </a:r>
            <a:r>
              <a:rPr lang="en-US" baseline="30000" dirty="0">
                <a:effectLst/>
              </a:rPr>
              <a:t>,</a:t>
            </a:r>
            <a:r>
              <a:rPr lang="en-US" baseline="30000" dirty="0">
                <a:effectLst/>
                <a:hlinkClick r:id="rId41"/>
              </a:rPr>
              <a:t>38</a:t>
            </a:r>
            <a:r>
              <a:rPr lang="en-US" dirty="0">
                <a:effectLst/>
              </a:rPr>
              <a:t> (III)</a:t>
            </a:r>
          </a:p>
          <a:p>
            <a:pPr marL="1143000" lvl="2" indent="-228600">
              <a:buFont typeface="Arial" panose="020B0604020202020204" pitchFamily="34" charset="0"/>
              <a:buChar char="•"/>
            </a:pPr>
            <a:r>
              <a:rPr lang="en-US" dirty="0">
                <a:effectLst/>
              </a:rPr>
              <a:t>v. If the cleft is large, some experts suggest that the breast be tipped downward to stop the nipple being pushed into the cleft.</a:t>
            </a:r>
            <a:r>
              <a:rPr lang="en-US" baseline="30000" dirty="0">
                <a:effectLst/>
                <a:hlinkClick r:id="rId34"/>
              </a:rPr>
              <a:t>30</a:t>
            </a:r>
            <a:r>
              <a:rPr lang="en-US" dirty="0">
                <a:effectLst/>
              </a:rPr>
              <a:t> (III)</a:t>
            </a:r>
          </a:p>
          <a:p>
            <a:pPr marL="1143000" lvl="2" indent="-228600">
              <a:buFont typeface="Arial" panose="020B0604020202020204" pitchFamily="34" charset="0"/>
              <a:buChar char="•"/>
            </a:pPr>
            <a:r>
              <a:rPr lang="en-US" dirty="0">
                <a:effectLst/>
              </a:rPr>
              <a:t>vi. Mothers may need to manually express breastmilk into the baby's mouth to compensate for absent suction and compression and to stimulate the let-down reflex.</a:t>
            </a:r>
            <a:r>
              <a:rPr lang="en-US" baseline="30000" dirty="0">
                <a:effectLst/>
                <a:hlinkClick r:id="rId41"/>
              </a:rPr>
              <a:t>38</a:t>
            </a:r>
            <a:r>
              <a:rPr lang="en-US" dirty="0">
                <a:effectLst/>
              </a:rPr>
              <a:t> (III)</a:t>
            </a:r>
          </a:p>
          <a:p>
            <a:pPr>
              <a:buFont typeface="Arial" panose="020B0604020202020204" pitchFamily="34" charset="0"/>
              <a:buChar char="•"/>
            </a:pPr>
            <a:r>
              <a:rPr lang="en-US" dirty="0">
                <a:effectLst/>
              </a:rPr>
              <a:t>8. If a prosthesis is used for orthopedic alignment prior to surgery, caution should be used in advising parents to use such devices to facilitate breastfeeding, as there is strong evidence that they do not significantly increase feeding efficiency or effectiveness.</a:t>
            </a:r>
            <a:r>
              <a:rPr lang="en-US" baseline="30000" dirty="0">
                <a:effectLst/>
                <a:hlinkClick r:id="rId42"/>
              </a:rPr>
              <a:t>39</a:t>
            </a:r>
            <a:r>
              <a:rPr lang="en-US" baseline="30000" dirty="0">
                <a:effectLst/>
              </a:rPr>
              <a:t>,</a:t>
            </a:r>
            <a:r>
              <a:rPr lang="en-US" baseline="30000" dirty="0">
                <a:effectLst/>
                <a:hlinkClick r:id="rId43"/>
              </a:rPr>
              <a:t>40</a:t>
            </a:r>
            <a:r>
              <a:rPr lang="en-US" dirty="0">
                <a:effectLst/>
              </a:rPr>
              <a:t> (III)</a:t>
            </a:r>
          </a:p>
          <a:p>
            <a:pPr>
              <a:buFont typeface="Arial" panose="020B0604020202020204" pitchFamily="34" charset="0"/>
              <a:buChar char="•"/>
            </a:pPr>
            <a:r>
              <a:rPr lang="en-US" dirty="0">
                <a:effectLst/>
              </a:rPr>
              <a:t>9. Evidence suggests that breastfeeding can commence/recommence immediately following CL repair and that breastfeeding may be slightly more advantageous than spoon feeding.</a:t>
            </a:r>
            <a:r>
              <a:rPr lang="en-US" baseline="30000" dirty="0">
                <a:effectLst/>
                <a:hlinkClick r:id="rId44"/>
              </a:rPr>
              <a:t>41</a:t>
            </a:r>
            <a:r>
              <a:rPr lang="en-US" baseline="30000" dirty="0">
                <a:effectLst/>
              </a:rPr>
              <a:t>,</a:t>
            </a:r>
            <a:r>
              <a:rPr lang="en-US" baseline="30000" dirty="0">
                <a:effectLst/>
                <a:hlinkClick r:id="rId45"/>
              </a:rPr>
              <a:t>42</a:t>
            </a:r>
            <a:r>
              <a:rPr lang="en-US" dirty="0">
                <a:effectLst/>
              </a:rPr>
              <a:t> (I) Breastfeeding can commence/recommence 1 day after CP repair without complication to the wound.</a:t>
            </a:r>
            <a:r>
              <a:rPr lang="en-US" baseline="30000" dirty="0">
                <a:effectLst/>
                <a:hlinkClick r:id="rId44"/>
              </a:rPr>
              <a:t>41</a:t>
            </a:r>
            <a:r>
              <a:rPr lang="en-US" dirty="0">
                <a:effectLst/>
              </a:rPr>
              <a:t> In a survey of CP surgeons regarding postoperative care after </a:t>
            </a:r>
            <a:r>
              <a:rPr lang="en-US" dirty="0" err="1">
                <a:effectLst/>
              </a:rPr>
              <a:t>palatoplasty</a:t>
            </a:r>
            <a:r>
              <a:rPr lang="en-US" dirty="0">
                <a:effectLst/>
              </a:rPr>
              <a:t>, two-thirds of surgeons allowed mothers to breastfeed immediately after surgery.</a:t>
            </a:r>
            <a:r>
              <a:rPr lang="en-US" baseline="30000" dirty="0">
                <a:effectLst/>
                <a:hlinkClick r:id="rId46"/>
              </a:rPr>
              <a:t>43</a:t>
            </a:r>
            <a:r>
              <a:rPr lang="en-US" dirty="0">
                <a:effectLst/>
              </a:rPr>
              <a:t> (III)</a:t>
            </a:r>
          </a:p>
          <a:p>
            <a:pPr>
              <a:buFont typeface="Arial" panose="020B0604020202020204" pitchFamily="34" charset="0"/>
              <a:buChar char="•"/>
            </a:pPr>
            <a:r>
              <a:rPr lang="en-US" dirty="0">
                <a:effectLst/>
              </a:rPr>
              <a:t>10. Assessment of the potential for breastfeeding of infants with CL/P as part of a syndrome/sequence should be made on a case-by-case basis, taking into account the additional features of the syndrome that may impact on breastfeeding success.</a:t>
            </a:r>
          </a:p>
          <a:p>
            <a:r>
              <a:rPr lang="en-US" b="1" dirty="0"/>
              <a:t>Recommendations for future research</a:t>
            </a:r>
          </a:p>
          <a:p>
            <a:r>
              <a:rPr lang="en-US" dirty="0"/>
              <a:t>The most pressing issue for healthcare professionals working with mothers who wish to breastfeed their infants with CL/P is the lack of evidence on which to base clinical decisions. Well-designed, data-driven investigations that document feeding success rates, management strategies, and outcomes for infants with CL/P are imperative. Furthermore, investigators must clearly describe their sample of infants and intervention techniques so that the research outcomes are able to be generalized.</a:t>
            </a:r>
          </a:p>
        </p:txBody>
      </p:sp>
      <p:sp>
        <p:nvSpPr>
          <p:cNvPr id="4" name="Slide Number Placeholder 3"/>
          <p:cNvSpPr>
            <a:spLocks noGrp="1"/>
          </p:cNvSpPr>
          <p:nvPr>
            <p:ph type="sldNum" sz="quarter" idx="10"/>
          </p:nvPr>
        </p:nvSpPr>
        <p:spPr/>
        <p:txBody>
          <a:bodyPr/>
          <a:lstStyle/>
          <a:p>
            <a:fld id="{742E5506-B2FE-470B-BE8C-B51EED410E51}" type="slidenum">
              <a:rPr lang="en-US" smtClean="0"/>
              <a:t>82</a:t>
            </a:fld>
            <a:endParaRPr lang="en-US"/>
          </a:p>
        </p:txBody>
      </p:sp>
    </p:spTree>
    <p:extLst>
      <p:ext uri="{BB962C8B-B14F-4D97-AF65-F5344CB8AC3E}">
        <p14:creationId xmlns:p14="http://schemas.microsoft.com/office/powerpoint/2010/main" val="3563791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Cleft lip and palate</a:t>
            </a:r>
          </a:p>
          <a:p>
            <a:r>
              <a:rPr lang="en-US" dirty="0"/>
              <a:t>From Wikipedia, the free encyclopedia</a:t>
            </a:r>
          </a:p>
          <a:p>
            <a:r>
              <a:rPr lang="en-US" dirty="0"/>
              <a:t>  (Redirected from </a:t>
            </a:r>
            <a:r>
              <a:rPr lang="en-US" dirty="0">
                <a:hlinkClick r:id="rId3" tooltip="Cleft palate"/>
              </a:rPr>
              <a:t>Cleft palate</a:t>
            </a:r>
            <a:r>
              <a:rPr lang="en-US" dirty="0"/>
              <a:t>)</a:t>
            </a:r>
          </a:p>
          <a:p>
            <a:r>
              <a:rPr lang="en-US" dirty="0"/>
              <a:t>Jump to: </a:t>
            </a:r>
            <a:r>
              <a:rPr lang="en-US" dirty="0">
                <a:hlinkClick r:id="rId4"/>
              </a:rPr>
              <a:t>navigation</a:t>
            </a:r>
            <a:r>
              <a:rPr lang="en-US" dirty="0"/>
              <a:t>, </a:t>
            </a:r>
            <a:r>
              <a:rPr lang="en-US" dirty="0">
                <a:hlinkClick r:id="rId5"/>
              </a:rPr>
              <a:t>search</a:t>
            </a:r>
            <a:r>
              <a:rPr lang="en-US" dirty="0"/>
              <a:t> </a:t>
            </a:r>
          </a:p>
          <a:p>
            <a:pPr rtl="0"/>
            <a:r>
              <a:rPr lang="en-US" dirty="0">
                <a:effectLst/>
              </a:rPr>
              <a:t>Cleft lip and palate Child with cleft lip and palate.</a:t>
            </a:r>
          </a:p>
          <a:p>
            <a:pPr rtl="0"/>
            <a:r>
              <a:rPr lang="en-US" dirty="0">
                <a:effectLst/>
              </a:rPr>
              <a:t>Classification and external resources</a:t>
            </a:r>
            <a:r>
              <a:rPr lang="en-US" dirty="0">
                <a:effectLst/>
                <a:hlinkClick r:id="rId6" tooltip="International Statistical Classification of Diseases and Related Health Problems"/>
              </a:rPr>
              <a:t>ICD</a:t>
            </a:r>
            <a:r>
              <a:rPr lang="en-US" dirty="0">
                <a:effectLst/>
              </a:rPr>
              <a:t>-</a:t>
            </a:r>
            <a:r>
              <a:rPr lang="en-US" dirty="0">
                <a:effectLst/>
                <a:hlinkClick r:id="rId7" tooltip="ICD-10"/>
              </a:rPr>
              <a:t>10</a:t>
            </a:r>
            <a:r>
              <a:rPr lang="en-US" dirty="0">
                <a:effectLst/>
                <a:hlinkClick r:id="rId8"/>
              </a:rPr>
              <a:t>Q35</a:t>
            </a:r>
            <a:r>
              <a:rPr lang="en-US" dirty="0">
                <a:effectLst/>
              </a:rPr>
              <a:t>-</a:t>
            </a:r>
            <a:r>
              <a:rPr lang="en-US" dirty="0">
                <a:effectLst/>
                <a:hlinkClick r:id="rId9"/>
              </a:rPr>
              <a:t>Q37</a:t>
            </a:r>
            <a:r>
              <a:rPr lang="en-US" dirty="0">
                <a:effectLst/>
                <a:hlinkClick r:id="rId6" tooltip="International Statistical Classification of Diseases and Related Health Problems"/>
              </a:rPr>
              <a:t>ICD</a:t>
            </a:r>
            <a:r>
              <a:rPr lang="en-US" dirty="0">
                <a:effectLst/>
              </a:rPr>
              <a:t>-</a:t>
            </a:r>
            <a:r>
              <a:rPr lang="en-US" dirty="0">
                <a:effectLst/>
                <a:hlinkClick r:id="rId10" tooltip="List of ICD-9 codes"/>
              </a:rPr>
              <a:t>9</a:t>
            </a:r>
            <a:r>
              <a:rPr lang="en-US" dirty="0">
                <a:effectLst/>
                <a:hlinkClick r:id="rId11"/>
              </a:rPr>
              <a:t>749</a:t>
            </a:r>
            <a:r>
              <a:rPr lang="en-US" dirty="0">
                <a:effectLst/>
                <a:hlinkClick r:id="rId12" tooltip="MedlinePlus"/>
              </a:rPr>
              <a:t>MedlinePlus</a:t>
            </a:r>
            <a:r>
              <a:rPr lang="en-US" dirty="0">
                <a:effectLst/>
                <a:hlinkClick r:id="rId13"/>
              </a:rPr>
              <a:t>001051</a:t>
            </a:r>
            <a:r>
              <a:rPr lang="en-US" dirty="0">
                <a:effectLst/>
                <a:hlinkClick r:id="rId14" tooltip="EMedicine"/>
              </a:rPr>
              <a:t>eMedicine</a:t>
            </a:r>
            <a:r>
              <a:rPr lang="en-US" dirty="0">
                <a:effectLst/>
                <a:hlinkClick r:id="rId15"/>
              </a:rPr>
              <a:t>ped/2679</a:t>
            </a:r>
            <a:r>
              <a:rPr lang="en-US" b="1" dirty="0">
                <a:effectLst/>
              </a:rPr>
              <a:t>Cleft lip and cleft palate</a:t>
            </a:r>
            <a:r>
              <a:rPr lang="en-US" dirty="0">
                <a:effectLst/>
              </a:rPr>
              <a:t>, also known as </a:t>
            </a:r>
            <a:r>
              <a:rPr lang="en-US" b="1" dirty="0">
                <a:effectLst/>
              </a:rPr>
              <a:t>orofacial cleft</a:t>
            </a:r>
            <a:r>
              <a:rPr lang="en-US" dirty="0">
                <a:effectLst/>
              </a:rPr>
              <a:t> and </a:t>
            </a:r>
            <a:r>
              <a:rPr lang="en-US" b="1" dirty="0">
                <a:effectLst/>
              </a:rPr>
              <a:t>cleft lip and palate</a:t>
            </a:r>
            <a:r>
              <a:rPr lang="en-US" dirty="0">
                <a:effectLst/>
              </a:rPr>
              <a:t>, is a group of conditions that includes cleft lip (CL), cleft palate (CP), and both together.</a:t>
            </a:r>
            <a:r>
              <a:rPr lang="en-US" baseline="30000" dirty="0">
                <a:effectLst/>
                <a:hlinkClick r:id="rId16"/>
              </a:rPr>
              <a:t>[1]</a:t>
            </a:r>
            <a:r>
              <a:rPr lang="en-US" baseline="30000" dirty="0">
                <a:effectLst/>
                <a:hlinkClick r:id="rId17"/>
              </a:rPr>
              <a:t>[2]</a:t>
            </a:r>
            <a:r>
              <a:rPr lang="en-US" dirty="0">
                <a:effectLst/>
              </a:rPr>
              <a:t> A cleft lip contains an opening in the upper lip that may extend into the nose. The opening may be on one side, both sides, or in the middle. A cleft </a:t>
            </a:r>
            <a:r>
              <a:rPr lang="en-US" dirty="0">
                <a:effectLst/>
                <a:hlinkClick r:id="rId18" tooltip="Palate"/>
              </a:rPr>
              <a:t>palate</a:t>
            </a:r>
            <a:r>
              <a:rPr lang="en-US" dirty="0">
                <a:effectLst/>
              </a:rPr>
              <a:t> is when the roof of the mouth contains an opening into the </a:t>
            </a:r>
            <a:r>
              <a:rPr lang="en-US" dirty="0">
                <a:effectLst/>
                <a:hlinkClick r:id="rId19" tooltip="Nasal cavity"/>
              </a:rPr>
              <a:t>nose</a:t>
            </a:r>
            <a:r>
              <a:rPr lang="en-US" dirty="0">
                <a:effectLst/>
              </a:rPr>
              <a:t>. These disorders can result in feeding problems, speech problems, hearing problems, and frequent </a:t>
            </a:r>
            <a:r>
              <a:rPr lang="en-US" dirty="0">
                <a:effectLst/>
                <a:hlinkClick r:id="rId20" tooltip="Otitis media"/>
              </a:rPr>
              <a:t>ear infections</a:t>
            </a:r>
            <a:r>
              <a:rPr lang="en-US" dirty="0">
                <a:effectLst/>
              </a:rPr>
              <a:t>. Less than half the time the condition is associated with other disorders.</a:t>
            </a:r>
            <a:r>
              <a:rPr lang="en-US" baseline="30000" dirty="0">
                <a:effectLst/>
                <a:hlinkClick r:id="rId16"/>
              </a:rPr>
              <a:t>[1]</a:t>
            </a:r>
            <a:endParaRPr lang="en-US" dirty="0">
              <a:effectLst/>
            </a:endParaRPr>
          </a:p>
          <a:p>
            <a:pPr rtl="0"/>
            <a:r>
              <a:rPr lang="en-US" dirty="0">
                <a:effectLst/>
              </a:rPr>
              <a:t>Cleft lip and palate is due tissues of the face not properly joining together during development. They are a type of </a:t>
            </a:r>
            <a:r>
              <a:rPr lang="en-US" dirty="0">
                <a:effectLst/>
                <a:hlinkClick r:id="rId21" tooltip="Congenital deformity"/>
              </a:rPr>
              <a:t>birth defect</a:t>
            </a:r>
            <a:r>
              <a:rPr lang="en-US" dirty="0">
                <a:effectLst/>
              </a:rPr>
              <a:t>. The cause in most cases is unknown.</a:t>
            </a:r>
            <a:r>
              <a:rPr lang="en-US" baseline="30000" dirty="0">
                <a:effectLst/>
                <a:hlinkClick r:id="rId16"/>
              </a:rPr>
              <a:t>[1]</a:t>
            </a:r>
            <a:r>
              <a:rPr lang="en-US" dirty="0">
                <a:effectLst/>
              </a:rPr>
              <a:t> Risk factors include smoking during pregnancy, </a:t>
            </a:r>
            <a:r>
              <a:rPr lang="en-US" dirty="0">
                <a:effectLst/>
                <a:hlinkClick r:id="rId22" tooltip="Diabetes mellitus"/>
              </a:rPr>
              <a:t>diabetes</a:t>
            </a:r>
            <a:r>
              <a:rPr lang="en-US" dirty="0">
                <a:effectLst/>
              </a:rPr>
              <a:t>, an older mother, obesity, and certain medications such as some used to treat </a:t>
            </a:r>
            <a:r>
              <a:rPr lang="en-US" dirty="0">
                <a:effectLst/>
                <a:hlinkClick r:id="rId23" tooltip="Seizures"/>
              </a:rPr>
              <a:t>seizures</a:t>
            </a:r>
            <a:r>
              <a:rPr lang="en-US" dirty="0">
                <a:effectLst/>
              </a:rPr>
              <a:t>.</a:t>
            </a:r>
            <a:r>
              <a:rPr lang="en-US" baseline="30000" dirty="0">
                <a:effectLst/>
                <a:hlinkClick r:id="rId16"/>
              </a:rPr>
              <a:t>[1]</a:t>
            </a:r>
            <a:r>
              <a:rPr lang="en-US" baseline="30000" dirty="0">
                <a:effectLst/>
                <a:hlinkClick r:id="rId17"/>
              </a:rPr>
              <a:t>[2]</a:t>
            </a:r>
            <a:r>
              <a:rPr lang="en-US" dirty="0">
                <a:effectLst/>
              </a:rPr>
              <a:t> They can often be diagnosed during an </a:t>
            </a:r>
            <a:r>
              <a:rPr lang="en-US" dirty="0">
                <a:effectLst/>
                <a:hlinkClick r:id="rId24" tooltip="Obstetric ultrasonography"/>
              </a:rPr>
              <a:t>ultrasound done during pregnancy</a:t>
            </a:r>
            <a:r>
              <a:rPr lang="en-US" dirty="0">
                <a:effectLst/>
              </a:rPr>
              <a:t>.</a:t>
            </a:r>
            <a:r>
              <a:rPr lang="en-US" baseline="30000" dirty="0">
                <a:effectLst/>
                <a:hlinkClick r:id="rId16"/>
              </a:rPr>
              <a:t>[1]</a:t>
            </a:r>
            <a:endParaRPr lang="en-US" dirty="0">
              <a:effectLst/>
            </a:endParaRPr>
          </a:p>
          <a:p>
            <a:pPr rtl="0"/>
            <a:r>
              <a:rPr lang="en-US" dirty="0">
                <a:effectLst/>
              </a:rPr>
              <a:t>A cleft lip or palate can be successfully treated with </a:t>
            </a:r>
            <a:r>
              <a:rPr lang="en-US" dirty="0">
                <a:effectLst/>
                <a:hlinkClick r:id="rId25" tooltip="Surgery"/>
              </a:rPr>
              <a:t>surgery</a:t>
            </a:r>
            <a:r>
              <a:rPr lang="en-US" dirty="0">
                <a:effectLst/>
              </a:rPr>
              <a:t>. This is often done in the first few months of life for cleft lip and before eighteen months for cleft palate. </a:t>
            </a:r>
            <a:r>
              <a:rPr lang="en-US" dirty="0">
                <a:effectLst/>
                <a:hlinkClick r:id="rId26" tooltip="Speech therapy"/>
              </a:rPr>
              <a:t>Speech therapy</a:t>
            </a:r>
            <a:r>
              <a:rPr lang="en-US" dirty="0">
                <a:effectLst/>
              </a:rPr>
              <a:t> and dental care may also be needed. With appropriate treatment outcomes are good.</a:t>
            </a:r>
            <a:r>
              <a:rPr lang="en-US" baseline="30000" dirty="0">
                <a:effectLst/>
                <a:hlinkClick r:id="rId16"/>
              </a:rPr>
              <a:t>[1]</a:t>
            </a:r>
            <a:endParaRPr lang="en-US" dirty="0">
              <a:effectLst/>
            </a:endParaRPr>
          </a:p>
          <a:p>
            <a:pPr rtl="0"/>
            <a:r>
              <a:rPr lang="en-US" dirty="0">
                <a:effectLst/>
              </a:rPr>
              <a:t>Cleft lip and palate occurs in about 1 to 2 per 1000 births in the </a:t>
            </a:r>
            <a:r>
              <a:rPr lang="en-US" dirty="0">
                <a:effectLst/>
                <a:hlinkClick r:id="rId27" tooltip="Developed world"/>
              </a:rPr>
              <a:t>developed world</a:t>
            </a:r>
            <a:r>
              <a:rPr lang="en-US" dirty="0">
                <a:effectLst/>
              </a:rPr>
              <a:t>.</a:t>
            </a:r>
            <a:r>
              <a:rPr lang="en-US" baseline="30000" dirty="0">
                <a:effectLst/>
                <a:hlinkClick r:id="rId17"/>
              </a:rPr>
              <a:t>[2]</a:t>
            </a:r>
            <a:r>
              <a:rPr lang="en-US" dirty="0">
                <a:effectLst/>
              </a:rPr>
              <a:t> CL is about twice as common in males as females, while CP without CL is more common in females.</a:t>
            </a:r>
            <a:r>
              <a:rPr lang="en-US" baseline="30000" dirty="0">
                <a:effectLst/>
                <a:hlinkClick r:id="rId17"/>
              </a:rPr>
              <a:t>[2]</a:t>
            </a:r>
            <a:r>
              <a:rPr lang="en-US" dirty="0">
                <a:effectLst/>
              </a:rPr>
              <a:t> In 2013 it resulted in about 3,300 deaths globally down from 7,600 deaths in 1990.</a:t>
            </a:r>
            <a:r>
              <a:rPr lang="en-US" baseline="30000" dirty="0">
                <a:effectLst/>
                <a:hlinkClick r:id="rId28"/>
              </a:rPr>
              <a:t>[3]</a:t>
            </a:r>
            <a:r>
              <a:rPr lang="en-US" dirty="0">
                <a:effectLst/>
              </a:rPr>
              <a:t> The condition was previously known as a </a:t>
            </a:r>
            <a:r>
              <a:rPr lang="en-US" b="1" dirty="0">
                <a:effectLst/>
              </a:rPr>
              <a:t>hare-lip</a:t>
            </a:r>
            <a:r>
              <a:rPr lang="en-US" dirty="0">
                <a:effectLst/>
              </a:rPr>
              <a:t> due to similarity to a </a:t>
            </a:r>
            <a:r>
              <a:rPr lang="en-US" dirty="0">
                <a:effectLst/>
                <a:hlinkClick r:id="rId29" tooltip="Rabbit"/>
              </a:rPr>
              <a:t>rabbit</a:t>
            </a:r>
            <a:r>
              <a:rPr lang="en-US" dirty="0">
                <a:effectLst/>
              </a:rPr>
              <a:t>, but that term is now generally considered to be offensive.</a:t>
            </a:r>
            <a:r>
              <a:rPr lang="en-US" baseline="30000" dirty="0">
                <a:effectLst/>
                <a:hlinkClick r:id="rId30"/>
              </a:rPr>
              <a:t>[4]</a:t>
            </a:r>
            <a:endParaRPr lang="en-US" dirty="0">
              <a:effectLst/>
            </a:endParaRPr>
          </a:p>
          <a:p>
            <a:pPr rtl="0"/>
            <a:r>
              <a:rPr lang="en-US" b="1" dirty="0">
                <a:effectLst/>
              </a:rPr>
              <a:t>Contents</a:t>
            </a:r>
          </a:p>
          <a:p>
            <a:pPr rtl="0"/>
            <a:r>
              <a:rPr lang="en-US" dirty="0">
                <a:effectLst/>
              </a:rPr>
              <a:t> [</a:t>
            </a:r>
            <a:r>
              <a:rPr lang="en-US" dirty="0">
                <a:effectLst/>
                <a:hlinkClick r:id="rId31"/>
              </a:rPr>
              <a:t>hide</a:t>
            </a:r>
            <a:r>
              <a:rPr lang="en-US" dirty="0">
                <a:effectLst/>
              </a:rPr>
              <a:t>] </a:t>
            </a:r>
          </a:p>
          <a:p>
            <a:pPr rtl="0"/>
            <a:r>
              <a:rPr lang="en-US" dirty="0">
                <a:effectLst/>
                <a:hlinkClick r:id="rId32"/>
              </a:rPr>
              <a:t>1 Signs and symptoms</a:t>
            </a:r>
            <a:r>
              <a:rPr lang="en-US" dirty="0">
                <a:effectLst/>
              </a:rPr>
              <a:t> </a:t>
            </a:r>
          </a:p>
          <a:p>
            <a:pPr lvl="1" rtl="0"/>
            <a:r>
              <a:rPr lang="en-US" dirty="0">
                <a:effectLst/>
                <a:hlinkClick r:id="rId33"/>
              </a:rPr>
              <a:t>1.1 Cleft palate</a:t>
            </a:r>
            <a:endParaRPr lang="en-US" dirty="0">
              <a:effectLst/>
            </a:endParaRPr>
          </a:p>
          <a:p>
            <a:pPr lvl="1" rtl="0"/>
            <a:r>
              <a:rPr lang="en-US" dirty="0">
                <a:effectLst/>
                <a:hlinkClick r:id="rId34"/>
              </a:rPr>
              <a:t>1.2 Psychosocial</a:t>
            </a:r>
            <a:endParaRPr lang="en-US" dirty="0">
              <a:effectLst/>
            </a:endParaRPr>
          </a:p>
          <a:p>
            <a:pPr lvl="1" rtl="0"/>
            <a:r>
              <a:rPr lang="en-US" dirty="0">
                <a:effectLst/>
                <a:hlinkClick r:id="rId35"/>
              </a:rPr>
              <a:t>1.3 Complications</a:t>
            </a:r>
            <a:endParaRPr lang="en-US" dirty="0">
              <a:effectLst/>
            </a:endParaRPr>
          </a:p>
          <a:p>
            <a:pPr rtl="0"/>
            <a:r>
              <a:rPr lang="en-US" dirty="0">
                <a:effectLst/>
                <a:hlinkClick r:id="rId36"/>
              </a:rPr>
              <a:t>2 Cause</a:t>
            </a:r>
            <a:r>
              <a:rPr lang="en-US" dirty="0">
                <a:effectLst/>
              </a:rPr>
              <a:t> </a:t>
            </a:r>
          </a:p>
          <a:p>
            <a:pPr lvl="1" rtl="0"/>
            <a:r>
              <a:rPr lang="en-US" dirty="0">
                <a:effectLst/>
                <a:hlinkClick r:id="rId37"/>
              </a:rPr>
              <a:t>2.1 Genetics</a:t>
            </a:r>
            <a:r>
              <a:rPr lang="en-US" dirty="0">
                <a:effectLst/>
              </a:rPr>
              <a:t> </a:t>
            </a:r>
          </a:p>
          <a:p>
            <a:pPr lvl="2" rtl="0"/>
            <a:r>
              <a:rPr lang="en-US" dirty="0">
                <a:effectLst/>
                <a:hlinkClick r:id="rId38"/>
              </a:rPr>
              <a:t>2.1.1 Syndromes</a:t>
            </a:r>
            <a:endParaRPr lang="en-US" dirty="0">
              <a:effectLst/>
            </a:endParaRPr>
          </a:p>
          <a:p>
            <a:pPr lvl="2" rtl="0"/>
            <a:r>
              <a:rPr lang="en-US" dirty="0">
                <a:effectLst/>
                <a:hlinkClick r:id="rId39"/>
              </a:rPr>
              <a:t>2.1.2 Specific genes</a:t>
            </a:r>
            <a:endParaRPr lang="en-US" dirty="0">
              <a:effectLst/>
            </a:endParaRPr>
          </a:p>
          <a:p>
            <a:pPr lvl="1" rtl="0"/>
            <a:r>
              <a:rPr lang="en-US" dirty="0">
                <a:effectLst/>
                <a:hlinkClick r:id="rId40"/>
              </a:rPr>
              <a:t>2.2 Environment</a:t>
            </a:r>
            <a:endParaRPr lang="en-US" dirty="0">
              <a:effectLst/>
            </a:endParaRPr>
          </a:p>
          <a:p>
            <a:pPr rtl="0"/>
            <a:r>
              <a:rPr lang="en-US" dirty="0">
                <a:effectLst/>
                <a:hlinkClick r:id="rId41"/>
              </a:rPr>
              <a:t>3 Diagnosis</a:t>
            </a:r>
            <a:endParaRPr lang="en-US" dirty="0">
              <a:effectLst/>
            </a:endParaRPr>
          </a:p>
          <a:p>
            <a:pPr rtl="0"/>
            <a:r>
              <a:rPr lang="en-US" dirty="0">
                <a:effectLst/>
                <a:hlinkClick r:id="rId42"/>
              </a:rPr>
              <a:t>4 Treatment</a:t>
            </a:r>
            <a:r>
              <a:rPr lang="en-US" dirty="0">
                <a:effectLst/>
              </a:rPr>
              <a:t> </a:t>
            </a:r>
          </a:p>
          <a:p>
            <a:pPr lvl="1" rtl="0"/>
            <a:r>
              <a:rPr lang="en-US" dirty="0">
                <a:effectLst/>
                <a:hlinkClick r:id="rId43"/>
              </a:rPr>
              <a:t>4.1 Cleft lip</a:t>
            </a:r>
            <a:r>
              <a:rPr lang="en-US" dirty="0">
                <a:effectLst/>
              </a:rPr>
              <a:t> </a:t>
            </a:r>
          </a:p>
          <a:p>
            <a:pPr lvl="2" rtl="0"/>
            <a:r>
              <a:rPr lang="en-US" dirty="0">
                <a:effectLst/>
                <a:hlinkClick r:id="rId44"/>
              </a:rPr>
              <a:t>4.1.1 Pre-surgical devices</a:t>
            </a:r>
            <a:endParaRPr lang="en-US" dirty="0">
              <a:effectLst/>
            </a:endParaRPr>
          </a:p>
          <a:p>
            <a:pPr lvl="1" rtl="0"/>
            <a:r>
              <a:rPr lang="en-US" dirty="0">
                <a:effectLst/>
                <a:hlinkClick r:id="rId45"/>
              </a:rPr>
              <a:t>4.2 Cleft palate</a:t>
            </a:r>
            <a:endParaRPr lang="en-US" dirty="0">
              <a:effectLst/>
            </a:endParaRPr>
          </a:p>
          <a:p>
            <a:pPr lvl="1" rtl="0"/>
            <a:r>
              <a:rPr lang="en-US" dirty="0">
                <a:effectLst/>
                <a:hlinkClick r:id="rId46"/>
              </a:rPr>
              <a:t>4.3 Speech and hearing</a:t>
            </a:r>
            <a:endParaRPr lang="en-US" dirty="0">
              <a:effectLst/>
            </a:endParaRPr>
          </a:p>
          <a:p>
            <a:pPr lvl="1" rtl="0"/>
            <a:r>
              <a:rPr lang="en-US" dirty="0">
                <a:effectLst/>
                <a:hlinkClick r:id="rId47"/>
              </a:rPr>
              <a:t>4.4 Hearing loss</a:t>
            </a:r>
            <a:endParaRPr lang="en-US" dirty="0">
              <a:effectLst/>
            </a:endParaRPr>
          </a:p>
          <a:p>
            <a:pPr lvl="1" rtl="0"/>
            <a:r>
              <a:rPr lang="en-US" dirty="0">
                <a:effectLst/>
                <a:hlinkClick r:id="rId48"/>
              </a:rPr>
              <a:t>4.5 Sample treatment schedule</a:t>
            </a:r>
            <a:endParaRPr lang="en-US" dirty="0">
              <a:effectLst/>
            </a:endParaRPr>
          </a:p>
          <a:p>
            <a:pPr lvl="1" rtl="0"/>
            <a:r>
              <a:rPr lang="en-US" dirty="0">
                <a:effectLst/>
                <a:hlinkClick r:id="rId49"/>
              </a:rPr>
              <a:t>4.6 Craniofacial team</a:t>
            </a:r>
            <a:endParaRPr lang="en-US" dirty="0">
              <a:effectLst/>
            </a:endParaRPr>
          </a:p>
          <a:p>
            <a:pPr rtl="0"/>
            <a:r>
              <a:rPr lang="en-US" dirty="0">
                <a:effectLst/>
                <a:hlinkClick r:id="rId50"/>
              </a:rPr>
              <a:t>5 Epidemiology</a:t>
            </a:r>
            <a:endParaRPr lang="en-US" dirty="0">
              <a:effectLst/>
            </a:endParaRPr>
          </a:p>
          <a:p>
            <a:pPr rtl="0"/>
            <a:r>
              <a:rPr lang="en-US" dirty="0">
                <a:effectLst/>
                <a:hlinkClick r:id="rId51"/>
              </a:rPr>
              <a:t>6 Society and culture</a:t>
            </a:r>
            <a:r>
              <a:rPr lang="en-US" dirty="0">
                <a:effectLst/>
              </a:rPr>
              <a:t> </a:t>
            </a:r>
          </a:p>
          <a:p>
            <a:pPr lvl="1" rtl="0"/>
            <a:r>
              <a:rPr lang="en-US" dirty="0">
                <a:effectLst/>
                <a:hlinkClick r:id="rId52"/>
              </a:rPr>
              <a:t>6.1 Names</a:t>
            </a:r>
            <a:endParaRPr lang="en-US" dirty="0">
              <a:effectLst/>
            </a:endParaRPr>
          </a:p>
          <a:p>
            <a:pPr lvl="1" rtl="0"/>
            <a:r>
              <a:rPr lang="en-US" dirty="0">
                <a:effectLst/>
                <a:hlinkClick r:id="rId53"/>
              </a:rPr>
              <a:t>6.2 Controversy</a:t>
            </a:r>
            <a:endParaRPr lang="en-US" dirty="0">
              <a:effectLst/>
            </a:endParaRPr>
          </a:p>
          <a:p>
            <a:pPr lvl="1" rtl="0"/>
            <a:r>
              <a:rPr lang="en-US" dirty="0">
                <a:effectLst/>
                <a:hlinkClick r:id="rId54"/>
              </a:rPr>
              <a:t>6.3 Notable cases</a:t>
            </a:r>
            <a:endParaRPr lang="en-US" dirty="0">
              <a:effectLst/>
            </a:endParaRPr>
          </a:p>
          <a:p>
            <a:pPr lvl="1" rtl="0"/>
            <a:r>
              <a:rPr lang="en-US" dirty="0">
                <a:effectLst/>
                <a:hlinkClick r:id="rId55"/>
              </a:rPr>
              <a:t>6.4 Works of fiction</a:t>
            </a:r>
            <a:endParaRPr lang="en-US" dirty="0">
              <a:effectLst/>
            </a:endParaRPr>
          </a:p>
          <a:p>
            <a:pPr rtl="0"/>
            <a:r>
              <a:rPr lang="en-US" dirty="0">
                <a:effectLst/>
                <a:hlinkClick r:id="rId56"/>
              </a:rPr>
              <a:t>7 Other animals</a:t>
            </a:r>
            <a:endParaRPr lang="en-US" dirty="0">
              <a:effectLst/>
            </a:endParaRPr>
          </a:p>
          <a:p>
            <a:pPr rtl="0"/>
            <a:r>
              <a:rPr lang="en-US" dirty="0">
                <a:effectLst/>
                <a:hlinkClick r:id="rId57"/>
              </a:rPr>
              <a:t>8 See also</a:t>
            </a:r>
            <a:endParaRPr lang="en-US" dirty="0">
              <a:effectLst/>
            </a:endParaRPr>
          </a:p>
          <a:p>
            <a:pPr rtl="0"/>
            <a:r>
              <a:rPr lang="en-US" dirty="0">
                <a:effectLst/>
                <a:hlinkClick r:id="rId58"/>
              </a:rPr>
              <a:t>9 References</a:t>
            </a:r>
            <a:endParaRPr lang="en-US" dirty="0">
              <a:effectLst/>
            </a:endParaRPr>
          </a:p>
          <a:p>
            <a:pPr rtl="0"/>
            <a:r>
              <a:rPr lang="en-US" dirty="0">
                <a:effectLst/>
                <a:hlinkClick r:id="rId59"/>
              </a:rPr>
              <a:t>10 Further reading</a:t>
            </a:r>
            <a:endParaRPr lang="en-US" dirty="0">
              <a:effectLst/>
            </a:endParaRPr>
          </a:p>
          <a:p>
            <a:pPr rtl="0"/>
            <a:r>
              <a:rPr lang="en-US" dirty="0">
                <a:effectLst/>
                <a:hlinkClick r:id="rId60"/>
              </a:rPr>
              <a:t>11 External links</a:t>
            </a:r>
            <a:endParaRPr lang="en-US" dirty="0">
              <a:effectLst/>
            </a:endParaRPr>
          </a:p>
          <a:p>
            <a:pPr rtl="0"/>
            <a:r>
              <a:rPr lang="en-US" b="1" dirty="0">
                <a:effectLst/>
              </a:rPr>
              <a:t>Signs and symptoms</a:t>
            </a:r>
          </a:p>
          <a:p>
            <a:pPr rtl="0"/>
            <a:r>
              <a:rPr lang="en-US" dirty="0">
                <a:effectLst/>
              </a:rPr>
              <a:t>If the cleft does not affect the palate structure of the mouth it is referred to as cleft lip. Cleft lip is formed in the top of the lip as either a small gap or an indentation in the lip (partial or incomplete cleft) or it continues into the nose (complete cleft). Lip cleft can occur as a one sided (unilateral) or two sided (bilateral). It is due to the failure of fusion of the maxillary and medial </a:t>
            </a:r>
            <a:r>
              <a:rPr lang="en-US" dirty="0">
                <a:effectLst/>
                <a:hlinkClick r:id="rId61" tooltip="Nasal processes"/>
              </a:rPr>
              <a:t>nasal processes</a:t>
            </a:r>
            <a:r>
              <a:rPr lang="en-US" dirty="0">
                <a:effectLst/>
              </a:rPr>
              <a:t> (formation of the primary palate).</a:t>
            </a:r>
          </a:p>
          <a:p>
            <a:pPr rtl="0"/>
            <a:r>
              <a:rPr lang="en-US" dirty="0">
                <a:effectLst/>
              </a:rPr>
              <a:t>Unilateral incomplete</a:t>
            </a:r>
          </a:p>
          <a:p>
            <a:pPr rtl="0"/>
            <a:r>
              <a:rPr lang="en-US" dirty="0">
                <a:effectLst/>
              </a:rPr>
              <a:t>Unilateral complete</a:t>
            </a:r>
          </a:p>
          <a:p>
            <a:pPr rtl="0"/>
            <a:r>
              <a:rPr lang="en-US" dirty="0">
                <a:effectLst/>
              </a:rPr>
              <a:t>Bilateral complete</a:t>
            </a:r>
          </a:p>
          <a:p>
            <a:pPr rtl="0"/>
            <a:r>
              <a:rPr lang="en-US" dirty="0">
                <a:effectLst/>
              </a:rPr>
              <a:t>A mild form of a cleft lip is a microform cleft.</a:t>
            </a:r>
            <a:r>
              <a:rPr lang="en-US" baseline="30000" dirty="0">
                <a:effectLst/>
                <a:hlinkClick r:id="rId62"/>
              </a:rPr>
              <a:t>[5]</a:t>
            </a:r>
            <a:r>
              <a:rPr lang="en-US" dirty="0">
                <a:effectLst/>
              </a:rPr>
              <a:t> A microform cleft can appear as small as a little dent in the red part of the lip or look like a scar from the lip up to the nostril.</a:t>
            </a:r>
            <a:r>
              <a:rPr lang="en-US" baseline="30000" dirty="0">
                <a:effectLst/>
                <a:hlinkClick r:id="rId63"/>
              </a:rPr>
              <a:t>[6]</a:t>
            </a:r>
            <a:r>
              <a:rPr lang="en-US" dirty="0">
                <a:effectLst/>
              </a:rPr>
              <a:t> In some cases </a:t>
            </a:r>
            <a:r>
              <a:rPr lang="en-US" dirty="0">
                <a:effectLst/>
                <a:hlinkClick r:id="rId64" tooltip="Orbicularis oris muscle"/>
              </a:rPr>
              <a:t>muscle tissue in the lip</a:t>
            </a:r>
            <a:r>
              <a:rPr lang="en-US" dirty="0">
                <a:effectLst/>
              </a:rPr>
              <a:t> underneath the scar is affected and might require reconstructive surgery.</a:t>
            </a:r>
            <a:r>
              <a:rPr lang="en-US" baseline="30000" dirty="0">
                <a:effectLst/>
                <a:hlinkClick r:id="rId65"/>
              </a:rPr>
              <a:t>[7]</a:t>
            </a:r>
            <a:r>
              <a:rPr lang="en-US" dirty="0">
                <a:effectLst/>
              </a:rPr>
              <a:t> It is advised to have newborn infants with a microform cleft checked with a </a:t>
            </a:r>
            <a:r>
              <a:rPr lang="en-US" dirty="0">
                <a:effectLst/>
                <a:hlinkClick r:id="rId66" tooltip="Craniofacial team"/>
              </a:rPr>
              <a:t>craniofacial team</a:t>
            </a:r>
            <a:r>
              <a:rPr lang="en-US" dirty="0">
                <a:effectLst/>
              </a:rPr>
              <a:t> as soon as possible to determine the severity of the cleft.</a:t>
            </a:r>
            <a:r>
              <a:rPr lang="en-US" baseline="30000" dirty="0">
                <a:effectLst/>
                <a:hlinkClick r:id="rId67"/>
              </a:rPr>
              <a:t>[8]</a:t>
            </a:r>
            <a:endParaRPr lang="en-US" dirty="0">
              <a:effectLst/>
            </a:endParaRPr>
          </a:p>
          <a:p>
            <a:pPr rtl="0"/>
            <a:r>
              <a:rPr lang="en-US" dirty="0">
                <a:effectLst/>
              </a:rPr>
              <a:t>Six-month-old girl before going into surgery to have her unilateral complete cleft lip repaired</a:t>
            </a:r>
          </a:p>
          <a:p>
            <a:pPr rtl="0"/>
            <a:r>
              <a:rPr lang="en-US" dirty="0">
                <a:effectLst/>
              </a:rPr>
              <a:t>The same girl, 1 month after the surgery</a:t>
            </a:r>
          </a:p>
          <a:p>
            <a:pPr rtl="0"/>
            <a:r>
              <a:rPr lang="en-US" dirty="0">
                <a:effectLst/>
              </a:rPr>
              <a:t>The same girl, age 8, the scar almost gone</a:t>
            </a:r>
          </a:p>
          <a:p>
            <a:pPr rtl="0"/>
            <a:r>
              <a:rPr lang="en-US" b="1" dirty="0">
                <a:effectLst/>
              </a:rPr>
              <a:t>Cleft palate</a:t>
            </a:r>
          </a:p>
          <a:p>
            <a:pPr rtl="0"/>
            <a:r>
              <a:rPr lang="en-US" dirty="0">
                <a:effectLst/>
              </a:rPr>
              <a:t>Cleft palate is a condition in which the two plates of the </a:t>
            </a:r>
            <a:r>
              <a:rPr lang="en-US" dirty="0">
                <a:effectLst/>
                <a:hlinkClick r:id="rId68" tooltip="Human skull"/>
              </a:rPr>
              <a:t>skull</a:t>
            </a:r>
            <a:r>
              <a:rPr lang="en-US" dirty="0">
                <a:effectLst/>
              </a:rPr>
              <a:t> that form the </a:t>
            </a:r>
            <a:r>
              <a:rPr lang="en-US" dirty="0">
                <a:effectLst/>
                <a:hlinkClick r:id="rId69" tooltip="Hard palate"/>
              </a:rPr>
              <a:t>hard palate</a:t>
            </a:r>
            <a:r>
              <a:rPr lang="en-US" dirty="0">
                <a:effectLst/>
              </a:rPr>
              <a:t> (roof of the mouth) are not completely joined. The </a:t>
            </a:r>
            <a:r>
              <a:rPr lang="en-US" dirty="0">
                <a:effectLst/>
                <a:hlinkClick r:id="rId70" tooltip="Soft palate"/>
              </a:rPr>
              <a:t>soft palate</a:t>
            </a:r>
            <a:r>
              <a:rPr lang="en-US" dirty="0">
                <a:effectLst/>
              </a:rPr>
              <a:t> is in these cases cleft as well. In most cases, cleft lip is also present. Cleft palate occurs in about one in 700 live births worldwide.</a:t>
            </a:r>
            <a:r>
              <a:rPr lang="en-US" baseline="30000" dirty="0">
                <a:effectLst/>
                <a:hlinkClick r:id="rId71"/>
              </a:rPr>
              <a:t>[9]</a:t>
            </a:r>
            <a:endParaRPr lang="en-US" dirty="0">
              <a:effectLst/>
            </a:endParaRPr>
          </a:p>
          <a:p>
            <a:pPr rtl="0"/>
            <a:r>
              <a:rPr lang="en-US" dirty="0">
                <a:effectLst/>
              </a:rPr>
              <a:t>Palate cleft can occur as complete (soft and hard palate, possibly including a gap in the jaw) or incomplete (a 'hole' in the roof of the mouth, usually as a cleft soft palate). When cleft palate occurs, the </a:t>
            </a:r>
            <a:r>
              <a:rPr lang="en-US" dirty="0">
                <a:effectLst/>
                <a:hlinkClick r:id="rId72" tooltip="Palatine uvula"/>
              </a:rPr>
              <a:t>uvula</a:t>
            </a:r>
            <a:r>
              <a:rPr lang="en-US" dirty="0">
                <a:effectLst/>
              </a:rPr>
              <a:t> is usually split. It occurs due to the failure of fusion of the lateral palatine processes, the nasal septum, and/or the median palatine processes (formation of the </a:t>
            </a:r>
            <a:r>
              <a:rPr lang="en-US" dirty="0">
                <a:effectLst/>
                <a:hlinkClick r:id="rId73" tooltip="Secondary palate"/>
              </a:rPr>
              <a:t>secondary palate</a:t>
            </a:r>
            <a:r>
              <a:rPr lang="en-US" dirty="0">
                <a:effectLst/>
              </a:rPr>
              <a:t>).</a:t>
            </a:r>
          </a:p>
          <a:p>
            <a:pPr rtl="0"/>
            <a:r>
              <a:rPr lang="en-US" dirty="0">
                <a:effectLst/>
              </a:rPr>
              <a:t>The hole in the roof of the mouth caused by a cleft connects the mouth directly to the </a:t>
            </a:r>
            <a:r>
              <a:rPr lang="en-US" dirty="0">
                <a:effectLst/>
                <a:hlinkClick r:id="rId19" tooltip="Nasal cavity"/>
              </a:rPr>
              <a:t>inside of the nose</a:t>
            </a:r>
            <a:r>
              <a:rPr lang="en-US" dirty="0">
                <a:effectLst/>
              </a:rPr>
              <a:t>.</a:t>
            </a:r>
          </a:p>
          <a:p>
            <a:pPr rtl="0"/>
            <a:r>
              <a:rPr lang="en-US" dirty="0">
                <a:effectLst/>
              </a:rPr>
              <a:t>Note: the next images show the roof of the mouth. The top shows the nose, the lips are colored pink. For clarity the images depict a toothless infant.</a:t>
            </a:r>
          </a:p>
          <a:p>
            <a:pPr rtl="0"/>
            <a:r>
              <a:rPr lang="en-US" dirty="0">
                <a:effectLst/>
              </a:rPr>
              <a:t>Incomplete cleft palate</a:t>
            </a:r>
          </a:p>
          <a:p>
            <a:pPr rtl="0"/>
            <a:r>
              <a:rPr lang="en-US" dirty="0">
                <a:effectLst/>
              </a:rPr>
              <a:t>Unilateral complete lip and palate</a:t>
            </a:r>
          </a:p>
          <a:p>
            <a:pPr rtl="0"/>
            <a:r>
              <a:rPr lang="en-US" dirty="0">
                <a:effectLst/>
              </a:rPr>
              <a:t>Bilateral complete lip and palate</a:t>
            </a:r>
          </a:p>
          <a:p>
            <a:pPr rtl="0"/>
            <a:r>
              <a:rPr lang="en-US" dirty="0">
                <a:effectLst/>
              </a:rPr>
              <a:t>A result of an open connection between the </a:t>
            </a:r>
            <a:r>
              <a:rPr lang="en-US" dirty="0">
                <a:effectLst/>
                <a:hlinkClick r:id="rId74" tooltip="Oral cavity"/>
              </a:rPr>
              <a:t>mouth</a:t>
            </a:r>
            <a:r>
              <a:rPr lang="en-US" dirty="0">
                <a:effectLst/>
              </a:rPr>
              <a:t> and inside the nose is called </a:t>
            </a:r>
            <a:r>
              <a:rPr lang="en-US" dirty="0">
                <a:effectLst/>
                <a:hlinkClick r:id="rId75" tooltip="Velopharyngeal insufficiency"/>
              </a:rPr>
              <a:t>velopharyngeal inadequacy</a:t>
            </a:r>
            <a:r>
              <a:rPr lang="en-US" dirty="0">
                <a:effectLst/>
              </a:rPr>
              <a:t> (VPI). Because of the gap, air leaks into the nasal cavity resulting in a </a:t>
            </a:r>
            <a:r>
              <a:rPr lang="en-US" dirty="0" err="1">
                <a:effectLst/>
              </a:rPr>
              <a:t>hypernasal</a:t>
            </a:r>
            <a:r>
              <a:rPr lang="en-US" dirty="0">
                <a:effectLst/>
              </a:rPr>
              <a:t> </a:t>
            </a:r>
            <a:r>
              <a:rPr lang="en-US" dirty="0">
                <a:effectLst/>
                <a:hlinkClick r:id="rId76" tooltip="Voice"/>
              </a:rPr>
              <a:t>voice</a:t>
            </a:r>
            <a:r>
              <a:rPr lang="en-US" dirty="0">
                <a:effectLst/>
              </a:rPr>
              <a:t> </a:t>
            </a:r>
            <a:r>
              <a:rPr lang="en-US" dirty="0">
                <a:effectLst/>
                <a:hlinkClick r:id="rId77" tooltip="Resonance"/>
              </a:rPr>
              <a:t>resonance</a:t>
            </a:r>
            <a:r>
              <a:rPr lang="en-US" dirty="0">
                <a:effectLst/>
              </a:rPr>
              <a:t> and nasal emissions while talking.</a:t>
            </a:r>
            <a:r>
              <a:rPr lang="en-US" baseline="30000" dirty="0">
                <a:effectLst/>
                <a:hlinkClick r:id="rId78"/>
              </a:rPr>
              <a:t>[10]</a:t>
            </a:r>
            <a:r>
              <a:rPr lang="en-US" dirty="0">
                <a:effectLst/>
              </a:rPr>
              <a:t> Secondary effects of VPI include speech </a:t>
            </a:r>
            <a:r>
              <a:rPr lang="en-US" dirty="0">
                <a:effectLst/>
                <a:hlinkClick r:id="rId79" tooltip="Manner of articulation"/>
              </a:rPr>
              <a:t>articulation</a:t>
            </a:r>
            <a:r>
              <a:rPr lang="en-US" dirty="0">
                <a:effectLst/>
              </a:rPr>
              <a:t> errors (e.g., </a:t>
            </a:r>
            <a:r>
              <a:rPr lang="en-US" dirty="0">
                <a:effectLst/>
                <a:hlinkClick r:id="rId80" tooltip="Distortions"/>
              </a:rPr>
              <a:t>distortions</a:t>
            </a:r>
            <a:r>
              <a:rPr lang="en-US" dirty="0">
                <a:effectLst/>
              </a:rPr>
              <a:t>, substitutions, and omissions) and compensatory </a:t>
            </a:r>
            <a:r>
              <a:rPr lang="en-US" dirty="0" err="1">
                <a:effectLst/>
              </a:rPr>
              <a:t>misarticulations</a:t>
            </a:r>
            <a:r>
              <a:rPr lang="en-US" dirty="0">
                <a:effectLst/>
              </a:rPr>
              <a:t> and mispronunciations (e.g., </a:t>
            </a:r>
            <a:r>
              <a:rPr lang="en-US" dirty="0">
                <a:effectLst/>
                <a:hlinkClick r:id="rId81" tooltip="Glottal stop"/>
              </a:rPr>
              <a:t>glottal stops</a:t>
            </a:r>
            <a:r>
              <a:rPr lang="en-US" dirty="0">
                <a:effectLst/>
              </a:rPr>
              <a:t> and posterior nasal </a:t>
            </a:r>
            <a:r>
              <a:rPr lang="en-US" dirty="0">
                <a:effectLst/>
                <a:hlinkClick r:id="rId82" tooltip="Fricative"/>
              </a:rPr>
              <a:t>fricatives</a:t>
            </a:r>
            <a:r>
              <a:rPr lang="en-US" dirty="0">
                <a:effectLst/>
              </a:rPr>
              <a:t>).</a:t>
            </a:r>
            <a:r>
              <a:rPr lang="en-US" baseline="30000" dirty="0">
                <a:effectLst/>
                <a:hlinkClick r:id="rId83"/>
              </a:rPr>
              <a:t>[11]</a:t>
            </a:r>
            <a:r>
              <a:rPr lang="en-US" dirty="0">
                <a:effectLst/>
              </a:rPr>
              <a:t> Possible treatment options include </a:t>
            </a:r>
            <a:r>
              <a:rPr lang="en-US" dirty="0">
                <a:effectLst/>
                <a:hlinkClick r:id="rId26" tooltip="Speech therapy"/>
              </a:rPr>
              <a:t>speech therapy</a:t>
            </a:r>
            <a:r>
              <a:rPr lang="en-US" dirty="0">
                <a:effectLst/>
              </a:rPr>
              <a:t>, prosthetics, augmentation of the posterior pharyngeal wall, lengthening of the palate, and </a:t>
            </a:r>
            <a:r>
              <a:rPr lang="en-US" dirty="0">
                <a:effectLst/>
                <a:hlinkClick r:id="rId84" tooltip="Pharyngeal flap surgery"/>
              </a:rPr>
              <a:t>surgical procedures</a:t>
            </a:r>
            <a:r>
              <a:rPr lang="en-US" dirty="0">
                <a:effectLst/>
              </a:rPr>
              <a:t>.</a:t>
            </a:r>
            <a:r>
              <a:rPr lang="en-US" baseline="30000" dirty="0">
                <a:effectLst/>
                <a:hlinkClick r:id="rId78"/>
              </a:rPr>
              <a:t>[10]</a:t>
            </a:r>
            <a:endParaRPr lang="en-US" dirty="0">
              <a:effectLst/>
            </a:endParaRPr>
          </a:p>
          <a:p>
            <a:pPr rtl="0"/>
            <a:r>
              <a:rPr lang="en-US" dirty="0" err="1">
                <a:effectLst/>
              </a:rPr>
              <a:t>Submucous</a:t>
            </a:r>
            <a:r>
              <a:rPr lang="en-US" dirty="0">
                <a:effectLst/>
              </a:rPr>
              <a:t> cleft palate (SMCP) can also occur, which is a cleft of the soft palate with a classic clinical triad of a bifid, or split, uvula which is found dangling in the back of the throat, a furrow along the midline of the soft palate, and a notch in the back margin of the hard palate.</a:t>
            </a:r>
            <a:r>
              <a:rPr lang="en-US" baseline="30000" dirty="0">
                <a:effectLst/>
                <a:hlinkClick r:id="rId85"/>
              </a:rPr>
              <a:t>[12]</a:t>
            </a:r>
            <a:endParaRPr lang="en-US" dirty="0">
              <a:effectLst/>
            </a:endParaRPr>
          </a:p>
          <a:p>
            <a:pPr rtl="0"/>
            <a:r>
              <a:rPr lang="en-US" b="1" dirty="0">
                <a:effectLst/>
              </a:rPr>
              <a:t>Psychosocial</a:t>
            </a:r>
          </a:p>
          <a:p>
            <a:pPr rtl="0"/>
            <a:r>
              <a:rPr lang="en-US" dirty="0">
                <a:effectLst/>
              </a:rPr>
              <a:t>Most children who have their clefts repaired early enough are able to have a happy youth and social life.</a:t>
            </a:r>
            <a:r>
              <a:rPr lang="en-US" baseline="30000" dirty="0">
                <a:effectLst/>
              </a:rPr>
              <a:t>[</a:t>
            </a:r>
            <a:r>
              <a:rPr lang="en-US" i="1" baseline="30000" dirty="0">
                <a:effectLst/>
                <a:hlinkClick r:id="rId86" tooltip="Wikipedia:Citation needed"/>
              </a:rPr>
              <a:t>citation needed</a:t>
            </a:r>
            <a:r>
              <a:rPr lang="en-US" baseline="30000" dirty="0">
                <a:effectLst/>
              </a:rPr>
              <a:t>]</a:t>
            </a:r>
            <a:r>
              <a:rPr lang="en-US" dirty="0">
                <a:effectLst/>
              </a:rPr>
              <a:t> Having a cleft palate/lip does not inevitably lead to a psychosocial problem.</a:t>
            </a:r>
            <a:r>
              <a:rPr lang="en-US" baseline="30000" dirty="0">
                <a:effectLst/>
              </a:rPr>
              <a:t>[</a:t>
            </a:r>
            <a:r>
              <a:rPr lang="en-US" i="1" baseline="30000" dirty="0">
                <a:effectLst/>
                <a:hlinkClick r:id="rId86" tooltip="Wikipedia:Citation needed"/>
              </a:rPr>
              <a:t>citation needed</a:t>
            </a:r>
            <a:r>
              <a:rPr lang="en-US" baseline="30000" dirty="0">
                <a:effectLst/>
              </a:rPr>
              <a:t>]</a:t>
            </a:r>
            <a:r>
              <a:rPr lang="en-US" dirty="0">
                <a:effectLst/>
              </a:rPr>
              <a:t> However, adolescents with cleft palate/lip are at an elevated risk for developing psychosocial problems especially those relating to self-concept, peer relationships and appearance. Adolescents may face psychosocial challenges but can find professional help if problems arise.</a:t>
            </a:r>
            <a:r>
              <a:rPr lang="en-US" baseline="30000" dirty="0">
                <a:effectLst/>
              </a:rPr>
              <a:t>[</a:t>
            </a:r>
            <a:r>
              <a:rPr lang="en-US" i="1" baseline="30000" dirty="0">
                <a:effectLst/>
                <a:hlinkClick r:id="rId86" tooltip="Wikipedia:Citation needed"/>
              </a:rPr>
              <a:t>citation needed</a:t>
            </a:r>
            <a:r>
              <a:rPr lang="en-US" baseline="30000" dirty="0">
                <a:effectLst/>
              </a:rPr>
              <a:t>]</a:t>
            </a:r>
            <a:r>
              <a:rPr lang="en-US" dirty="0">
                <a:effectLst/>
              </a:rPr>
              <a:t> A cleft palate/lip may impact an individual’s </a:t>
            </a:r>
            <a:r>
              <a:rPr lang="en-US" dirty="0">
                <a:effectLst/>
                <a:hlinkClick r:id="rId87" tooltip="Self-esteem"/>
              </a:rPr>
              <a:t>self-esteem</a:t>
            </a:r>
            <a:r>
              <a:rPr lang="en-US" dirty="0">
                <a:effectLst/>
              </a:rPr>
              <a:t>, </a:t>
            </a:r>
            <a:r>
              <a:rPr lang="en-US" dirty="0">
                <a:effectLst/>
                <a:hlinkClick r:id="rId88" tooltip="Social skills"/>
              </a:rPr>
              <a:t>social skills</a:t>
            </a:r>
            <a:r>
              <a:rPr lang="en-US" dirty="0">
                <a:effectLst/>
              </a:rPr>
              <a:t> and </a:t>
            </a:r>
            <a:r>
              <a:rPr lang="en-US" dirty="0">
                <a:effectLst/>
                <a:hlinkClick r:id="rId89" tooltip="Behavior"/>
              </a:rPr>
              <a:t>behavior</a:t>
            </a:r>
            <a:r>
              <a:rPr lang="en-US" dirty="0">
                <a:effectLst/>
              </a:rPr>
              <a:t>. There is research dedicated to the </a:t>
            </a:r>
            <a:r>
              <a:rPr lang="en-US" dirty="0">
                <a:effectLst/>
                <a:hlinkClick r:id="rId90" tooltip="Social development"/>
              </a:rPr>
              <a:t>psychosocial development</a:t>
            </a:r>
            <a:r>
              <a:rPr lang="en-US" dirty="0">
                <a:effectLst/>
              </a:rPr>
              <a:t> of individuals with cleft palate. Self-concept may be adversely affected by the presence of a cleft lip and/or cleft palate, particularly among girls.</a:t>
            </a:r>
            <a:r>
              <a:rPr lang="en-US" baseline="30000" dirty="0">
                <a:effectLst/>
                <a:hlinkClick r:id="rId91"/>
              </a:rPr>
              <a:t>[13]</a:t>
            </a:r>
            <a:endParaRPr lang="en-US" dirty="0">
              <a:effectLst/>
            </a:endParaRPr>
          </a:p>
          <a:p>
            <a:pPr rtl="0"/>
            <a:r>
              <a:rPr lang="en-US" dirty="0">
                <a:effectLst/>
              </a:rPr>
              <a:t>Research has shown that during the early preschool years (ages 3–5), children with cleft lip and/or cleft palate tend to have a self-concept that is similar to their peers without a cleft. However, as they grow older and their social interactions increase, children with clefts tend to report more dissatisfaction with peer relationships and higher levels of </a:t>
            </a:r>
            <a:r>
              <a:rPr lang="en-US" dirty="0">
                <a:effectLst/>
                <a:hlinkClick r:id="rId92" tooltip="Social anxiety"/>
              </a:rPr>
              <a:t>social anxiety</a:t>
            </a:r>
            <a:r>
              <a:rPr lang="en-US" dirty="0">
                <a:effectLst/>
              </a:rPr>
              <a:t>. Experts conclude that this is probably due to the associated stigma of visible deformities and possible </a:t>
            </a:r>
            <a:r>
              <a:rPr lang="en-US" dirty="0">
                <a:effectLst/>
                <a:hlinkClick r:id="rId93" tooltip="Speech impediment"/>
              </a:rPr>
              <a:t>speech impediments</a:t>
            </a:r>
            <a:r>
              <a:rPr lang="en-US" dirty="0">
                <a:effectLst/>
              </a:rPr>
              <a:t>. Children who are judged as attractive tend to be perceived as more intelligent, exhibit more positive social behaviors, and are treated more positively than children with cleft lip and/or cleft palate.</a:t>
            </a:r>
            <a:r>
              <a:rPr lang="en-US" baseline="30000" dirty="0">
                <a:effectLst/>
                <a:hlinkClick r:id="rId94"/>
              </a:rPr>
              <a:t>[14]</a:t>
            </a:r>
            <a:r>
              <a:rPr lang="en-US" dirty="0">
                <a:effectLst/>
              </a:rPr>
              <a:t> Children with clefts tend to report feelings of anger, sadness, fear, and alienation from their peers, but these children were similar to their peers in regard to "how well they liked themselves."</a:t>
            </a:r>
          </a:p>
          <a:p>
            <a:pPr rtl="0"/>
            <a:r>
              <a:rPr lang="en-US" dirty="0">
                <a:effectLst/>
              </a:rPr>
              <a:t>The relationship between parental attitudes and a child’s self-concept is crucial during the preschool years. It has been reported that elevated stress levels in mothers correlated with reduced social skills in their children.</a:t>
            </a:r>
            <a:r>
              <a:rPr lang="en-US" baseline="30000" dirty="0">
                <a:effectLst/>
                <a:hlinkClick r:id="rId95"/>
              </a:rPr>
              <a:t>[15]</a:t>
            </a:r>
            <a:r>
              <a:rPr lang="en-US" dirty="0">
                <a:effectLst/>
              </a:rPr>
              <a:t> Strong parent support networks may help to prevent the development of negative self-concept in children with cleft palate.</a:t>
            </a:r>
            <a:r>
              <a:rPr lang="en-US" baseline="30000" dirty="0">
                <a:effectLst/>
                <a:hlinkClick r:id="rId96"/>
              </a:rPr>
              <a:t>[16]</a:t>
            </a:r>
            <a:r>
              <a:rPr lang="en-US" dirty="0">
                <a:effectLst/>
              </a:rPr>
              <a:t> In the later preschool and early elementary years, the development of social skills is no longer only impacted by parental attitudes but is beginning to be shaped by their peers. A cleft lip and/or cleft palate may affect the behavior of preschoolers. Experts suggest that parents discuss with their children ways to handle negative social situations related to their cleft lip and/or cleft palate. A child who is entering school should learn the proper (and age-appropriate) terms related to the cleft. The ability to confidently explain the condition to others may limit feelings of awkwardness and embarrassment and reduce negative social experiences.</a:t>
            </a:r>
            <a:r>
              <a:rPr lang="en-US" baseline="30000" dirty="0">
                <a:effectLst/>
                <a:hlinkClick r:id="rId97"/>
              </a:rPr>
              <a:t>[17]</a:t>
            </a:r>
            <a:endParaRPr lang="en-US" dirty="0">
              <a:effectLst/>
            </a:endParaRPr>
          </a:p>
          <a:p>
            <a:pPr rtl="0"/>
            <a:r>
              <a:rPr lang="en-US" dirty="0">
                <a:effectLst/>
              </a:rPr>
              <a:t>As children reach adolescence, the period of time between age 13 and 19, the dynamics of the parent-child relationship change as peer groups are now the focus of attention. An adolescent with cleft lip and/or cleft palate will deal with the typical challenges faced by most of their peers including issues related to self-esteem, dating and social acceptance.</a:t>
            </a:r>
            <a:r>
              <a:rPr lang="en-US" baseline="30000" dirty="0">
                <a:effectLst/>
                <a:hlinkClick r:id="rId98"/>
              </a:rPr>
              <a:t>[18]</a:t>
            </a:r>
            <a:r>
              <a:rPr lang="en-US" baseline="30000" dirty="0">
                <a:effectLst/>
                <a:hlinkClick r:id="rId99"/>
              </a:rPr>
              <a:t>[19]</a:t>
            </a:r>
            <a:r>
              <a:rPr lang="en-US" baseline="30000" dirty="0">
                <a:effectLst/>
                <a:hlinkClick r:id="rId100"/>
              </a:rPr>
              <a:t>[20]</a:t>
            </a:r>
            <a:r>
              <a:rPr lang="en-US" dirty="0">
                <a:effectLst/>
              </a:rPr>
              <a:t> Adolescents, however, view appearance as the most important characteristic above intelligence and humor.</a:t>
            </a:r>
            <a:r>
              <a:rPr lang="en-US" baseline="30000" dirty="0">
                <a:effectLst/>
                <a:hlinkClick r:id="rId101"/>
              </a:rPr>
              <a:t>[21]</a:t>
            </a:r>
            <a:r>
              <a:rPr lang="en-US" dirty="0">
                <a:effectLst/>
              </a:rPr>
              <a:t> This being the case, adolescents are susceptible to additional problems because they cannot hide their facial differences from their peers. Adolescent boys typically deal with issues relating to withdrawal, attention, thought, and </a:t>
            </a:r>
            <a:r>
              <a:rPr lang="en-US" dirty="0">
                <a:effectLst/>
                <a:hlinkClick r:id="rId102" tooltip="Internalizing"/>
              </a:rPr>
              <a:t>internalizing</a:t>
            </a:r>
            <a:r>
              <a:rPr lang="en-US" dirty="0">
                <a:effectLst/>
              </a:rPr>
              <a:t> problems and may possibly develop anxiousness-depression and aggressive behaviors.</a:t>
            </a:r>
            <a:r>
              <a:rPr lang="en-US" baseline="30000" dirty="0">
                <a:effectLst/>
                <a:hlinkClick r:id="rId100"/>
              </a:rPr>
              <a:t>[20]</a:t>
            </a:r>
            <a:r>
              <a:rPr lang="en-US" dirty="0">
                <a:effectLst/>
              </a:rPr>
              <a:t> Adolescent girls are more likely to develop problems relating to self-concept and appearance. Individuals with cleft lip and/or cleft palate often deal with threats to their </a:t>
            </a:r>
            <a:r>
              <a:rPr lang="en-US" dirty="0">
                <a:effectLst/>
                <a:hlinkClick r:id="rId103" tooltip="Quality of life"/>
              </a:rPr>
              <a:t>quality of life</a:t>
            </a:r>
            <a:r>
              <a:rPr lang="en-US" dirty="0">
                <a:effectLst/>
              </a:rPr>
              <a:t> for multiple reasons including: unsuccessful social relationships, deviance in social appearance and multiple surgeries.</a:t>
            </a:r>
          </a:p>
          <a:p>
            <a:pPr rtl="0"/>
            <a:r>
              <a:rPr lang="en-US" b="1" dirty="0">
                <a:effectLst/>
              </a:rPr>
              <a:t>Complications</a:t>
            </a:r>
          </a:p>
          <a:p>
            <a:pPr rtl="0"/>
            <a:r>
              <a:rPr lang="en-US" dirty="0">
                <a:effectLst/>
              </a:rPr>
              <a:t>A baby being fed using a customized bottle. The upright sitting position allows </a:t>
            </a:r>
            <a:r>
              <a:rPr lang="en-US" dirty="0">
                <a:effectLst/>
                <a:hlinkClick r:id="rId104" tooltip="Earth's gravity"/>
              </a:rPr>
              <a:t>gravity</a:t>
            </a:r>
            <a:r>
              <a:rPr lang="en-US" dirty="0">
                <a:effectLst/>
              </a:rPr>
              <a:t> to help the baby swallow the milk more easily</a:t>
            </a:r>
          </a:p>
          <a:p>
            <a:pPr rtl="0"/>
            <a:r>
              <a:rPr lang="en-US" dirty="0">
                <a:effectLst/>
              </a:rPr>
              <a:t>Cleft may cause problems with feeding, ear disease, speech and socialization.</a:t>
            </a:r>
          </a:p>
          <a:p>
            <a:pPr rtl="0"/>
            <a:r>
              <a:rPr lang="en-US" dirty="0">
                <a:effectLst/>
              </a:rPr>
              <a:t>Due to lack of suction, an infant with a cleft may have trouble feeding. An infant with a cleft palate will have greater success feeding in a more upright position. Gravity will help prevent milk from coming through the baby's nose if he/she has cleft palate. Gravity feeding can be accomplished by using specialized equipment, such as the </a:t>
            </a:r>
            <a:r>
              <a:rPr lang="en-US" dirty="0" err="1">
                <a:effectLst/>
                <a:hlinkClick r:id="rId105" tooltip="Haberman Feeder"/>
              </a:rPr>
              <a:t>Haberman</a:t>
            </a:r>
            <a:r>
              <a:rPr lang="en-US" dirty="0">
                <a:effectLst/>
                <a:hlinkClick r:id="rId105" tooltip="Haberman Feeder"/>
              </a:rPr>
              <a:t> Feeder</a:t>
            </a:r>
            <a:r>
              <a:rPr lang="en-US" dirty="0">
                <a:effectLst/>
              </a:rPr>
              <a:t>, or by using a combination of nipples and bottle inserts like the one shown, is commonly used with other infants. A large hole, crosscut, or slit in the nipple, a protruding nipple and rhythmically squeezing the bottle insert can result in controllable flow to the infant without the stigma caused by specialized equipment.</a:t>
            </a:r>
          </a:p>
          <a:p>
            <a:pPr rtl="0"/>
            <a:r>
              <a:rPr lang="en-US" dirty="0">
                <a:effectLst/>
              </a:rPr>
              <a:t>Individuals with cleft also face many middle ear infections which may eventually lead to hearing loss. The </a:t>
            </a:r>
            <a:r>
              <a:rPr lang="en-US" dirty="0">
                <a:effectLst/>
                <a:hlinkClick r:id="rId106" tooltip="Eustachian tube"/>
              </a:rPr>
              <a:t>Eustachian tubes</a:t>
            </a:r>
            <a:r>
              <a:rPr lang="en-US" dirty="0">
                <a:effectLst/>
              </a:rPr>
              <a:t> and external ear canals may be angled or tortuous, leading to food or other contamination of a part of the body that is normally self-cleaning. Hearing is related to learning to speak. Babies with palatal clefts may have compromised hearing and therefore, if the baby cannot hear, it cannot try to mimic the sounds of speech. Thus, even before expressive language acquisition, the baby with the cleft palate is at risk for receptive language acquisition. Because the lips and palate are both used in pronunciation, individuals with cleft usually need the aid of a speech therapist.</a:t>
            </a:r>
          </a:p>
          <a:p>
            <a:pPr rtl="0"/>
            <a:r>
              <a:rPr lang="en-US" b="1" dirty="0">
                <a:effectLst/>
              </a:rPr>
              <a:t>Cause</a:t>
            </a:r>
          </a:p>
          <a:p>
            <a:pPr rtl="0"/>
            <a:r>
              <a:rPr lang="en-US" dirty="0">
                <a:effectLst/>
              </a:rPr>
              <a:t>The development of the face is coordinated by complex morphogenetic events and rapid proliferative expansion, and is thus highly susceptible to environmental and genetic factors, </a:t>
            </a:r>
            <a:r>
              <a:rPr lang="en-US" dirty="0" err="1">
                <a:effectLst/>
              </a:rPr>
              <a:t>rationalising</a:t>
            </a:r>
            <a:r>
              <a:rPr lang="en-US" dirty="0">
                <a:effectLst/>
              </a:rPr>
              <a:t> the high incidence of facial malformations. During the first six to eight weeks of pregnancy, the shape of the embryo's head is formed. Five primitive tissue lobes grow:</a:t>
            </a:r>
          </a:p>
          <a:p>
            <a:pPr rtl="0"/>
            <a:r>
              <a:rPr lang="en-US" b="1" dirty="0">
                <a:effectLst/>
              </a:rPr>
              <a:t>a)</a:t>
            </a:r>
            <a:r>
              <a:rPr lang="en-US" dirty="0">
                <a:effectLst/>
              </a:rPr>
              <a:t> one from the top of the head down towards the future upper lip; (</a:t>
            </a:r>
            <a:r>
              <a:rPr lang="en-US" dirty="0" err="1">
                <a:effectLst/>
              </a:rPr>
              <a:t>Frontonasal</a:t>
            </a:r>
            <a:r>
              <a:rPr lang="en-US" dirty="0">
                <a:effectLst/>
              </a:rPr>
              <a:t> Prominence)</a:t>
            </a:r>
            <a:r>
              <a:rPr lang="en-US" b="1" dirty="0">
                <a:effectLst/>
              </a:rPr>
              <a:t>b-c)</a:t>
            </a:r>
            <a:r>
              <a:rPr lang="en-US" dirty="0">
                <a:effectLst/>
              </a:rPr>
              <a:t> two from the cheeks, which meet the first lobe to form the upper lip; (</a:t>
            </a:r>
            <a:r>
              <a:rPr lang="en-US" dirty="0" err="1">
                <a:effectLst/>
              </a:rPr>
              <a:t>Maxillar</a:t>
            </a:r>
            <a:r>
              <a:rPr lang="en-US" dirty="0">
                <a:effectLst/>
              </a:rPr>
              <a:t> Prominence)</a:t>
            </a:r>
            <a:r>
              <a:rPr lang="en-US" b="1" dirty="0">
                <a:effectLst/>
              </a:rPr>
              <a:t>d-e)</a:t>
            </a:r>
            <a:r>
              <a:rPr lang="en-US" dirty="0">
                <a:effectLst/>
              </a:rPr>
              <a:t> and just below, two additional lobes grow from each side, which form the chin and lower lip; (Mandibular Prominence)If these tissues fail to meet, a gap appears where the tissues should have joined (fused). This may happen in any single joining site, or simultaneously in several or all of them. The resulting birth defect reflects the locations and severity of individual fusion failures (e.g., from a small lip or palate fissure up to a completely malformed face).</a:t>
            </a:r>
          </a:p>
          <a:p>
            <a:pPr rtl="0"/>
            <a:r>
              <a:rPr lang="en-US" dirty="0">
                <a:effectLst/>
              </a:rPr>
              <a:t>The upper lip is formed earlier than the palate, from the first three lobes named a to c above. Formation of the palate is the last step in joining the five embryonic facial lobes, and involves the back portions of the lobes b and c. These back portions are called palatal shelves, which grow towards each other until they fuse in the middle.</a:t>
            </a:r>
            <a:r>
              <a:rPr lang="en-US" baseline="30000" dirty="0">
                <a:effectLst/>
                <a:hlinkClick r:id="rId107"/>
              </a:rPr>
              <a:t>[22]</a:t>
            </a:r>
            <a:r>
              <a:rPr lang="en-US" dirty="0">
                <a:effectLst/>
              </a:rPr>
              <a:t> This process is very vulnerable to multiple toxic substances, environmental pollutants, and nutritional imbalance. The biologic mechanisms of mutual recognition of the two cabinets, and the way they are glued together, are quite complex and obscure despite intensive scientific research.</a:t>
            </a:r>
            <a:r>
              <a:rPr lang="en-US" baseline="30000" dirty="0">
                <a:effectLst/>
                <a:hlinkClick r:id="rId108"/>
              </a:rPr>
              <a:t>[23]</a:t>
            </a:r>
            <a:endParaRPr lang="en-US" dirty="0">
              <a:effectLst/>
            </a:endParaRPr>
          </a:p>
          <a:p>
            <a:pPr rtl="0"/>
            <a:r>
              <a:rPr lang="en-US" b="1" dirty="0">
                <a:effectLst/>
              </a:rPr>
              <a:t>Genetics</a:t>
            </a:r>
          </a:p>
          <a:p>
            <a:pPr rtl="0"/>
            <a:r>
              <a:rPr lang="en-US" dirty="0">
                <a:effectLst/>
              </a:rPr>
              <a:t>Genetic factors contributing to cleft lip and cleft palate formation have been identified for some </a:t>
            </a:r>
            <a:r>
              <a:rPr lang="en-US" dirty="0">
                <a:effectLst/>
                <a:hlinkClick r:id="rId109" tooltip="Syndrome"/>
              </a:rPr>
              <a:t>syndromic</a:t>
            </a:r>
            <a:r>
              <a:rPr lang="en-US" dirty="0">
                <a:effectLst/>
              </a:rPr>
              <a:t> cases, but knowledge about genetic factors that contribute to the more common isolated cases of cleft lip/palate is still patchy.</a:t>
            </a:r>
          </a:p>
          <a:p>
            <a:pPr rtl="0"/>
            <a:r>
              <a:rPr lang="en-US" dirty="0">
                <a:effectLst/>
              </a:rPr>
              <a:t>Many clefts run in families, even though in some cases there does not seem to be an identifiable syndrome present,</a:t>
            </a:r>
            <a:r>
              <a:rPr lang="en-US" baseline="30000" dirty="0">
                <a:effectLst/>
                <a:hlinkClick r:id="rId110"/>
              </a:rPr>
              <a:t>[24]</a:t>
            </a:r>
            <a:r>
              <a:rPr lang="en-US" dirty="0">
                <a:effectLst/>
              </a:rPr>
              <a:t> possibly because of the current incomplete genetic understanding of </a:t>
            </a:r>
            <a:r>
              <a:rPr lang="en-US" dirty="0" err="1">
                <a:effectLst/>
              </a:rPr>
              <a:t>midfacial</a:t>
            </a:r>
            <a:r>
              <a:rPr lang="en-US" dirty="0">
                <a:effectLst/>
              </a:rPr>
              <a:t> development.</a:t>
            </a:r>
          </a:p>
          <a:p>
            <a:pPr rtl="0"/>
            <a:r>
              <a:rPr lang="en-US" dirty="0">
                <a:effectLst/>
              </a:rPr>
              <a:t>A number of genes are involved including </a:t>
            </a:r>
            <a:r>
              <a:rPr lang="en-US" dirty="0">
                <a:effectLst/>
                <a:hlinkClick r:id="rId111" tooltip="Cleft lip and palate transmembrane protein 1"/>
              </a:rPr>
              <a:t>cleft lip and palate transmembrane protein 1</a:t>
            </a:r>
            <a:r>
              <a:rPr lang="en-US" dirty="0">
                <a:effectLst/>
              </a:rPr>
              <a:t> and </a:t>
            </a:r>
            <a:r>
              <a:rPr lang="en-US" dirty="0">
                <a:effectLst/>
                <a:hlinkClick r:id="rId112" tooltip="GAD1"/>
              </a:rPr>
              <a:t>GAD1</a:t>
            </a:r>
            <a:r>
              <a:rPr lang="en-US" dirty="0">
                <a:effectLst/>
              </a:rPr>
              <a:t>,</a:t>
            </a:r>
            <a:r>
              <a:rPr lang="en-US" baseline="30000" dirty="0">
                <a:effectLst/>
                <a:hlinkClick r:id="rId113"/>
              </a:rPr>
              <a:t>[25]</a:t>
            </a:r>
            <a:r>
              <a:rPr lang="en-US" dirty="0">
                <a:effectLst/>
              </a:rPr>
              <a:t> one of the </a:t>
            </a:r>
            <a:r>
              <a:rPr lang="en-US" dirty="0">
                <a:effectLst/>
                <a:hlinkClick r:id="rId114" tooltip="Glutamate decarboxylase"/>
              </a:rPr>
              <a:t>glutamate decarboxylases</a:t>
            </a:r>
            <a:r>
              <a:rPr lang="en-US" dirty="0">
                <a:effectLst/>
              </a:rPr>
              <a:t>. Many genes are known to play a role in craniofacial development and are being studied through the </a:t>
            </a:r>
            <a:r>
              <a:rPr lang="en-US" dirty="0" err="1">
                <a:effectLst/>
                <a:hlinkClick r:id="rId115" tooltip="FaceBase"/>
              </a:rPr>
              <a:t>FaceBase</a:t>
            </a:r>
            <a:r>
              <a:rPr lang="en-US" dirty="0">
                <a:effectLst/>
              </a:rPr>
              <a:t> initiative for their part in </a:t>
            </a:r>
            <a:r>
              <a:rPr lang="en-US" dirty="0" err="1">
                <a:effectLst/>
              </a:rPr>
              <a:t>clefting</a:t>
            </a:r>
            <a:r>
              <a:rPr lang="en-US" dirty="0">
                <a:effectLst/>
              </a:rPr>
              <a:t>. These genes are </a:t>
            </a:r>
            <a:r>
              <a:rPr lang="en-US" dirty="0">
                <a:effectLst/>
                <a:hlinkClick r:id="rId116" tooltip="AXIN2"/>
              </a:rPr>
              <a:t>AXIN2</a:t>
            </a:r>
            <a:r>
              <a:rPr lang="en-US" dirty="0">
                <a:effectLst/>
              </a:rPr>
              <a:t>, </a:t>
            </a:r>
            <a:r>
              <a:rPr lang="en-US" dirty="0">
                <a:effectLst/>
                <a:hlinkClick r:id="rId117" tooltip="BMP4"/>
              </a:rPr>
              <a:t>BMP4</a:t>
            </a:r>
            <a:r>
              <a:rPr lang="en-US" dirty="0">
                <a:effectLst/>
              </a:rPr>
              <a:t>, </a:t>
            </a:r>
            <a:r>
              <a:rPr lang="en-US" dirty="0">
                <a:effectLst/>
                <a:hlinkClick r:id="rId118" tooltip="FGFR1"/>
              </a:rPr>
              <a:t>FGFR1</a:t>
            </a:r>
            <a:r>
              <a:rPr lang="en-US" dirty="0">
                <a:effectLst/>
              </a:rPr>
              <a:t>, </a:t>
            </a:r>
            <a:r>
              <a:rPr lang="en-US" dirty="0">
                <a:effectLst/>
                <a:hlinkClick r:id="rId119" tooltip="FGFR2"/>
              </a:rPr>
              <a:t>FGFR2</a:t>
            </a:r>
            <a:r>
              <a:rPr lang="en-US" dirty="0">
                <a:effectLst/>
              </a:rPr>
              <a:t>, </a:t>
            </a:r>
            <a:r>
              <a:rPr lang="en-US" dirty="0">
                <a:effectLst/>
                <a:hlinkClick r:id="rId120" tooltip="FOXE1"/>
              </a:rPr>
              <a:t>FOXE1</a:t>
            </a:r>
            <a:r>
              <a:rPr lang="en-US" dirty="0">
                <a:effectLst/>
              </a:rPr>
              <a:t>, </a:t>
            </a:r>
            <a:r>
              <a:rPr lang="en-US" dirty="0">
                <a:effectLst/>
                <a:hlinkClick r:id="rId121" tooltip="IRF6"/>
              </a:rPr>
              <a:t>IRF6</a:t>
            </a:r>
            <a:r>
              <a:rPr lang="en-US" dirty="0">
                <a:effectLst/>
              </a:rPr>
              <a:t>, </a:t>
            </a:r>
            <a:r>
              <a:rPr lang="en-US" dirty="0">
                <a:effectLst/>
                <a:hlinkClick r:id="rId122" tooltip="MAFB (gene)"/>
              </a:rPr>
              <a:t>MAFB (gene)</a:t>
            </a:r>
            <a:r>
              <a:rPr lang="en-US" dirty="0">
                <a:effectLst/>
              </a:rPr>
              <a:t>, </a:t>
            </a:r>
            <a:r>
              <a:rPr lang="en-US" dirty="0">
                <a:effectLst/>
                <a:hlinkClick r:id="rId123" tooltip="MMP3"/>
              </a:rPr>
              <a:t>MMP3</a:t>
            </a:r>
            <a:r>
              <a:rPr lang="en-US" dirty="0">
                <a:effectLst/>
              </a:rPr>
              <a:t>, </a:t>
            </a:r>
            <a:r>
              <a:rPr lang="en-US" dirty="0">
                <a:effectLst/>
                <a:hlinkClick r:id="rId124" tooltip="MSX1"/>
              </a:rPr>
              <a:t>MSX1</a:t>
            </a:r>
            <a:r>
              <a:rPr lang="en-US" dirty="0">
                <a:effectLst/>
              </a:rPr>
              <a:t>, MSX2 (</a:t>
            </a:r>
            <a:r>
              <a:rPr lang="en-US" dirty="0" err="1">
                <a:effectLst/>
                <a:hlinkClick r:id="rId125" tooltip="Msh homeobox 2"/>
              </a:rPr>
              <a:t>Msh</a:t>
            </a:r>
            <a:r>
              <a:rPr lang="en-US" dirty="0">
                <a:effectLst/>
                <a:hlinkClick r:id="rId125" tooltip="Msh homeobox 2"/>
              </a:rPr>
              <a:t> </a:t>
            </a:r>
            <a:r>
              <a:rPr lang="en-US" dirty="0" err="1">
                <a:effectLst/>
                <a:hlinkClick r:id="rId125" tooltip="Msh homeobox 2"/>
              </a:rPr>
              <a:t>homeobox</a:t>
            </a:r>
            <a:r>
              <a:rPr lang="en-US" dirty="0">
                <a:effectLst/>
                <a:hlinkClick r:id="rId125" tooltip="Msh homeobox 2"/>
              </a:rPr>
              <a:t> 2</a:t>
            </a:r>
            <a:r>
              <a:rPr lang="en-US" dirty="0">
                <a:effectLst/>
              </a:rPr>
              <a:t>), MSX3, </a:t>
            </a:r>
            <a:r>
              <a:rPr lang="en-US" dirty="0">
                <a:effectLst/>
                <a:hlinkClick r:id="rId126" tooltip="PAX7"/>
              </a:rPr>
              <a:t>PAX7</a:t>
            </a:r>
            <a:r>
              <a:rPr lang="en-US" dirty="0">
                <a:effectLst/>
              </a:rPr>
              <a:t>, </a:t>
            </a:r>
            <a:r>
              <a:rPr lang="en-US" dirty="0">
                <a:effectLst/>
                <a:hlinkClick r:id="rId127" tooltip="PDGFC"/>
              </a:rPr>
              <a:t>PDGFC</a:t>
            </a:r>
            <a:r>
              <a:rPr lang="en-US" dirty="0">
                <a:effectLst/>
              </a:rPr>
              <a:t>, </a:t>
            </a:r>
            <a:r>
              <a:rPr lang="en-US" dirty="0">
                <a:effectLst/>
                <a:hlinkClick r:id="rId128" tooltip="PTCH1"/>
              </a:rPr>
              <a:t>PTCH1</a:t>
            </a:r>
            <a:r>
              <a:rPr lang="en-US" dirty="0">
                <a:effectLst/>
              </a:rPr>
              <a:t>, </a:t>
            </a:r>
            <a:r>
              <a:rPr lang="en-US" dirty="0">
                <a:effectLst/>
                <a:hlinkClick r:id="rId129" tooltip="SATB2"/>
              </a:rPr>
              <a:t>SATB2</a:t>
            </a:r>
            <a:r>
              <a:rPr lang="en-US" dirty="0">
                <a:effectLst/>
              </a:rPr>
              <a:t>, </a:t>
            </a:r>
            <a:r>
              <a:rPr lang="en-US" dirty="0">
                <a:effectLst/>
                <a:hlinkClick r:id="rId130" tooltip="SOX9"/>
              </a:rPr>
              <a:t>SOX9</a:t>
            </a:r>
            <a:r>
              <a:rPr lang="en-US" dirty="0">
                <a:effectLst/>
              </a:rPr>
              <a:t>, SUMO1 (</a:t>
            </a:r>
            <a:r>
              <a:rPr lang="en-US" dirty="0">
                <a:effectLst/>
                <a:hlinkClick r:id="rId131" tooltip="Small ubiquitin-related modifier 1"/>
              </a:rPr>
              <a:t>Small ubiquitin-related modifier 1</a:t>
            </a:r>
            <a:r>
              <a:rPr lang="en-US" dirty="0">
                <a:effectLst/>
              </a:rPr>
              <a:t>), </a:t>
            </a:r>
            <a:r>
              <a:rPr lang="en-US" dirty="0">
                <a:effectLst/>
                <a:hlinkClick r:id="rId132" tooltip="TBX22"/>
              </a:rPr>
              <a:t>TBX22</a:t>
            </a:r>
            <a:r>
              <a:rPr lang="en-US" dirty="0">
                <a:effectLst/>
              </a:rPr>
              <a:t>, TCOF (</a:t>
            </a:r>
            <a:r>
              <a:rPr lang="en-US" dirty="0">
                <a:effectLst/>
                <a:hlinkClick r:id="rId133" tooltip="Treacle protein"/>
              </a:rPr>
              <a:t>Treacle protein</a:t>
            </a:r>
            <a:r>
              <a:rPr lang="en-US" dirty="0">
                <a:effectLst/>
              </a:rPr>
              <a:t>), </a:t>
            </a:r>
            <a:r>
              <a:rPr lang="en-US" dirty="0">
                <a:effectLst/>
                <a:hlinkClick r:id="rId134" tooltip="TFAP2A"/>
              </a:rPr>
              <a:t>TFAP2A</a:t>
            </a:r>
            <a:r>
              <a:rPr lang="en-US" dirty="0">
                <a:effectLst/>
              </a:rPr>
              <a:t>, </a:t>
            </a:r>
            <a:r>
              <a:rPr lang="en-US" dirty="0">
                <a:effectLst/>
                <a:hlinkClick r:id="rId135" tooltip="VAX1"/>
              </a:rPr>
              <a:t>VAX1</a:t>
            </a:r>
            <a:r>
              <a:rPr lang="en-US" dirty="0">
                <a:effectLst/>
              </a:rPr>
              <a:t>, </a:t>
            </a:r>
            <a:r>
              <a:rPr lang="en-US" dirty="0">
                <a:effectLst/>
                <a:hlinkClick r:id="rId136" tooltip="TP63"/>
              </a:rPr>
              <a:t>TP63</a:t>
            </a:r>
            <a:r>
              <a:rPr lang="en-US" dirty="0">
                <a:effectLst/>
              </a:rPr>
              <a:t>, </a:t>
            </a:r>
            <a:r>
              <a:rPr lang="en-US" dirty="0">
                <a:effectLst/>
                <a:hlinkClick r:id="rId137" tooltip="ARHGAP29"/>
              </a:rPr>
              <a:t>ARHGAP29</a:t>
            </a:r>
            <a:r>
              <a:rPr lang="en-US" dirty="0">
                <a:effectLst/>
              </a:rPr>
              <a:t>, NOG, </a:t>
            </a:r>
            <a:r>
              <a:rPr lang="en-US" dirty="0">
                <a:effectLst/>
                <a:hlinkClick r:id="rId138" tooltip="NTN1"/>
              </a:rPr>
              <a:t>NTN1</a:t>
            </a:r>
            <a:r>
              <a:rPr lang="en-US" dirty="0">
                <a:effectLst/>
              </a:rPr>
              <a:t>, WNT genes, and locus 8q24.</a:t>
            </a:r>
            <a:r>
              <a:rPr lang="en-US" baseline="30000" dirty="0">
                <a:effectLst/>
                <a:hlinkClick r:id="rId139"/>
              </a:rPr>
              <a:t>[26]</a:t>
            </a:r>
            <a:endParaRPr lang="en-US" dirty="0">
              <a:effectLst/>
            </a:endParaRPr>
          </a:p>
          <a:p>
            <a:pPr rtl="0"/>
            <a:r>
              <a:rPr lang="en-US" b="1" dirty="0">
                <a:effectLst/>
              </a:rPr>
              <a:t>Syndromes</a:t>
            </a:r>
          </a:p>
          <a:p>
            <a:pPr rtl="0"/>
            <a:r>
              <a:rPr lang="en-US" dirty="0">
                <a:effectLst/>
              </a:rPr>
              <a:t>The </a:t>
            </a:r>
            <a:r>
              <a:rPr lang="en-US" dirty="0">
                <a:effectLst/>
                <a:hlinkClick r:id="rId140" tooltip="Van der Woude Syndrome"/>
              </a:rPr>
              <a:t>Van der </a:t>
            </a:r>
            <a:r>
              <a:rPr lang="en-US" dirty="0" err="1">
                <a:effectLst/>
                <a:hlinkClick r:id="rId140" tooltip="Van der Woude Syndrome"/>
              </a:rPr>
              <a:t>Woude</a:t>
            </a:r>
            <a:r>
              <a:rPr lang="en-US" dirty="0">
                <a:effectLst/>
                <a:hlinkClick r:id="rId140" tooltip="Van der Woude Syndrome"/>
              </a:rPr>
              <a:t> Syndrome</a:t>
            </a:r>
            <a:r>
              <a:rPr lang="en-US" dirty="0">
                <a:effectLst/>
              </a:rPr>
              <a:t> is caused by a specific variation in the gene </a:t>
            </a:r>
            <a:r>
              <a:rPr lang="en-US" i="1" dirty="0">
                <a:effectLst/>
                <a:hlinkClick r:id="rId121" tooltip="IRF6"/>
              </a:rPr>
              <a:t>IRF6</a:t>
            </a:r>
            <a:r>
              <a:rPr lang="en-US" dirty="0">
                <a:effectLst/>
              </a:rPr>
              <a:t> that increases the occurrence of these deformities threefold.</a:t>
            </a:r>
            <a:r>
              <a:rPr lang="en-US" baseline="30000" dirty="0">
                <a:effectLst/>
                <a:hlinkClick r:id="rId141"/>
              </a:rPr>
              <a:t>[27]</a:t>
            </a:r>
            <a:r>
              <a:rPr lang="en-US" baseline="30000" dirty="0">
                <a:effectLst/>
                <a:hlinkClick r:id="rId142"/>
              </a:rPr>
              <a:t>[28]</a:t>
            </a:r>
            <a:r>
              <a:rPr lang="en-US" baseline="30000" dirty="0">
                <a:effectLst/>
                <a:hlinkClick r:id="rId143"/>
              </a:rPr>
              <a:t>[29]</a:t>
            </a:r>
            <a:endParaRPr lang="en-US" dirty="0">
              <a:effectLst/>
            </a:endParaRPr>
          </a:p>
          <a:p>
            <a:pPr rtl="0"/>
            <a:r>
              <a:rPr lang="en-US" dirty="0">
                <a:effectLst/>
              </a:rPr>
              <a:t>Another syndrome, </a:t>
            </a:r>
            <a:r>
              <a:rPr lang="en-US" dirty="0" err="1">
                <a:effectLst/>
              </a:rPr>
              <a:t>Siderius</a:t>
            </a:r>
            <a:r>
              <a:rPr lang="en-US" dirty="0">
                <a:effectLst/>
              </a:rPr>
              <a:t> </a:t>
            </a:r>
            <a:r>
              <a:rPr lang="en-US" dirty="0">
                <a:effectLst/>
                <a:hlinkClick r:id="rId144" tooltip="X-Linked mental retardation"/>
              </a:rPr>
              <a:t>X-linked mental retardation</a:t>
            </a:r>
            <a:r>
              <a:rPr lang="en-US" dirty="0">
                <a:effectLst/>
              </a:rPr>
              <a:t>, is caused by mutations in the </a:t>
            </a:r>
            <a:r>
              <a:rPr lang="en-US" i="1" dirty="0">
                <a:effectLst/>
                <a:hlinkClick r:id="rId145" tooltip="PHF8"/>
              </a:rPr>
              <a:t>PHF8</a:t>
            </a:r>
            <a:r>
              <a:rPr lang="en-US" dirty="0">
                <a:effectLst/>
              </a:rPr>
              <a:t> gene (</a:t>
            </a:r>
            <a:r>
              <a:rPr lang="en-US" dirty="0">
                <a:effectLst/>
                <a:hlinkClick r:id="rId146" tooltip="Mendelian Inheritance in Man"/>
              </a:rPr>
              <a:t>OMIM</a:t>
            </a:r>
            <a:r>
              <a:rPr lang="en-US" dirty="0">
                <a:effectLst/>
              </a:rPr>
              <a:t> </a:t>
            </a:r>
            <a:r>
              <a:rPr lang="en-US" dirty="0">
                <a:effectLst/>
                <a:hlinkClick r:id="rId147"/>
              </a:rPr>
              <a:t>300263</a:t>
            </a:r>
            <a:r>
              <a:rPr lang="en-US" dirty="0">
                <a:effectLst/>
              </a:rPr>
              <a:t>); in addition to cleft lip and/or palate, symptoms include facial </a:t>
            </a:r>
            <a:r>
              <a:rPr lang="en-US" dirty="0" err="1">
                <a:effectLst/>
              </a:rPr>
              <a:t>dysmorphism</a:t>
            </a:r>
            <a:r>
              <a:rPr lang="en-US" dirty="0">
                <a:effectLst/>
              </a:rPr>
              <a:t> and mild mental retardation.</a:t>
            </a:r>
            <a:r>
              <a:rPr lang="en-US" baseline="30000" dirty="0">
                <a:effectLst/>
                <a:hlinkClick r:id="rId148"/>
              </a:rPr>
              <a:t>[30]</a:t>
            </a:r>
            <a:endParaRPr lang="en-US" dirty="0">
              <a:effectLst/>
            </a:endParaRPr>
          </a:p>
          <a:p>
            <a:pPr rtl="0"/>
            <a:r>
              <a:rPr lang="en-US" dirty="0">
                <a:effectLst/>
              </a:rPr>
              <a:t>In some cases, cleft palate is caused by syndromes which also cause other problems.</a:t>
            </a:r>
          </a:p>
          <a:p>
            <a:pPr rtl="0"/>
            <a:r>
              <a:rPr lang="en-US" dirty="0">
                <a:effectLst/>
                <a:hlinkClick r:id="rId149" tooltip="Stickler's Syndrome"/>
              </a:rPr>
              <a:t>Stickler's Syndrome</a:t>
            </a:r>
            <a:r>
              <a:rPr lang="en-US" dirty="0">
                <a:effectLst/>
              </a:rPr>
              <a:t> can cause cleft lip and palate, joint pain, and </a:t>
            </a:r>
            <a:r>
              <a:rPr lang="en-US" dirty="0">
                <a:effectLst/>
                <a:hlinkClick r:id="rId150" tooltip="Myopia"/>
              </a:rPr>
              <a:t>myopia</a:t>
            </a:r>
            <a:r>
              <a:rPr lang="en-US" dirty="0">
                <a:effectLst/>
              </a:rPr>
              <a:t>.</a:t>
            </a:r>
            <a:r>
              <a:rPr lang="en-US" baseline="30000" dirty="0">
                <a:effectLst/>
                <a:hlinkClick r:id="rId151"/>
              </a:rPr>
              <a:t>[31]</a:t>
            </a:r>
            <a:r>
              <a:rPr lang="en-US" baseline="30000" dirty="0">
                <a:effectLst/>
                <a:hlinkClick r:id="rId152"/>
              </a:rPr>
              <a:t>[32]</a:t>
            </a:r>
            <a:endParaRPr lang="en-US" dirty="0">
              <a:effectLst/>
            </a:endParaRPr>
          </a:p>
          <a:p>
            <a:pPr rtl="0"/>
            <a:r>
              <a:rPr lang="en-US" dirty="0" err="1">
                <a:effectLst/>
                <a:hlinkClick r:id="rId153" tooltip="Loeys-Dietz syndrome"/>
              </a:rPr>
              <a:t>Loeys</a:t>
            </a:r>
            <a:r>
              <a:rPr lang="en-US" dirty="0">
                <a:effectLst/>
                <a:hlinkClick r:id="rId153" tooltip="Loeys-Dietz syndrome"/>
              </a:rPr>
              <a:t>-Dietz syndrome</a:t>
            </a:r>
            <a:r>
              <a:rPr lang="en-US" dirty="0">
                <a:effectLst/>
              </a:rPr>
              <a:t> can cause cleft palate or </a:t>
            </a:r>
            <a:r>
              <a:rPr lang="en-US" dirty="0">
                <a:effectLst/>
                <a:hlinkClick r:id="rId154" tooltip="Bifid uvula"/>
              </a:rPr>
              <a:t>bifid uvula</a:t>
            </a:r>
            <a:r>
              <a:rPr lang="en-US" dirty="0">
                <a:effectLst/>
              </a:rPr>
              <a:t>, </a:t>
            </a:r>
            <a:r>
              <a:rPr lang="en-US" dirty="0" err="1">
                <a:effectLst/>
                <a:hlinkClick r:id="rId155" tooltip="Hypertelorism"/>
              </a:rPr>
              <a:t>hypertelorism</a:t>
            </a:r>
            <a:r>
              <a:rPr lang="en-US" dirty="0">
                <a:effectLst/>
              </a:rPr>
              <a:t>, and </a:t>
            </a:r>
            <a:r>
              <a:rPr lang="en-US" dirty="0">
                <a:effectLst/>
                <a:hlinkClick r:id="rId156" tooltip="Aortic aneurysm"/>
              </a:rPr>
              <a:t>aortic aneurysm</a:t>
            </a:r>
            <a:r>
              <a:rPr lang="en-US" dirty="0">
                <a:effectLst/>
              </a:rPr>
              <a:t>.</a:t>
            </a:r>
            <a:r>
              <a:rPr lang="en-US" baseline="30000" dirty="0">
                <a:effectLst/>
                <a:hlinkClick r:id="rId157"/>
              </a:rPr>
              <a:t>[33]</a:t>
            </a:r>
            <a:endParaRPr lang="en-US" dirty="0">
              <a:effectLst/>
            </a:endParaRPr>
          </a:p>
          <a:p>
            <a:pPr rtl="0"/>
            <a:r>
              <a:rPr lang="en-US" dirty="0" err="1">
                <a:effectLst/>
                <a:hlinkClick r:id="rId158" tooltip="Hardikar syndrome (page does not exist)"/>
              </a:rPr>
              <a:t>Hardikar</a:t>
            </a:r>
            <a:r>
              <a:rPr lang="en-US" dirty="0">
                <a:effectLst/>
                <a:hlinkClick r:id="rId158" tooltip="Hardikar syndrome (page does not exist)"/>
              </a:rPr>
              <a:t> syndrome</a:t>
            </a:r>
            <a:r>
              <a:rPr lang="en-US" dirty="0">
                <a:effectLst/>
              </a:rPr>
              <a:t> can cause cleft lip and palate, </a:t>
            </a:r>
            <a:r>
              <a:rPr lang="en-US" dirty="0" err="1">
                <a:effectLst/>
                <a:hlinkClick r:id="rId159" tooltip="Hydronephrosis"/>
              </a:rPr>
              <a:t>Hydronephrosis</a:t>
            </a:r>
            <a:r>
              <a:rPr lang="en-US" dirty="0">
                <a:effectLst/>
              </a:rPr>
              <a:t>, </a:t>
            </a:r>
            <a:r>
              <a:rPr lang="en-US" dirty="0">
                <a:effectLst/>
                <a:hlinkClick r:id="rId160" tooltip="Intestinal obstruction"/>
              </a:rPr>
              <a:t>Intestinal obstruction</a:t>
            </a:r>
            <a:r>
              <a:rPr lang="en-US" dirty="0">
                <a:effectLst/>
              </a:rPr>
              <a:t> and other symptoms.</a:t>
            </a:r>
            <a:r>
              <a:rPr lang="en-US" baseline="30000" dirty="0">
                <a:effectLst/>
                <a:hlinkClick r:id="rId161"/>
              </a:rPr>
              <a:t>[34]</a:t>
            </a:r>
            <a:endParaRPr lang="en-US" dirty="0">
              <a:effectLst/>
            </a:endParaRPr>
          </a:p>
          <a:p>
            <a:pPr rtl="0"/>
            <a:r>
              <a:rPr lang="en-US" dirty="0">
                <a:effectLst/>
              </a:rPr>
              <a:t>Cleft lip/palate may be present in many different chromosome disorders including </a:t>
            </a:r>
            <a:r>
              <a:rPr lang="en-US" dirty="0" err="1">
                <a:effectLst/>
                <a:hlinkClick r:id="rId162" tooltip="Patau Syndrome"/>
              </a:rPr>
              <a:t>Patau</a:t>
            </a:r>
            <a:r>
              <a:rPr lang="en-US" dirty="0">
                <a:effectLst/>
                <a:hlinkClick r:id="rId162" tooltip="Patau Syndrome"/>
              </a:rPr>
              <a:t> Syndrome</a:t>
            </a:r>
            <a:r>
              <a:rPr lang="en-US" dirty="0">
                <a:effectLst/>
              </a:rPr>
              <a:t> (trisomy 13).</a:t>
            </a:r>
          </a:p>
          <a:p>
            <a:pPr rtl="0"/>
            <a:r>
              <a:rPr lang="en-US" dirty="0" err="1">
                <a:effectLst/>
                <a:hlinkClick r:id="rId163" tooltip="Malpuech facial clefting syndrome"/>
              </a:rPr>
              <a:t>Malpuech</a:t>
            </a:r>
            <a:r>
              <a:rPr lang="en-US" dirty="0">
                <a:effectLst/>
                <a:hlinkClick r:id="rId163" tooltip="Malpuech facial clefting syndrome"/>
              </a:rPr>
              <a:t> facial </a:t>
            </a:r>
            <a:r>
              <a:rPr lang="en-US" dirty="0" err="1">
                <a:effectLst/>
                <a:hlinkClick r:id="rId163" tooltip="Malpuech facial clefting syndrome"/>
              </a:rPr>
              <a:t>clefting</a:t>
            </a:r>
            <a:r>
              <a:rPr lang="en-US" dirty="0">
                <a:effectLst/>
                <a:hlinkClick r:id="rId163" tooltip="Malpuech facial clefting syndrome"/>
              </a:rPr>
              <a:t> syndrome</a:t>
            </a:r>
            <a:endParaRPr lang="en-US" dirty="0">
              <a:effectLst/>
            </a:endParaRPr>
          </a:p>
          <a:p>
            <a:pPr rtl="0"/>
            <a:r>
              <a:rPr lang="en-US" dirty="0">
                <a:effectLst/>
                <a:hlinkClick r:id="rId164" tooltip="Hearing loss with craniofacial syndromes"/>
              </a:rPr>
              <a:t>Hearing loss with craniofacial syndromes</a:t>
            </a:r>
            <a:endParaRPr lang="en-US" dirty="0">
              <a:effectLst/>
            </a:endParaRPr>
          </a:p>
          <a:p>
            <a:pPr rtl="0"/>
            <a:r>
              <a:rPr lang="en-US" dirty="0">
                <a:effectLst/>
                <a:hlinkClick r:id="rId165" tooltip="Popliteal pterygium syndrome"/>
              </a:rPr>
              <a:t>Popliteal </a:t>
            </a:r>
            <a:r>
              <a:rPr lang="en-US" dirty="0" err="1">
                <a:effectLst/>
                <a:hlinkClick r:id="rId165" tooltip="Popliteal pterygium syndrome"/>
              </a:rPr>
              <a:t>pterygium</a:t>
            </a:r>
            <a:r>
              <a:rPr lang="en-US" dirty="0">
                <a:effectLst/>
                <a:hlinkClick r:id="rId165" tooltip="Popliteal pterygium syndrome"/>
              </a:rPr>
              <a:t> syndrome</a:t>
            </a:r>
            <a:endParaRPr lang="en-US" dirty="0">
              <a:effectLst/>
            </a:endParaRPr>
          </a:p>
          <a:p>
            <a:pPr rtl="0"/>
            <a:r>
              <a:rPr lang="en-US" dirty="0" err="1">
                <a:effectLst/>
                <a:hlinkClick r:id="rId166" tooltip="Treacher Collins Syndrome"/>
              </a:rPr>
              <a:t>Treacher</a:t>
            </a:r>
            <a:r>
              <a:rPr lang="en-US" dirty="0">
                <a:effectLst/>
                <a:hlinkClick r:id="rId166" tooltip="Treacher Collins Syndrome"/>
              </a:rPr>
              <a:t> Collins Syndrome</a:t>
            </a:r>
            <a:endParaRPr lang="en-US" dirty="0">
              <a:effectLst/>
            </a:endParaRPr>
          </a:p>
          <a:p>
            <a:pPr rtl="0"/>
            <a:r>
              <a:rPr lang="en-US" b="1" dirty="0">
                <a:effectLst/>
              </a:rPr>
              <a:t>Specific genes</a:t>
            </a:r>
          </a:p>
          <a:p>
            <a:pPr rtl="0"/>
            <a:r>
              <a:rPr lang="en-US" dirty="0">
                <a:effectLst/>
              </a:rPr>
              <a:t>Type</a:t>
            </a:r>
            <a:r>
              <a:rPr lang="en-US" dirty="0">
                <a:effectLst/>
                <a:hlinkClick r:id="rId167" tooltip="OMIM"/>
              </a:rPr>
              <a:t>OMIM</a:t>
            </a:r>
            <a:r>
              <a:rPr lang="en-US" dirty="0">
                <a:effectLst/>
              </a:rPr>
              <a:t>GeneLocusOFC1</a:t>
            </a:r>
            <a:r>
              <a:rPr lang="en-US" dirty="0">
                <a:effectLst/>
                <a:hlinkClick r:id="rId168"/>
              </a:rPr>
              <a:t>119530</a:t>
            </a:r>
            <a:r>
              <a:rPr lang="en-US" dirty="0">
                <a:effectLst/>
              </a:rPr>
              <a:t> ?6p24OFC2</a:t>
            </a:r>
            <a:r>
              <a:rPr lang="en-US" dirty="0">
                <a:effectLst/>
                <a:hlinkClick r:id="rId169"/>
              </a:rPr>
              <a:t>602966</a:t>
            </a:r>
            <a:r>
              <a:rPr lang="en-US" dirty="0">
                <a:effectLst/>
              </a:rPr>
              <a:t> ?2p13OFC3</a:t>
            </a:r>
            <a:r>
              <a:rPr lang="en-US" dirty="0">
                <a:effectLst/>
                <a:hlinkClick r:id="rId170"/>
              </a:rPr>
              <a:t>600757</a:t>
            </a:r>
            <a:r>
              <a:rPr lang="en-US" dirty="0">
                <a:effectLst/>
              </a:rPr>
              <a:t> ?19q13OFC4</a:t>
            </a:r>
            <a:r>
              <a:rPr lang="en-US" dirty="0">
                <a:effectLst/>
                <a:hlinkClick r:id="rId171"/>
              </a:rPr>
              <a:t>608371</a:t>
            </a:r>
            <a:r>
              <a:rPr lang="en-US" dirty="0">
                <a:effectLst/>
              </a:rPr>
              <a:t> ?4qOFC5</a:t>
            </a:r>
            <a:r>
              <a:rPr lang="en-US" dirty="0">
                <a:effectLst/>
                <a:hlinkClick r:id="rId172"/>
              </a:rPr>
              <a:t>608874</a:t>
            </a:r>
            <a:r>
              <a:rPr lang="en-US" i="1" dirty="0">
                <a:effectLst/>
                <a:hlinkClick r:id="rId124" tooltip="MSX1"/>
              </a:rPr>
              <a:t>MSX1</a:t>
            </a:r>
            <a:r>
              <a:rPr lang="en-US" dirty="0">
                <a:effectLst/>
              </a:rPr>
              <a:t>4p16.1OFC6</a:t>
            </a:r>
            <a:r>
              <a:rPr lang="en-US" dirty="0">
                <a:effectLst/>
                <a:hlinkClick r:id="rId173"/>
              </a:rPr>
              <a:t>608864</a:t>
            </a:r>
            <a:r>
              <a:rPr lang="en-US" dirty="0">
                <a:effectLst/>
              </a:rPr>
              <a:t> ?1qOFC7</a:t>
            </a:r>
            <a:r>
              <a:rPr lang="en-US" dirty="0">
                <a:effectLst/>
                <a:hlinkClick r:id="rId174"/>
              </a:rPr>
              <a:t>600644)</a:t>
            </a:r>
            <a:r>
              <a:rPr lang="en-US" i="1" dirty="0">
                <a:effectLst/>
                <a:hlinkClick r:id="rId175" tooltip="PVRL1"/>
              </a:rPr>
              <a:t>PVRL1</a:t>
            </a:r>
            <a:r>
              <a:rPr lang="en-US" dirty="0">
                <a:effectLst/>
              </a:rPr>
              <a:t>11qOFC8</a:t>
            </a:r>
            <a:r>
              <a:rPr lang="en-US" dirty="0">
                <a:effectLst/>
                <a:hlinkClick r:id="rId176"/>
              </a:rPr>
              <a:t>129400</a:t>
            </a:r>
            <a:r>
              <a:rPr lang="en-US" i="1" dirty="0">
                <a:effectLst/>
                <a:hlinkClick r:id="rId136" tooltip="TP63"/>
              </a:rPr>
              <a:t>TP63</a:t>
            </a:r>
            <a:r>
              <a:rPr lang="en-US" dirty="0">
                <a:effectLst/>
              </a:rPr>
              <a:t>3q27OFC9</a:t>
            </a:r>
            <a:r>
              <a:rPr lang="en-US" dirty="0">
                <a:effectLst/>
                <a:hlinkClick r:id="rId177"/>
              </a:rPr>
              <a:t>610361</a:t>
            </a:r>
            <a:r>
              <a:rPr lang="en-US" dirty="0">
                <a:effectLst/>
              </a:rPr>
              <a:t> ?13q33.1-q34OFC10</a:t>
            </a:r>
            <a:r>
              <a:rPr lang="en-US" dirty="0">
                <a:effectLst/>
                <a:hlinkClick r:id="rId178"/>
              </a:rPr>
              <a:t>601912</a:t>
            </a:r>
            <a:r>
              <a:rPr lang="en-US" i="1" dirty="0">
                <a:effectLst/>
                <a:hlinkClick r:id="rId179" tooltip="SUMO1"/>
              </a:rPr>
              <a:t>SUMO1</a:t>
            </a:r>
            <a:r>
              <a:rPr lang="en-US" dirty="0">
                <a:effectLst/>
              </a:rPr>
              <a:t>2q32.2-q33OFC11</a:t>
            </a:r>
            <a:r>
              <a:rPr lang="en-US" dirty="0">
                <a:effectLst/>
                <a:hlinkClick r:id="rId180"/>
              </a:rPr>
              <a:t>600625</a:t>
            </a:r>
            <a:r>
              <a:rPr lang="en-US" i="1" dirty="0">
                <a:effectLst/>
                <a:hlinkClick r:id="rId117" tooltip="BMP4"/>
              </a:rPr>
              <a:t>BMP4</a:t>
            </a:r>
            <a:r>
              <a:rPr lang="en-US" dirty="0">
                <a:effectLst/>
              </a:rPr>
              <a:t>14q22OFC12</a:t>
            </a:r>
            <a:r>
              <a:rPr lang="en-US" dirty="0">
                <a:effectLst/>
                <a:hlinkClick r:id="rId181"/>
              </a:rPr>
              <a:t>612858</a:t>
            </a:r>
            <a:r>
              <a:rPr lang="en-US" dirty="0">
                <a:effectLst/>
              </a:rPr>
              <a:t> ?8q24.3Many genes associated with syndromic cases of cleft lip/palate (see above) have been identified to contribute to the incidence of isolated cases of cleft lip/palate. This includes in particular sequence variants in the genes </a:t>
            </a:r>
            <a:r>
              <a:rPr lang="en-US" i="1" dirty="0">
                <a:effectLst/>
                <a:hlinkClick r:id="rId121" tooltip="IRF6"/>
              </a:rPr>
              <a:t>IRF6</a:t>
            </a:r>
            <a:r>
              <a:rPr lang="en-US" dirty="0">
                <a:effectLst/>
              </a:rPr>
              <a:t>, </a:t>
            </a:r>
            <a:r>
              <a:rPr lang="en-US" i="1" dirty="0">
                <a:effectLst/>
                <a:hlinkClick r:id="rId175" tooltip="PVRL1"/>
              </a:rPr>
              <a:t>PVRL1</a:t>
            </a:r>
            <a:r>
              <a:rPr lang="en-US" dirty="0">
                <a:effectLst/>
              </a:rPr>
              <a:t> and </a:t>
            </a:r>
            <a:r>
              <a:rPr lang="en-US" i="1" dirty="0">
                <a:effectLst/>
                <a:hlinkClick r:id="rId124" tooltip="MSX1"/>
              </a:rPr>
              <a:t>MSX1</a:t>
            </a:r>
            <a:r>
              <a:rPr lang="en-US" dirty="0">
                <a:effectLst/>
              </a:rPr>
              <a:t>.</a:t>
            </a:r>
            <a:r>
              <a:rPr lang="en-US" baseline="30000" dirty="0">
                <a:effectLst/>
                <a:hlinkClick r:id="rId182"/>
              </a:rPr>
              <a:t>[35]</a:t>
            </a:r>
            <a:r>
              <a:rPr lang="en-US" dirty="0">
                <a:effectLst/>
              </a:rPr>
              <a:t> The understanding of the genetic complexities involved in the </a:t>
            </a:r>
            <a:r>
              <a:rPr lang="en-US" dirty="0">
                <a:effectLst/>
                <a:hlinkClick r:id="rId183" tooltip="Morphogenesis"/>
              </a:rPr>
              <a:t>morphogenesis</a:t>
            </a:r>
            <a:r>
              <a:rPr lang="en-US" dirty="0">
                <a:effectLst/>
              </a:rPr>
              <a:t> of the midface, including molecular and cellular processes, has been greatly aided by research on animal models, including of the genes </a:t>
            </a:r>
            <a:r>
              <a:rPr lang="en-US" i="1" dirty="0">
                <a:effectLst/>
                <a:hlinkClick r:id="rId117" tooltip="BMP4"/>
              </a:rPr>
              <a:t>BMP4</a:t>
            </a:r>
            <a:r>
              <a:rPr lang="en-US" dirty="0">
                <a:effectLst/>
              </a:rPr>
              <a:t>, </a:t>
            </a:r>
            <a:r>
              <a:rPr lang="en-US" i="1" dirty="0">
                <a:effectLst/>
              </a:rPr>
              <a:t>SHH</a:t>
            </a:r>
            <a:r>
              <a:rPr lang="en-US" dirty="0">
                <a:effectLst/>
              </a:rPr>
              <a:t>, </a:t>
            </a:r>
            <a:r>
              <a:rPr lang="en-US" i="1" dirty="0">
                <a:effectLst/>
              </a:rPr>
              <a:t>SHOX2</a:t>
            </a:r>
            <a:r>
              <a:rPr lang="en-US" dirty="0">
                <a:effectLst/>
              </a:rPr>
              <a:t>, </a:t>
            </a:r>
            <a:r>
              <a:rPr lang="en-US" i="1" dirty="0">
                <a:effectLst/>
                <a:hlinkClick r:id="rId184" tooltip="FGF10"/>
              </a:rPr>
              <a:t>FGF10</a:t>
            </a:r>
            <a:r>
              <a:rPr lang="en-US" dirty="0">
                <a:effectLst/>
              </a:rPr>
              <a:t> and </a:t>
            </a:r>
            <a:r>
              <a:rPr lang="en-US" i="1" dirty="0">
                <a:effectLst/>
                <a:hlinkClick r:id="rId124" tooltip="MSX1"/>
              </a:rPr>
              <a:t>MSX1</a:t>
            </a:r>
            <a:r>
              <a:rPr lang="en-US" dirty="0">
                <a:effectLst/>
              </a:rPr>
              <a:t>.</a:t>
            </a:r>
            <a:r>
              <a:rPr lang="en-US" baseline="30000" dirty="0">
                <a:effectLst/>
                <a:hlinkClick r:id="rId182"/>
              </a:rPr>
              <a:t>[35]</a:t>
            </a:r>
            <a:endParaRPr lang="en-US" dirty="0">
              <a:effectLst/>
            </a:endParaRPr>
          </a:p>
          <a:p>
            <a:pPr rtl="0"/>
            <a:r>
              <a:rPr lang="en-US" b="1" dirty="0">
                <a:effectLst/>
              </a:rPr>
              <a:t>Environment</a:t>
            </a:r>
          </a:p>
          <a:p>
            <a:pPr rtl="0"/>
            <a:r>
              <a:rPr lang="en-US" dirty="0">
                <a:effectLst/>
              </a:rPr>
              <a:t>Environmental influences may also cause, or interact with genetics to produce, orofacial </a:t>
            </a:r>
            <a:r>
              <a:rPr lang="en-US" dirty="0" err="1">
                <a:effectLst/>
              </a:rPr>
              <a:t>clefting</a:t>
            </a:r>
            <a:r>
              <a:rPr lang="en-US" dirty="0">
                <a:effectLst/>
              </a:rPr>
              <a:t>. An example for how environmental factors might be linked to genetics comes from research on mutations in the gene </a:t>
            </a:r>
            <a:r>
              <a:rPr lang="en-US" i="1" dirty="0">
                <a:effectLst/>
                <a:hlinkClick r:id="rId145" tooltip="PHF8"/>
              </a:rPr>
              <a:t>PHF8</a:t>
            </a:r>
            <a:r>
              <a:rPr lang="en-US" dirty="0">
                <a:effectLst/>
              </a:rPr>
              <a:t> that cause cleft lip/palate (see above). It was found that </a:t>
            </a:r>
            <a:r>
              <a:rPr lang="en-US" i="1" dirty="0">
                <a:effectLst/>
                <a:hlinkClick r:id="rId145" tooltip="PHF8"/>
              </a:rPr>
              <a:t>PHF8</a:t>
            </a:r>
            <a:r>
              <a:rPr lang="en-US" dirty="0">
                <a:effectLst/>
              </a:rPr>
              <a:t> encodes for a </a:t>
            </a:r>
            <a:r>
              <a:rPr lang="en-US" dirty="0">
                <a:effectLst/>
                <a:hlinkClick r:id="rId185" tooltip="Histone"/>
              </a:rPr>
              <a:t>histone</a:t>
            </a:r>
            <a:r>
              <a:rPr lang="en-US" dirty="0">
                <a:effectLst/>
              </a:rPr>
              <a:t> lysine demethylase,</a:t>
            </a:r>
            <a:r>
              <a:rPr lang="en-US" baseline="30000" dirty="0">
                <a:effectLst/>
                <a:hlinkClick r:id="rId186"/>
              </a:rPr>
              <a:t>[36]</a:t>
            </a:r>
            <a:r>
              <a:rPr lang="en-US" dirty="0">
                <a:effectLst/>
              </a:rPr>
              <a:t> and is involved in </a:t>
            </a:r>
            <a:r>
              <a:rPr lang="en-US" dirty="0">
                <a:effectLst/>
                <a:hlinkClick r:id="rId187" tooltip="Epigenetic regulation"/>
              </a:rPr>
              <a:t>epigenetic regulation</a:t>
            </a:r>
            <a:r>
              <a:rPr lang="en-US" dirty="0">
                <a:effectLst/>
              </a:rPr>
              <a:t>. The catalytic activity of PHF8 depends on molecular </a:t>
            </a:r>
            <a:r>
              <a:rPr lang="en-US" dirty="0">
                <a:effectLst/>
                <a:hlinkClick r:id="rId188" tooltip="Oxygen"/>
              </a:rPr>
              <a:t>oxygen</a:t>
            </a:r>
            <a:r>
              <a:rPr lang="en-US" dirty="0">
                <a:effectLst/>
              </a:rPr>
              <a:t>,</a:t>
            </a:r>
            <a:r>
              <a:rPr lang="en-US" baseline="30000" dirty="0">
                <a:effectLst/>
                <a:hlinkClick r:id="rId186"/>
              </a:rPr>
              <a:t>[36]</a:t>
            </a:r>
            <a:r>
              <a:rPr lang="en-US" dirty="0">
                <a:effectLst/>
              </a:rPr>
              <a:t> a fact considered important with respect to reports on increased incidence of </a:t>
            </a:r>
            <a:r>
              <a:rPr lang="en-US" dirty="0">
                <a:effectLst/>
                <a:hlinkClick r:id="rId189" tooltip="Cleft lip/palate"/>
              </a:rPr>
              <a:t>cleft lip/palate</a:t>
            </a:r>
            <a:r>
              <a:rPr lang="en-US" dirty="0">
                <a:effectLst/>
              </a:rPr>
              <a:t> in mice that have been exposed to </a:t>
            </a:r>
            <a:r>
              <a:rPr lang="en-US" dirty="0">
                <a:effectLst/>
                <a:hlinkClick r:id="rId190" tooltip="Hypoxia (medical)"/>
              </a:rPr>
              <a:t>hypoxia</a:t>
            </a:r>
            <a:r>
              <a:rPr lang="en-US" dirty="0">
                <a:effectLst/>
              </a:rPr>
              <a:t> early during </a:t>
            </a:r>
            <a:r>
              <a:rPr lang="en-US" dirty="0">
                <a:effectLst/>
                <a:hlinkClick r:id="rId191" tooltip="Pregnancy"/>
              </a:rPr>
              <a:t>pregnancy</a:t>
            </a:r>
            <a:r>
              <a:rPr lang="en-US" dirty="0">
                <a:effectLst/>
              </a:rPr>
              <a:t>.</a:t>
            </a:r>
            <a:r>
              <a:rPr lang="en-US" baseline="30000" dirty="0">
                <a:effectLst/>
                <a:hlinkClick r:id="rId192"/>
              </a:rPr>
              <a:t>[37]</a:t>
            </a:r>
            <a:r>
              <a:rPr lang="en-US" dirty="0">
                <a:effectLst/>
              </a:rPr>
              <a:t> In humans, </a:t>
            </a:r>
            <a:r>
              <a:rPr lang="en-US" dirty="0">
                <a:effectLst/>
                <a:hlinkClick r:id="rId193" tooltip="Fetal"/>
              </a:rPr>
              <a:t>fetal</a:t>
            </a:r>
            <a:r>
              <a:rPr lang="en-US" dirty="0">
                <a:effectLst/>
              </a:rPr>
              <a:t> cleft lip and other </a:t>
            </a:r>
            <a:r>
              <a:rPr lang="en-US" dirty="0">
                <a:effectLst/>
                <a:hlinkClick r:id="rId194" tooltip="Congenital abnormalities"/>
              </a:rPr>
              <a:t>congenital abnormalities</a:t>
            </a:r>
            <a:r>
              <a:rPr lang="en-US" dirty="0">
                <a:effectLst/>
              </a:rPr>
              <a:t> have also been linked to maternal hypoxia, as caused by e.g. </a:t>
            </a:r>
            <a:r>
              <a:rPr lang="en-US" dirty="0">
                <a:effectLst/>
                <a:hlinkClick r:id="rId195" tooltip="Smoking and pregnancy"/>
              </a:rPr>
              <a:t>maternal smoking</a:t>
            </a:r>
            <a:r>
              <a:rPr lang="en-US" dirty="0">
                <a:effectLst/>
              </a:rPr>
              <a:t>,</a:t>
            </a:r>
            <a:r>
              <a:rPr lang="en-US" baseline="30000" dirty="0">
                <a:effectLst/>
                <a:hlinkClick r:id="rId196"/>
              </a:rPr>
              <a:t>[38]</a:t>
            </a:r>
            <a:r>
              <a:rPr lang="en-US" dirty="0">
                <a:effectLst/>
              </a:rPr>
              <a:t> maternal </a:t>
            </a:r>
            <a:r>
              <a:rPr lang="en-US" dirty="0">
                <a:effectLst/>
                <a:hlinkClick r:id="rId197" tooltip="Alcohol abuse"/>
              </a:rPr>
              <a:t>alcohol abuse</a:t>
            </a:r>
            <a:r>
              <a:rPr lang="en-US" dirty="0">
                <a:effectLst/>
              </a:rPr>
              <a:t> or some forms of maternal </a:t>
            </a:r>
            <a:r>
              <a:rPr lang="en-US" dirty="0">
                <a:effectLst/>
                <a:hlinkClick r:id="rId198" tooltip="Hypertension"/>
              </a:rPr>
              <a:t>hypertension</a:t>
            </a:r>
            <a:r>
              <a:rPr lang="en-US" dirty="0">
                <a:effectLst/>
              </a:rPr>
              <a:t> treatment.</a:t>
            </a:r>
            <a:r>
              <a:rPr lang="en-US" baseline="30000" dirty="0">
                <a:effectLst/>
                <a:hlinkClick r:id="rId199"/>
              </a:rPr>
              <a:t>[39]</a:t>
            </a:r>
            <a:r>
              <a:rPr lang="en-US" dirty="0">
                <a:effectLst/>
              </a:rPr>
              <a:t> Other environmental factors that have been studied include: seasonal causes (such as pesticide exposure); maternal diet and vitamin intake; </a:t>
            </a:r>
            <a:r>
              <a:rPr lang="en-US" dirty="0" err="1">
                <a:effectLst/>
              </a:rPr>
              <a:t>retinoids</a:t>
            </a:r>
            <a:r>
              <a:rPr lang="en-US" dirty="0">
                <a:effectLst/>
              </a:rPr>
              <a:t> — which are members of the vitamin A family; </a:t>
            </a:r>
            <a:r>
              <a:rPr lang="en-US" dirty="0">
                <a:effectLst/>
                <a:hlinkClick r:id="rId200" tooltip="Anticonvulsant"/>
              </a:rPr>
              <a:t>anticonvulsant</a:t>
            </a:r>
            <a:r>
              <a:rPr lang="en-US" dirty="0">
                <a:effectLst/>
              </a:rPr>
              <a:t> drugs; alcohol; cigarette use; nitrate compounds; organic solvents; parental exposure to lead; and illegal drugs (cocaine, crack cocaine, heroin, etc.).</a:t>
            </a:r>
          </a:p>
          <a:p>
            <a:pPr rtl="0"/>
            <a:r>
              <a:rPr lang="en-US" dirty="0">
                <a:effectLst/>
              </a:rPr>
              <a:t>Current research continues to investigate the extent to which </a:t>
            </a:r>
            <a:r>
              <a:rPr lang="en-US" dirty="0">
                <a:effectLst/>
                <a:hlinkClick r:id="rId201" tooltip="Folic acid"/>
              </a:rPr>
              <a:t>folic acid</a:t>
            </a:r>
            <a:r>
              <a:rPr lang="en-US" dirty="0">
                <a:effectLst/>
              </a:rPr>
              <a:t> can reduce the incidence of </a:t>
            </a:r>
            <a:r>
              <a:rPr lang="en-US" dirty="0" err="1">
                <a:effectLst/>
              </a:rPr>
              <a:t>clefting</a:t>
            </a:r>
            <a:r>
              <a:rPr lang="en-US" dirty="0">
                <a:effectLst/>
              </a:rPr>
              <a:t>.</a:t>
            </a:r>
            <a:r>
              <a:rPr lang="en-US" baseline="30000" dirty="0">
                <a:effectLst/>
                <a:hlinkClick r:id="rId202"/>
              </a:rPr>
              <a:t>[40]</a:t>
            </a:r>
            <a:endParaRPr lang="en-US" dirty="0">
              <a:effectLst/>
            </a:endParaRPr>
          </a:p>
          <a:p>
            <a:pPr rtl="0"/>
            <a:r>
              <a:rPr lang="en-US" b="1" dirty="0">
                <a:effectLst/>
              </a:rPr>
              <a:t>Diagnosis</a:t>
            </a:r>
          </a:p>
          <a:p>
            <a:pPr rtl="0"/>
            <a:r>
              <a:rPr lang="en-US" dirty="0">
                <a:effectLst/>
              </a:rPr>
              <a:t>Traditionally, the diagnosis is made at the time of birth by physical examination. Recent advances in </a:t>
            </a:r>
            <a:r>
              <a:rPr lang="en-US" dirty="0">
                <a:effectLst/>
                <a:hlinkClick r:id="rId203" tooltip="Prenatal diagnosis"/>
              </a:rPr>
              <a:t>prenatal diagnosis</a:t>
            </a:r>
            <a:r>
              <a:rPr lang="en-US" dirty="0">
                <a:effectLst/>
              </a:rPr>
              <a:t> have allowed </a:t>
            </a:r>
            <a:r>
              <a:rPr lang="en-US" dirty="0">
                <a:effectLst/>
                <a:hlinkClick r:id="rId204" tooltip="Obstetrician"/>
              </a:rPr>
              <a:t>obstetricians</a:t>
            </a:r>
            <a:r>
              <a:rPr lang="en-US" dirty="0">
                <a:effectLst/>
              </a:rPr>
              <a:t> to diagnose facial clefts </a:t>
            </a:r>
            <a:r>
              <a:rPr lang="en-US" dirty="0">
                <a:effectLst/>
                <a:hlinkClick r:id="rId205" tooltip="In utero"/>
              </a:rPr>
              <a:t>in utero</a:t>
            </a:r>
            <a:r>
              <a:rPr lang="en-US" dirty="0">
                <a:effectLst/>
              </a:rPr>
              <a:t>.</a:t>
            </a:r>
            <a:r>
              <a:rPr lang="en-US" baseline="30000" dirty="0">
                <a:effectLst/>
                <a:hlinkClick r:id="rId206"/>
              </a:rPr>
              <a:t>[41]</a:t>
            </a:r>
            <a:endParaRPr lang="en-US" dirty="0">
              <a:effectLst/>
            </a:endParaRPr>
          </a:p>
          <a:p>
            <a:pPr rtl="0"/>
            <a:r>
              <a:rPr lang="en-US" dirty="0">
                <a:effectLst/>
              </a:rPr>
              <a:t>Clefts can also affect other parts of the face, such as the eyes, ears, nose, cheeks, and forehead. In 1976, </a:t>
            </a:r>
            <a:r>
              <a:rPr lang="en-US" dirty="0">
                <a:effectLst/>
                <a:hlinkClick r:id="rId207" tooltip="Paul Tessier"/>
              </a:rPr>
              <a:t>Paul </a:t>
            </a:r>
            <a:r>
              <a:rPr lang="en-US" dirty="0" err="1">
                <a:effectLst/>
                <a:hlinkClick r:id="rId207" tooltip="Paul Tessier"/>
              </a:rPr>
              <a:t>Tessier</a:t>
            </a:r>
            <a:r>
              <a:rPr lang="en-US" dirty="0">
                <a:effectLst/>
              </a:rPr>
              <a:t> described fifteen lines of cleft. Most of these craniofacial clefts are even rarer and are frequently described as </a:t>
            </a:r>
            <a:r>
              <a:rPr lang="en-US" dirty="0" err="1">
                <a:effectLst/>
              </a:rPr>
              <a:t>Tessier</a:t>
            </a:r>
            <a:r>
              <a:rPr lang="en-US" dirty="0">
                <a:effectLst/>
              </a:rPr>
              <a:t> clefts using the numerical locator devised by </a:t>
            </a:r>
            <a:r>
              <a:rPr lang="en-US" dirty="0" err="1">
                <a:effectLst/>
              </a:rPr>
              <a:t>Tessier</a:t>
            </a:r>
            <a:r>
              <a:rPr lang="en-US" dirty="0">
                <a:effectLst/>
              </a:rPr>
              <a:t>.</a:t>
            </a:r>
            <a:r>
              <a:rPr lang="en-US" baseline="30000" dirty="0">
                <a:effectLst/>
                <a:hlinkClick r:id="rId208"/>
              </a:rPr>
              <a:t>[42]</a:t>
            </a:r>
            <a:endParaRPr lang="en-US" dirty="0">
              <a:effectLst/>
            </a:endParaRPr>
          </a:p>
          <a:p>
            <a:pPr rtl="0"/>
            <a:r>
              <a:rPr lang="en-US" b="1" dirty="0">
                <a:effectLst/>
              </a:rPr>
              <a:t>Treatment</a:t>
            </a:r>
          </a:p>
          <a:p>
            <a:pPr rtl="0"/>
            <a:r>
              <a:rPr lang="en-US" dirty="0">
                <a:effectLst/>
              </a:rPr>
              <a:t>Cleft lip and palate is very treatable; however, the kind of treatment depends on the type and severity of the cleft.</a:t>
            </a:r>
          </a:p>
          <a:p>
            <a:pPr rtl="0"/>
            <a:r>
              <a:rPr lang="en-US" dirty="0">
                <a:effectLst/>
              </a:rPr>
              <a:t>Most children with a form of </a:t>
            </a:r>
            <a:r>
              <a:rPr lang="en-US" dirty="0" err="1">
                <a:effectLst/>
              </a:rPr>
              <a:t>clefting</a:t>
            </a:r>
            <a:r>
              <a:rPr lang="en-US" dirty="0">
                <a:effectLst/>
              </a:rPr>
              <a:t> are monitored by a </a:t>
            </a:r>
            <a:r>
              <a:rPr lang="en-US" i="1" dirty="0">
                <a:effectLst/>
              </a:rPr>
              <a:t>cleft palate team</a:t>
            </a:r>
            <a:r>
              <a:rPr lang="en-US" dirty="0">
                <a:effectLst/>
              </a:rPr>
              <a:t> or </a:t>
            </a:r>
            <a:r>
              <a:rPr lang="en-US" i="1" dirty="0">
                <a:effectLst/>
              </a:rPr>
              <a:t>craniofacial team</a:t>
            </a:r>
            <a:r>
              <a:rPr lang="en-US" dirty="0">
                <a:effectLst/>
              </a:rPr>
              <a:t> through young adulthood.</a:t>
            </a:r>
            <a:r>
              <a:rPr lang="en-US" baseline="30000" dirty="0">
                <a:effectLst/>
                <a:hlinkClick r:id="rId209"/>
              </a:rPr>
              <a:t>[43]</a:t>
            </a:r>
            <a:r>
              <a:rPr lang="en-US" dirty="0">
                <a:effectLst/>
              </a:rPr>
              <a:t> Care can be lifelong. Treatment procedures can vary between craniofacial teams. For example, some teams wait on jaw correction until the child is aged 10 to 12 (argument: growth is less influential as </a:t>
            </a:r>
            <a:r>
              <a:rPr lang="en-US" dirty="0">
                <a:effectLst/>
                <a:hlinkClick r:id="rId210" tooltip="Deciduous teeth"/>
              </a:rPr>
              <a:t>deciduous teeth</a:t>
            </a:r>
            <a:r>
              <a:rPr lang="en-US" dirty="0">
                <a:effectLst/>
              </a:rPr>
              <a:t> are replaced by </a:t>
            </a:r>
            <a:r>
              <a:rPr lang="en-US" dirty="0">
                <a:effectLst/>
                <a:hlinkClick r:id="rId211" tooltip="Permanent teeth"/>
              </a:rPr>
              <a:t>permanent teeth</a:t>
            </a:r>
            <a:r>
              <a:rPr lang="en-US" dirty="0">
                <a:effectLst/>
              </a:rPr>
              <a:t>, thus saving the child from repeated corrective surgeries), while other teams correct the jaw earlier (argument: less speech therapy is needed than at a later age when speech therapy becomes harder). Within teams, treatment can differ between individual cases depending on the type and severity of the cleft.</a:t>
            </a:r>
          </a:p>
          <a:p>
            <a:pPr rtl="0"/>
            <a:r>
              <a:rPr lang="en-US" b="1" dirty="0">
                <a:effectLst/>
              </a:rPr>
              <a:t>Cleft lip</a:t>
            </a:r>
          </a:p>
          <a:p>
            <a:pPr rtl="0"/>
            <a:r>
              <a:rPr lang="en-US" dirty="0">
                <a:effectLst/>
              </a:rPr>
              <a:t>Within the first 2–3 months after birth, </a:t>
            </a:r>
            <a:r>
              <a:rPr lang="en-US" dirty="0">
                <a:effectLst/>
                <a:hlinkClick r:id="rId25" tooltip="Surgery"/>
              </a:rPr>
              <a:t>surgery</a:t>
            </a:r>
            <a:r>
              <a:rPr lang="en-US" dirty="0">
                <a:effectLst/>
              </a:rPr>
              <a:t> is performed to close the cleft lip. While surgery to repair a cleft lip can be performed soon after birth, often the preferred age is at approximately 10 weeks of age, following the "rule of 10s" coined by surgeons </a:t>
            </a:r>
            <a:r>
              <a:rPr lang="en-US" dirty="0" err="1">
                <a:effectLst/>
              </a:rPr>
              <a:t>Wilhelmmesen</a:t>
            </a:r>
            <a:r>
              <a:rPr lang="en-US" dirty="0">
                <a:effectLst/>
              </a:rPr>
              <a:t> and Musgrave in 1969 (the child is at least 10 weeks of age; weighs at least 10 pounds, and has at least 10g hemoglobin).</a:t>
            </a:r>
            <a:r>
              <a:rPr lang="en-US" baseline="30000" dirty="0">
                <a:effectLst/>
                <a:hlinkClick r:id="rId212"/>
              </a:rPr>
              <a:t>[44]</a:t>
            </a:r>
            <a:r>
              <a:rPr lang="en-US" dirty="0">
                <a:effectLst/>
              </a:rPr>
              <a:t> If the cleft is bilateral and extensive, two surgeries may be required to close the cleft, one side first, and the second side a few weeks later. The most common procedure to repair a cleft lip is the </a:t>
            </a:r>
            <a:r>
              <a:rPr lang="en-US" i="1" dirty="0">
                <a:effectLst/>
              </a:rPr>
              <a:t>Millard procedure</a:t>
            </a:r>
            <a:r>
              <a:rPr lang="en-US" dirty="0">
                <a:effectLst/>
              </a:rPr>
              <a:t> pioneered by </a:t>
            </a:r>
            <a:r>
              <a:rPr lang="en-US" dirty="0">
                <a:effectLst/>
                <a:hlinkClick r:id="rId213" tooltip="Ralph Millard"/>
              </a:rPr>
              <a:t>Ralph Millard</a:t>
            </a:r>
            <a:r>
              <a:rPr lang="en-US" dirty="0">
                <a:effectLst/>
              </a:rPr>
              <a:t>. Millard performed the first procedure at a </a:t>
            </a:r>
            <a:r>
              <a:rPr lang="en-US" dirty="0">
                <a:effectLst/>
                <a:hlinkClick r:id="rId214" tooltip="Mobile Army Surgical Hospital"/>
              </a:rPr>
              <a:t>Mobile Army Surgical Hospital</a:t>
            </a:r>
            <a:r>
              <a:rPr lang="en-US" dirty="0">
                <a:effectLst/>
              </a:rPr>
              <a:t> (MASH) unit in Korea.</a:t>
            </a:r>
            <a:r>
              <a:rPr lang="en-US" baseline="30000" dirty="0">
                <a:effectLst/>
                <a:hlinkClick r:id="rId215"/>
              </a:rPr>
              <a:t>[45]</a:t>
            </a:r>
            <a:endParaRPr lang="en-US" dirty="0">
              <a:effectLst/>
            </a:endParaRPr>
          </a:p>
          <a:p>
            <a:pPr rtl="0"/>
            <a:r>
              <a:rPr lang="en-US" dirty="0">
                <a:effectLst/>
              </a:rPr>
              <a:t>Often an incomplete cleft lip requires the same surgery as complete cleft. This is done for two reasons. Firstly the group of </a:t>
            </a:r>
            <a:r>
              <a:rPr lang="en-US" dirty="0">
                <a:effectLst/>
                <a:hlinkClick r:id="rId216" tooltip="Muscle"/>
              </a:rPr>
              <a:t>muscles</a:t>
            </a:r>
            <a:r>
              <a:rPr lang="en-US" dirty="0">
                <a:effectLst/>
              </a:rPr>
              <a:t> required to purse the lips run through the upper lip. In order to restore the complete group a full incision must be made. Secondly, to create a less obvious scar the surgeon tries to line up the scar with the natural lines in the upper lip (such as the edges of the </a:t>
            </a:r>
            <a:r>
              <a:rPr lang="en-US" dirty="0">
                <a:effectLst/>
                <a:hlinkClick r:id="rId217" tooltip="Philtrum"/>
              </a:rPr>
              <a:t>philtrum</a:t>
            </a:r>
            <a:r>
              <a:rPr lang="en-US" dirty="0">
                <a:effectLst/>
              </a:rPr>
              <a:t>) and tuck away stitches as far up the nose as possible. Incomplete cleft gives the surgeon more tissue to work with, creating a more supple and natural-looking upper lip.</a:t>
            </a:r>
          </a:p>
          <a:p>
            <a:pPr rtl="0"/>
            <a:r>
              <a:rPr lang="en-US" dirty="0">
                <a:effectLst/>
              </a:rPr>
              <a:t>The blue lines indicate incisions.</a:t>
            </a:r>
          </a:p>
          <a:p>
            <a:pPr rtl="0"/>
            <a:r>
              <a:rPr lang="en-US" dirty="0">
                <a:effectLst/>
              </a:rPr>
              <a:t>Movement of the flaps; flap A is moved between B and C. C is rotated slightly while B is pushed down.</a:t>
            </a:r>
          </a:p>
          <a:p>
            <a:pPr rtl="0"/>
            <a:r>
              <a:rPr lang="en-US" dirty="0">
                <a:effectLst/>
              </a:rPr>
              <a:t>Pre-operation</a:t>
            </a:r>
          </a:p>
          <a:p>
            <a:pPr rtl="0"/>
            <a:r>
              <a:rPr lang="en-US" dirty="0">
                <a:effectLst/>
              </a:rPr>
              <a:t>Post-operation, the lip is swollen from surgery and will get a more natural look within a couple of weeks. See photos in the </a:t>
            </a:r>
            <a:r>
              <a:rPr lang="en-US" dirty="0">
                <a:effectLst/>
                <a:hlinkClick r:id="rId43"/>
              </a:rPr>
              <a:t>section above</a:t>
            </a:r>
            <a:r>
              <a:rPr lang="en-US" dirty="0">
                <a:effectLst/>
              </a:rPr>
              <a:t>.</a:t>
            </a:r>
          </a:p>
          <a:p>
            <a:pPr rtl="0"/>
            <a:r>
              <a:rPr lang="en-US" b="1" dirty="0">
                <a:effectLst/>
              </a:rPr>
              <a:t>Pre-surgical devices</a:t>
            </a:r>
          </a:p>
          <a:p>
            <a:pPr rtl="0"/>
            <a:r>
              <a:rPr lang="en-US" dirty="0">
                <a:effectLst/>
              </a:rPr>
              <a:t>In some cases of a severe bi-lateral complete cleft, the </a:t>
            </a:r>
            <a:r>
              <a:rPr lang="en-US" dirty="0" err="1">
                <a:effectLst/>
              </a:rPr>
              <a:t>premaxillary</a:t>
            </a:r>
            <a:r>
              <a:rPr lang="en-US" dirty="0">
                <a:effectLst/>
              </a:rPr>
              <a:t> segment will be protruded far outside the mouth.</a:t>
            </a:r>
          </a:p>
          <a:p>
            <a:pPr rtl="0"/>
            <a:r>
              <a:rPr lang="en-US" dirty="0" err="1">
                <a:effectLst/>
                <a:hlinkClick r:id="rId218" tooltip="Nasoalveolar molding (page does not exist)"/>
              </a:rPr>
              <a:t>Nasoalveolar</a:t>
            </a:r>
            <a:r>
              <a:rPr lang="en-US" dirty="0">
                <a:effectLst/>
                <a:hlinkClick r:id="rId218" tooltip="Nasoalveolar molding (page does not exist)"/>
              </a:rPr>
              <a:t> molding</a:t>
            </a:r>
            <a:r>
              <a:rPr lang="en-US" dirty="0">
                <a:effectLst/>
              </a:rPr>
              <a:t> prior to surgery can improve long-term nasal symmetry among patients with complete unilateral </a:t>
            </a:r>
            <a:r>
              <a:rPr lang="en-US" dirty="0">
                <a:effectLst/>
                <a:hlinkClick r:id="rId219" tooltip="Cleft lip"/>
              </a:rPr>
              <a:t>cleft lip</a:t>
            </a:r>
            <a:r>
              <a:rPr lang="en-US" dirty="0">
                <a:effectLst/>
              </a:rPr>
              <a:t>-</a:t>
            </a:r>
            <a:r>
              <a:rPr lang="en-US" dirty="0">
                <a:effectLst/>
                <a:hlinkClick r:id="rId220" tooltip="Cleft palate"/>
              </a:rPr>
              <a:t>cleft palate</a:t>
            </a:r>
            <a:r>
              <a:rPr lang="en-US" dirty="0">
                <a:effectLst/>
              </a:rPr>
              <a:t> patients compared to correction by surgery alone, according to a retrospective </a:t>
            </a:r>
            <a:r>
              <a:rPr lang="en-US" dirty="0">
                <a:effectLst/>
                <a:hlinkClick r:id="rId221" tooltip="Cohort study"/>
              </a:rPr>
              <a:t>cohort study</a:t>
            </a:r>
            <a:r>
              <a:rPr lang="en-US" dirty="0">
                <a:effectLst/>
              </a:rPr>
              <a:t>.</a:t>
            </a:r>
            <a:r>
              <a:rPr lang="en-US" baseline="30000" dirty="0">
                <a:effectLst/>
                <a:hlinkClick r:id="rId222"/>
              </a:rPr>
              <a:t>[46]</a:t>
            </a:r>
            <a:r>
              <a:rPr lang="en-US" dirty="0">
                <a:effectLst/>
              </a:rPr>
              <a:t> In this study, significant improvements in nasal symmetry were observed in multiple areas including measurements of the projected length of the nasal ala (lateral surface of the external nose), position of the </a:t>
            </a:r>
            <a:r>
              <a:rPr lang="en-US" dirty="0" err="1">
                <a:effectLst/>
              </a:rPr>
              <a:t>superoinferior</a:t>
            </a:r>
            <a:r>
              <a:rPr lang="en-US" dirty="0">
                <a:effectLst/>
              </a:rPr>
              <a:t> alar groove, position of the </a:t>
            </a:r>
            <a:r>
              <a:rPr lang="en-US" dirty="0" err="1">
                <a:effectLst/>
              </a:rPr>
              <a:t>mediolateral</a:t>
            </a:r>
            <a:r>
              <a:rPr lang="en-US" dirty="0">
                <a:effectLst/>
              </a:rPr>
              <a:t> nasal dome, and nasal bridge deviation. "The nasal ala projection length demonstrated an average ratio of 93.0 percent in the surgery-alone group and 96.5 percent in the </a:t>
            </a:r>
            <a:r>
              <a:rPr lang="en-US" dirty="0" err="1">
                <a:effectLst/>
              </a:rPr>
              <a:t>nasoalveolar</a:t>
            </a:r>
            <a:r>
              <a:rPr lang="en-US" dirty="0">
                <a:effectLst/>
              </a:rPr>
              <a:t> molding group" this study concluded.</a:t>
            </a:r>
          </a:p>
          <a:p>
            <a:pPr rtl="0"/>
            <a:r>
              <a:rPr lang="en-US" b="1" dirty="0">
                <a:effectLst/>
              </a:rPr>
              <a:t>Cleft palate</a:t>
            </a:r>
          </a:p>
          <a:p>
            <a:pPr rtl="0"/>
            <a:r>
              <a:rPr lang="en-US" dirty="0">
                <a:effectLst/>
              </a:rPr>
              <a:t>A repaired cleft palate on a 64-year-old female.</a:t>
            </a:r>
          </a:p>
          <a:p>
            <a:pPr rtl="0"/>
            <a:r>
              <a:rPr lang="en-US" dirty="0">
                <a:effectLst/>
              </a:rPr>
              <a:t>Often a cleft palate is temporarily covered by a </a:t>
            </a:r>
            <a:r>
              <a:rPr lang="en-US" dirty="0">
                <a:effectLst/>
                <a:hlinkClick r:id="rId223" tooltip="Palatal obturator"/>
              </a:rPr>
              <a:t>palatal obturator</a:t>
            </a:r>
            <a:r>
              <a:rPr lang="en-US" dirty="0">
                <a:effectLst/>
              </a:rPr>
              <a:t> (a prosthetic device made to fit the roof of the mouth covering the gap).</a:t>
            </a:r>
          </a:p>
          <a:p>
            <a:pPr rtl="0"/>
            <a:r>
              <a:rPr lang="en-US" dirty="0">
                <a:effectLst/>
              </a:rPr>
              <a:t>Cleft palate can also be corrected by </a:t>
            </a:r>
            <a:r>
              <a:rPr lang="en-US" dirty="0">
                <a:effectLst/>
                <a:hlinkClick r:id="rId25" tooltip="Surgery"/>
              </a:rPr>
              <a:t>surgery</a:t>
            </a:r>
            <a:r>
              <a:rPr lang="en-US" dirty="0">
                <a:effectLst/>
              </a:rPr>
              <a:t>, usually performed between 6 and 12 months. Approximately 20–25% only require one palatal surgery to achieve a competent velopharyngeal valve capable of producing normal, non-</a:t>
            </a:r>
            <a:r>
              <a:rPr lang="en-US" dirty="0" err="1">
                <a:effectLst/>
                <a:hlinkClick r:id="rId224" tooltip="Hypernasal speech"/>
              </a:rPr>
              <a:t>hypernasal</a:t>
            </a:r>
            <a:r>
              <a:rPr lang="en-US" dirty="0">
                <a:effectLst/>
                <a:hlinkClick r:id="rId224" tooltip="Hypernasal speech"/>
              </a:rPr>
              <a:t> speech</a:t>
            </a:r>
            <a:r>
              <a:rPr lang="en-US" dirty="0">
                <a:effectLst/>
              </a:rPr>
              <a:t>. However, combinations of surgical methods and repeated surgeries are often necessary as the child grows. One of the new innovations of cleft lip and cleft palate repair is the </a:t>
            </a:r>
            <a:r>
              <a:rPr lang="en-US" dirty="0">
                <a:effectLst/>
                <a:hlinkClick r:id="rId225" tooltip="Latham appliance"/>
              </a:rPr>
              <a:t>Latham appliance</a:t>
            </a:r>
            <a:r>
              <a:rPr lang="en-US" dirty="0">
                <a:effectLst/>
              </a:rPr>
              <a:t>.</a:t>
            </a:r>
            <a:r>
              <a:rPr lang="en-US" baseline="30000" dirty="0">
                <a:effectLst/>
                <a:hlinkClick r:id="rId226"/>
              </a:rPr>
              <a:t>[47]</a:t>
            </a:r>
            <a:r>
              <a:rPr lang="en-US" dirty="0">
                <a:effectLst/>
              </a:rPr>
              <a:t> The Latham is surgically inserted by use of pins during the child's 4th or 5th month. After it is in place, the doctor, or parents, turn a screw daily to bring the cleft together to assist with future lip and/or palate repair.</a:t>
            </a:r>
          </a:p>
          <a:p>
            <a:pPr rtl="0"/>
            <a:r>
              <a:rPr lang="en-US" dirty="0">
                <a:effectLst/>
              </a:rPr>
              <a:t>If the cleft extends into the maxillary alveolar ridge, the gap is usually corrected by filling the gap with bone tissue. The bone tissue can be acquired from the patients own chin, rib or hip.</a:t>
            </a:r>
          </a:p>
          <a:p>
            <a:pPr rtl="0"/>
            <a:r>
              <a:rPr lang="en-US" b="1" dirty="0">
                <a:effectLst/>
              </a:rPr>
              <a:t>Speech and hearing</a:t>
            </a:r>
          </a:p>
          <a:p>
            <a:pPr rtl="0"/>
            <a:r>
              <a:rPr lang="en-US" dirty="0">
                <a:effectLst/>
              </a:rPr>
              <a:t>A </a:t>
            </a:r>
            <a:r>
              <a:rPr lang="en-US" dirty="0" err="1">
                <a:effectLst/>
                <a:hlinkClick r:id="rId227" tooltip="Tympanostomy tube"/>
              </a:rPr>
              <a:t>tympanostomy</a:t>
            </a:r>
            <a:r>
              <a:rPr lang="en-US" dirty="0">
                <a:effectLst/>
                <a:hlinkClick r:id="rId227" tooltip="Tympanostomy tube"/>
              </a:rPr>
              <a:t> tube</a:t>
            </a:r>
            <a:r>
              <a:rPr lang="en-US" dirty="0">
                <a:effectLst/>
              </a:rPr>
              <a:t> is often inserted into the </a:t>
            </a:r>
            <a:r>
              <a:rPr lang="en-US" dirty="0">
                <a:effectLst/>
                <a:hlinkClick r:id="rId228" tooltip="Eardrum"/>
              </a:rPr>
              <a:t>eardrum</a:t>
            </a:r>
            <a:r>
              <a:rPr lang="en-US" dirty="0">
                <a:effectLst/>
              </a:rPr>
              <a:t> to aerate the </a:t>
            </a:r>
            <a:r>
              <a:rPr lang="en-US" dirty="0">
                <a:effectLst/>
                <a:hlinkClick r:id="rId229" tooltip="Middle ear"/>
              </a:rPr>
              <a:t>middle ear</a:t>
            </a:r>
            <a:r>
              <a:rPr lang="en-US" dirty="0">
                <a:effectLst/>
              </a:rPr>
              <a:t>.</a:t>
            </a:r>
            <a:r>
              <a:rPr lang="en-US" baseline="30000" dirty="0">
                <a:effectLst/>
                <a:hlinkClick r:id="rId230"/>
              </a:rPr>
              <a:t>[48]</a:t>
            </a:r>
            <a:r>
              <a:rPr lang="en-US" dirty="0">
                <a:effectLst/>
              </a:rPr>
              <a:t> This is often beneficial for the hearing ability of the child.</a:t>
            </a:r>
          </a:p>
          <a:p>
            <a:pPr rtl="0"/>
            <a:r>
              <a:rPr lang="en-US" dirty="0">
                <a:effectLst/>
              </a:rPr>
              <a:t>Children with cleft palate typically have a variety of speech problems. Some speech problems result directly from anatomical differences such as </a:t>
            </a:r>
            <a:r>
              <a:rPr lang="en-US" dirty="0">
                <a:effectLst/>
                <a:hlinkClick r:id="rId231" tooltip="Velopharyngeal inadequacy"/>
              </a:rPr>
              <a:t>velopharyngeal inadequacy</a:t>
            </a:r>
            <a:r>
              <a:rPr lang="en-US" dirty="0">
                <a:effectLst/>
              </a:rPr>
              <a:t>. Velopharyngeal inadequacy refers to the inability of the soft palate to close the opening from the throat to the nasal cavity, which is necessary for many speech sounds, such as /p/, /b/, /t/, /d/, /s/, /z/, etc.</a:t>
            </a:r>
            <a:r>
              <a:rPr lang="en-US" baseline="30000" dirty="0">
                <a:effectLst/>
                <a:hlinkClick r:id="rId232"/>
              </a:rPr>
              <a:t>[49]</a:t>
            </a:r>
            <a:r>
              <a:rPr lang="en-US" dirty="0">
                <a:effectLst/>
              </a:rPr>
              <a:t> This type of errors typically resolve after palate repair.</a:t>
            </a:r>
            <a:r>
              <a:rPr lang="en-US" baseline="30000" dirty="0">
                <a:effectLst/>
                <a:hlinkClick r:id="rId233"/>
              </a:rPr>
              <a:t>[50]</a:t>
            </a:r>
            <a:endParaRPr lang="en-US" dirty="0">
              <a:effectLst/>
            </a:endParaRPr>
          </a:p>
          <a:p>
            <a:pPr rtl="0"/>
            <a:r>
              <a:rPr lang="en-US" dirty="0">
                <a:effectLst/>
              </a:rPr>
              <a:t>However, sometimes children with cleft palate also have speech errors which develop as the result of an attempt to compensate for the inability to produce the target phoneme. These are known as compensatory articulations. Compensatory articulations are usually sounds that are non-existent in normal English phonology, often do not resolve automatically after palatal repair, and make a child’s speech even more difficult to understand.</a:t>
            </a:r>
            <a:r>
              <a:rPr lang="en-US" baseline="30000" dirty="0">
                <a:effectLst/>
                <a:hlinkClick r:id="rId233"/>
              </a:rPr>
              <a:t>[50]</a:t>
            </a:r>
            <a:r>
              <a:rPr lang="en-US" baseline="30000" dirty="0">
                <a:effectLst/>
                <a:hlinkClick r:id="rId234"/>
              </a:rPr>
              <a:t>[51]</a:t>
            </a:r>
            <a:r>
              <a:rPr lang="en-US" baseline="30000" dirty="0">
                <a:effectLst/>
                <a:hlinkClick r:id="rId235"/>
              </a:rPr>
              <a:t>[52]</a:t>
            </a:r>
            <a:endParaRPr lang="en-US" dirty="0">
              <a:effectLst/>
            </a:endParaRPr>
          </a:p>
          <a:p>
            <a:pPr rtl="0"/>
            <a:r>
              <a:rPr lang="en-US" dirty="0">
                <a:effectLst/>
              </a:rPr>
              <a:t>Speech-language pathology can be very beneficial to help resolve speech problems associated with cleft palate. In addition, research has indicated that children who receive early language intervention are less likely to develop compensatory error patterns later.</a:t>
            </a:r>
            <a:r>
              <a:rPr lang="en-US" baseline="30000" dirty="0">
                <a:effectLst/>
                <a:hlinkClick r:id="rId236"/>
              </a:rPr>
              <a:t>[53]</a:t>
            </a:r>
            <a:endParaRPr lang="en-US" dirty="0">
              <a:effectLst/>
            </a:endParaRPr>
          </a:p>
          <a:p>
            <a:pPr rtl="0"/>
            <a:r>
              <a:rPr lang="en-US" b="1" dirty="0">
                <a:effectLst/>
              </a:rPr>
              <a:t>Hearing loss</a:t>
            </a:r>
          </a:p>
          <a:p>
            <a:pPr rtl="0"/>
            <a:r>
              <a:rPr lang="en-US" dirty="0">
                <a:effectLst/>
              </a:rPr>
              <a:t>Hearing impairment is particularly prevalent in children with cleft palate. The tensor muscle </a:t>
            </a:r>
            <a:r>
              <a:rPr lang="en-US" dirty="0" err="1">
                <a:effectLst/>
              </a:rPr>
              <a:t>fibres</a:t>
            </a:r>
            <a:r>
              <a:rPr lang="en-US" dirty="0">
                <a:effectLst/>
              </a:rPr>
              <a:t> that open the </a:t>
            </a:r>
            <a:r>
              <a:rPr lang="en-US" dirty="0" err="1">
                <a:effectLst/>
                <a:hlinkClick r:id="rId106" tooltip="Eustachian tube"/>
              </a:rPr>
              <a:t>eustachian</a:t>
            </a:r>
            <a:r>
              <a:rPr lang="en-US" dirty="0">
                <a:effectLst/>
                <a:hlinkClick r:id="rId106" tooltip="Eustachian tube"/>
              </a:rPr>
              <a:t> tubes</a:t>
            </a:r>
            <a:r>
              <a:rPr lang="en-US" dirty="0">
                <a:effectLst/>
              </a:rPr>
              <a:t> lack an anchor to function effectively. In this situation, when the air in the middle ear is absorbed by the mucous membrane, the negative pressure is not compensated, which results in the secretion of fluid into the middle ear space from the mucous membrane.</a:t>
            </a:r>
            <a:r>
              <a:rPr lang="en-US" baseline="30000" dirty="0">
                <a:effectLst/>
                <a:hlinkClick r:id="rId237"/>
              </a:rPr>
              <a:t>[54]</a:t>
            </a:r>
            <a:r>
              <a:rPr lang="en-US" dirty="0">
                <a:effectLst/>
              </a:rPr>
              <a:t> Children with this problem typically have a conductive hearing loss primarily caused by this middle ear effusion.</a:t>
            </a:r>
            <a:r>
              <a:rPr lang="en-US" baseline="30000" dirty="0">
                <a:effectLst/>
                <a:hlinkClick r:id="rId238"/>
              </a:rPr>
              <a:t>[55]</a:t>
            </a:r>
            <a:endParaRPr lang="en-US" dirty="0">
              <a:effectLst/>
            </a:endParaRPr>
          </a:p>
          <a:p>
            <a:pPr rtl="0"/>
            <a:r>
              <a:rPr lang="en-US" b="1" dirty="0">
                <a:effectLst/>
              </a:rPr>
              <a:t>Sample treatment schedule</a:t>
            </a:r>
          </a:p>
          <a:p>
            <a:pPr rtl="0"/>
            <a:r>
              <a:rPr lang="en-US" dirty="0">
                <a:effectLst/>
              </a:rPr>
              <a:t>Note that each individual patient's schedule is treated on a case-by-case basis and can vary per hospital. The table below shows a common sample treatment schedule. The colored squares indicate the average timeframe in which the indicated procedure occurs. In some cases this is usually one procedure (for example lip repair) in other cases this is an ongoing therapy (for example speech therapy).</a:t>
            </a:r>
          </a:p>
          <a:p>
            <a:pPr rtl="0"/>
            <a:r>
              <a:rPr lang="en-US" dirty="0">
                <a:effectLst/>
              </a:rPr>
              <a:t>Age0m3m6m9m1y2y3y4y5y6y7y8y9y10y11y12y13y14y15y16y17y18y</a:t>
            </a:r>
            <a:r>
              <a:rPr lang="en-US" dirty="0">
                <a:effectLst/>
                <a:hlinkClick r:id="rId223" tooltip="Palatal obturator"/>
              </a:rPr>
              <a:t>Palatal obturator</a:t>
            </a:r>
            <a:r>
              <a:rPr lang="en-US" dirty="0">
                <a:effectLst/>
              </a:rPr>
              <a:t>                      Repair cleft lip                      Repair </a:t>
            </a:r>
            <a:r>
              <a:rPr lang="en-US" dirty="0">
                <a:effectLst/>
                <a:hlinkClick r:id="rId70" tooltip="Soft palate"/>
              </a:rPr>
              <a:t>soft palate</a:t>
            </a:r>
            <a:r>
              <a:rPr lang="en-US" dirty="0">
                <a:effectLst/>
              </a:rPr>
              <a:t>                      Repair </a:t>
            </a:r>
            <a:r>
              <a:rPr lang="en-US" dirty="0">
                <a:effectLst/>
                <a:hlinkClick r:id="rId69" tooltip="Hard palate"/>
              </a:rPr>
              <a:t>hard palate</a:t>
            </a:r>
            <a:r>
              <a:rPr lang="en-US" dirty="0">
                <a:effectLst/>
              </a:rPr>
              <a:t>                      </a:t>
            </a:r>
            <a:r>
              <a:rPr lang="en-US" dirty="0" err="1">
                <a:effectLst/>
                <a:hlinkClick r:id="rId227" tooltip="Tympanostomy tube"/>
              </a:rPr>
              <a:t>Tympanostomy</a:t>
            </a:r>
            <a:r>
              <a:rPr lang="en-US" dirty="0">
                <a:effectLst/>
                <a:hlinkClick r:id="rId227" tooltip="Tympanostomy tube"/>
              </a:rPr>
              <a:t> tube</a:t>
            </a:r>
            <a:r>
              <a:rPr lang="en-US" dirty="0">
                <a:effectLst/>
              </a:rPr>
              <a:t>                      </a:t>
            </a:r>
            <a:r>
              <a:rPr lang="en-US" dirty="0">
                <a:effectLst/>
                <a:hlinkClick r:id="rId26" tooltip="Speech therapy"/>
              </a:rPr>
              <a:t>Speech therapy</a:t>
            </a:r>
            <a:r>
              <a:rPr lang="en-US" dirty="0">
                <a:effectLst/>
              </a:rPr>
              <a:t>/</a:t>
            </a:r>
            <a:r>
              <a:rPr lang="en-US" dirty="0" err="1">
                <a:effectLst/>
                <a:hlinkClick r:id="rId239" tooltip="Augmentation pharyngoplasty"/>
              </a:rPr>
              <a:t>pharyngoplasty</a:t>
            </a:r>
            <a:r>
              <a:rPr lang="en-US" dirty="0">
                <a:effectLst/>
              </a:rPr>
              <a:t>                      </a:t>
            </a:r>
            <a:r>
              <a:rPr lang="en-US" dirty="0">
                <a:effectLst/>
                <a:hlinkClick r:id="rId240" tooltip="Bone grafting"/>
              </a:rPr>
              <a:t>Bone grafting</a:t>
            </a:r>
            <a:r>
              <a:rPr lang="en-US" dirty="0">
                <a:effectLst/>
              </a:rPr>
              <a:t> jaw                      </a:t>
            </a:r>
            <a:r>
              <a:rPr lang="en-US" dirty="0">
                <a:effectLst/>
                <a:hlinkClick r:id="rId241" tooltip="Orthodontics"/>
              </a:rPr>
              <a:t>Orthodontics</a:t>
            </a:r>
            <a:r>
              <a:rPr lang="en-US" dirty="0">
                <a:effectLst/>
              </a:rPr>
              <a:t>                      Further cosmetic corrections (Including jawbone surgery)                      </a:t>
            </a:r>
            <a:r>
              <a:rPr lang="en-US" b="1" dirty="0">
                <a:effectLst/>
              </a:rPr>
              <a:t>Craniofacial team</a:t>
            </a:r>
          </a:p>
          <a:p>
            <a:pPr rtl="0"/>
            <a:r>
              <a:rPr lang="en-US" dirty="0">
                <a:effectLst/>
              </a:rPr>
              <a:t>Main article: </a:t>
            </a:r>
            <a:r>
              <a:rPr lang="en-US" dirty="0">
                <a:effectLst/>
                <a:hlinkClick r:id="rId66" tooltip="Craniofacial team"/>
              </a:rPr>
              <a:t>Craniofacial team</a:t>
            </a:r>
            <a:endParaRPr lang="en-US" dirty="0">
              <a:effectLst/>
            </a:endParaRPr>
          </a:p>
          <a:p>
            <a:pPr rtl="0"/>
            <a:r>
              <a:rPr lang="en-US" dirty="0">
                <a:effectLst/>
              </a:rPr>
              <a:t>A craniofacial team is routinely used to treat this condition. The majority of hospitals still use craniofacial teams; yet others are making a shift towards dedicated cleft lip and palate programs. While craniofacial teams are widely knowledgeable about all aspects of craniofacial conditions, dedicated cleft lip and palate teams are able to dedicate many of their efforts to being on the cutting edge of new advances in cleft lip and palate care.</a:t>
            </a:r>
          </a:p>
          <a:p>
            <a:pPr rtl="0"/>
            <a:r>
              <a:rPr lang="en-US" dirty="0">
                <a:effectLst/>
              </a:rPr>
              <a:t>Many of the top pediatric hospitals are developing their own CLP clinics in order to provide patients with comprehensive multi-disciplinary care from birth through adolescence. Allowing an entire team to care for a child throughout their cleft lip and palate treatment (which is ongoing) allows for the best outcomes in every aspect of a child's care. While the individual approach can yield significant results, current trends indicate that team based care leads to better outcomes for CLP patients. .</a:t>
            </a:r>
            <a:r>
              <a:rPr lang="en-US" baseline="30000" dirty="0">
                <a:effectLst/>
                <a:hlinkClick r:id="rId242"/>
              </a:rPr>
              <a:t>[56]</a:t>
            </a:r>
            <a:endParaRPr lang="en-US" dirty="0">
              <a:effectLst/>
            </a:endParaRPr>
          </a:p>
          <a:p>
            <a:pPr rtl="0"/>
            <a:r>
              <a:rPr lang="en-US" b="1" dirty="0">
                <a:effectLst/>
              </a:rPr>
              <a:t>Epidemiology</a:t>
            </a:r>
          </a:p>
          <a:p>
            <a:pPr rtl="0"/>
            <a:r>
              <a:rPr lang="en-US" dirty="0">
                <a:effectLst/>
              </a:rPr>
              <a:t>Main article: </a:t>
            </a:r>
            <a:r>
              <a:rPr lang="en-US" dirty="0" err="1">
                <a:effectLst/>
                <a:hlinkClick r:id="rId243" tooltip="Clefting prevalence in different cultures"/>
              </a:rPr>
              <a:t>Clefting</a:t>
            </a:r>
            <a:r>
              <a:rPr lang="en-US" dirty="0">
                <a:effectLst/>
                <a:hlinkClick r:id="rId243" tooltip="Clefting prevalence in different cultures"/>
              </a:rPr>
              <a:t> prevalence in different cultures</a:t>
            </a:r>
            <a:endParaRPr lang="en-US" dirty="0">
              <a:effectLst/>
            </a:endParaRPr>
          </a:p>
          <a:p>
            <a:pPr rtl="0"/>
            <a:r>
              <a:rPr lang="en-US" dirty="0">
                <a:effectLst/>
              </a:rPr>
              <a:t>Cleft lip and palate occurs in about 1 to 2 per 1000 births in the </a:t>
            </a:r>
            <a:r>
              <a:rPr lang="en-US" dirty="0">
                <a:effectLst/>
                <a:hlinkClick r:id="rId27" tooltip="Developed world"/>
              </a:rPr>
              <a:t>developed world</a:t>
            </a:r>
            <a:r>
              <a:rPr lang="en-US" dirty="0">
                <a:effectLst/>
              </a:rPr>
              <a:t>.</a:t>
            </a:r>
            <a:r>
              <a:rPr lang="en-US" baseline="30000" dirty="0">
                <a:effectLst/>
                <a:hlinkClick r:id="rId17"/>
              </a:rPr>
              <a:t>[2]</a:t>
            </a:r>
            <a:endParaRPr lang="en-US" dirty="0">
              <a:effectLst/>
            </a:endParaRPr>
          </a:p>
          <a:p>
            <a:pPr rtl="0"/>
            <a:r>
              <a:rPr lang="en-US" dirty="0">
                <a:effectLst/>
              </a:rPr>
              <a:t>Rates for cleft lip with or without cleft palate and cleft palate alone varies within different </a:t>
            </a:r>
            <a:r>
              <a:rPr lang="en-US" dirty="0">
                <a:effectLst/>
                <a:hlinkClick r:id="rId244" tooltip="Ethnicity"/>
              </a:rPr>
              <a:t>ethnic</a:t>
            </a:r>
            <a:r>
              <a:rPr lang="en-US" dirty="0">
                <a:effectLst/>
              </a:rPr>
              <a:t> groups.</a:t>
            </a:r>
          </a:p>
          <a:p>
            <a:pPr rtl="0"/>
            <a:r>
              <a:rPr lang="en-US" dirty="0">
                <a:effectLst/>
              </a:rPr>
              <a:t>The highest prevalence </a:t>
            </a:r>
            <a:r>
              <a:rPr lang="en-US" dirty="0">
                <a:effectLst/>
                <a:hlinkClick r:id="rId245" tooltip="Rate (mathematics)"/>
              </a:rPr>
              <a:t>rates</a:t>
            </a:r>
            <a:r>
              <a:rPr lang="en-US" dirty="0">
                <a:effectLst/>
              </a:rPr>
              <a:t> for (CL ± P) are reported for </a:t>
            </a:r>
            <a:r>
              <a:rPr lang="en-US" dirty="0">
                <a:effectLst/>
                <a:hlinkClick r:id="rId246" tooltip="Native Americans in the United States"/>
              </a:rPr>
              <a:t>Native Americans</a:t>
            </a:r>
            <a:r>
              <a:rPr lang="en-US" dirty="0">
                <a:effectLst/>
              </a:rPr>
              <a:t> and </a:t>
            </a:r>
            <a:r>
              <a:rPr lang="en-US" dirty="0">
                <a:effectLst/>
                <a:hlinkClick r:id="rId247" tooltip="Asians"/>
              </a:rPr>
              <a:t>Asians</a:t>
            </a:r>
            <a:r>
              <a:rPr lang="en-US" dirty="0">
                <a:effectLst/>
              </a:rPr>
              <a:t>. </a:t>
            </a:r>
            <a:r>
              <a:rPr lang="en-US" dirty="0">
                <a:effectLst/>
                <a:hlinkClick r:id="rId248" tooltip="Africans"/>
              </a:rPr>
              <a:t>Africans</a:t>
            </a:r>
            <a:r>
              <a:rPr lang="en-US" dirty="0">
                <a:effectLst/>
              </a:rPr>
              <a:t> have the lowest prevalence rates.</a:t>
            </a:r>
            <a:r>
              <a:rPr lang="en-US" baseline="30000" dirty="0">
                <a:effectLst/>
                <a:hlinkClick r:id="rId249"/>
              </a:rPr>
              <a:t>[57]</a:t>
            </a:r>
            <a:endParaRPr lang="en-US" dirty="0">
              <a:effectLst/>
            </a:endParaRPr>
          </a:p>
          <a:p>
            <a:pPr rtl="0"/>
            <a:r>
              <a:rPr lang="en-US" dirty="0">
                <a:effectLst/>
              </a:rPr>
              <a:t>Native Americans: 3.74/1000</a:t>
            </a:r>
          </a:p>
          <a:p>
            <a:pPr rtl="0"/>
            <a:r>
              <a:rPr lang="en-US" dirty="0">
                <a:effectLst/>
                <a:hlinkClick r:id="rId250" tooltip="Japanese people"/>
              </a:rPr>
              <a:t>Japanese</a:t>
            </a:r>
            <a:r>
              <a:rPr lang="en-US" dirty="0">
                <a:effectLst/>
              </a:rPr>
              <a:t>: 0.82/1000 to 3.36/1000</a:t>
            </a:r>
          </a:p>
          <a:p>
            <a:pPr rtl="0"/>
            <a:r>
              <a:rPr lang="en-US" dirty="0">
                <a:effectLst/>
                <a:hlinkClick r:id="rId251" tooltip="Han Chinese"/>
              </a:rPr>
              <a:t>Chinese</a:t>
            </a:r>
            <a:r>
              <a:rPr lang="en-US" dirty="0">
                <a:effectLst/>
              </a:rPr>
              <a:t>: 1.45/1000 to 4.04/1000</a:t>
            </a:r>
          </a:p>
          <a:p>
            <a:pPr rtl="0"/>
            <a:r>
              <a:rPr lang="en-US" dirty="0">
                <a:effectLst/>
                <a:hlinkClick r:id="rId252" tooltip="Caucasian race"/>
              </a:rPr>
              <a:t>Caucasians</a:t>
            </a:r>
            <a:r>
              <a:rPr lang="en-US" dirty="0">
                <a:effectLst/>
              </a:rPr>
              <a:t>: 1.43/1000 to 1.86/1000</a:t>
            </a:r>
          </a:p>
          <a:p>
            <a:pPr rtl="0"/>
            <a:r>
              <a:rPr lang="en-US" dirty="0">
                <a:effectLst/>
                <a:hlinkClick r:id="rId253" tooltip="Latin Americans"/>
              </a:rPr>
              <a:t>Latin Americans</a:t>
            </a:r>
            <a:r>
              <a:rPr lang="en-US" dirty="0">
                <a:effectLst/>
              </a:rPr>
              <a:t>: 1.04/1000</a:t>
            </a:r>
          </a:p>
          <a:p>
            <a:pPr rtl="0"/>
            <a:r>
              <a:rPr lang="en-US" dirty="0">
                <a:effectLst/>
              </a:rPr>
              <a:t>Africans: 0.18/1000 to 1.67/1000</a:t>
            </a:r>
          </a:p>
          <a:p>
            <a:pPr rtl="0"/>
            <a:r>
              <a:rPr lang="en-US" dirty="0">
                <a:effectLst/>
              </a:rPr>
              <a:t>Rate of occurrence of CPO is similar for Caucasians, Africans, North American natives, Japanese and Chinese. The trait is dominant.</a:t>
            </a:r>
          </a:p>
          <a:p>
            <a:pPr rtl="0"/>
            <a:r>
              <a:rPr lang="en-US" dirty="0">
                <a:effectLst/>
              </a:rPr>
              <a:t>It caused about 4,000 deaths globally in 2010 down from 8,400 in 1990.</a:t>
            </a:r>
            <a:r>
              <a:rPr lang="en-US" baseline="30000" dirty="0">
                <a:effectLst/>
                <a:hlinkClick r:id="rId254"/>
              </a:rPr>
              <a:t>[58]</a:t>
            </a:r>
            <a:endParaRPr lang="en-US" dirty="0">
              <a:effectLst/>
            </a:endParaRPr>
          </a:p>
          <a:p>
            <a:pPr rtl="0"/>
            <a:r>
              <a:rPr lang="en-US" dirty="0">
                <a:effectLst/>
              </a:rPr>
              <a:t>Prevalence of "cleft </a:t>
            </a:r>
            <a:r>
              <a:rPr lang="en-US" dirty="0">
                <a:effectLst/>
                <a:hlinkClick r:id="rId255" tooltip="Uvula"/>
              </a:rPr>
              <a:t>uvula</a:t>
            </a:r>
            <a:r>
              <a:rPr lang="en-US" dirty="0">
                <a:effectLst/>
              </a:rPr>
              <a:t>" has varied from .02% to 18.8% with the highest numbers found among </a:t>
            </a:r>
            <a:r>
              <a:rPr lang="en-US" dirty="0">
                <a:effectLst/>
                <a:hlinkClick r:id="rId256" tooltip="Chippewa"/>
              </a:rPr>
              <a:t>Chippewa</a:t>
            </a:r>
            <a:r>
              <a:rPr lang="en-US" dirty="0">
                <a:effectLst/>
              </a:rPr>
              <a:t> and </a:t>
            </a:r>
            <a:r>
              <a:rPr lang="en-US" dirty="0">
                <a:effectLst/>
                <a:hlinkClick r:id="rId257" tooltip="Navajo people"/>
              </a:rPr>
              <a:t>Navajo</a:t>
            </a:r>
            <a:r>
              <a:rPr lang="en-US" dirty="0">
                <a:effectLst/>
              </a:rPr>
              <a:t> and the lowest generally in Africans.</a:t>
            </a:r>
            <a:r>
              <a:rPr lang="en-US" baseline="30000" dirty="0">
                <a:effectLst/>
                <a:hlinkClick r:id="rId258"/>
              </a:rPr>
              <a:t>[59]</a:t>
            </a:r>
            <a:r>
              <a:rPr lang="en-US" baseline="30000" dirty="0">
                <a:effectLst/>
                <a:hlinkClick r:id="rId259"/>
              </a:rPr>
              <a:t>[60]</a:t>
            </a:r>
            <a:endParaRPr lang="en-US" dirty="0">
              <a:effectLst/>
            </a:endParaRPr>
          </a:p>
          <a:p>
            <a:pPr rtl="0"/>
            <a:r>
              <a:rPr lang="en-US" b="1" dirty="0">
                <a:effectLst/>
              </a:rPr>
              <a:t>Society and culture</a:t>
            </a:r>
          </a:p>
          <a:p>
            <a:pPr rtl="0"/>
            <a:r>
              <a:rPr lang="en-US" b="1" dirty="0">
                <a:effectLst/>
              </a:rPr>
              <a:t>Names</a:t>
            </a:r>
          </a:p>
          <a:p>
            <a:pPr rtl="0"/>
            <a:r>
              <a:rPr lang="en-US" dirty="0">
                <a:effectLst/>
              </a:rPr>
              <a:t>Cleft lip may be technically known as </a:t>
            </a:r>
            <a:r>
              <a:rPr lang="en-US" i="1" dirty="0" err="1">
                <a:effectLst/>
              </a:rPr>
              <a:t>cheiloschisis</a:t>
            </a:r>
            <a:r>
              <a:rPr lang="en-US" dirty="0">
                <a:effectLst/>
              </a:rPr>
              <a:t> and cleft palate as </a:t>
            </a:r>
            <a:r>
              <a:rPr lang="en-US" i="1" dirty="0" err="1">
                <a:effectLst/>
              </a:rPr>
              <a:t>palatoschisis</a:t>
            </a:r>
            <a:r>
              <a:rPr lang="en-US" dirty="0">
                <a:effectLst/>
              </a:rPr>
              <a:t>.</a:t>
            </a:r>
          </a:p>
          <a:p>
            <a:pPr rtl="0"/>
            <a:r>
              <a:rPr lang="en-US" b="1" dirty="0">
                <a:effectLst/>
              </a:rPr>
              <a:t>Controversy</a:t>
            </a:r>
          </a:p>
          <a:p>
            <a:pPr rtl="0"/>
            <a:r>
              <a:rPr lang="en-US" dirty="0">
                <a:effectLst/>
              </a:rPr>
              <a:t>In some countries, cleft lip or palate deformities are considered reasons (either generally tolerated or officially sanctioned) to perform </a:t>
            </a:r>
            <a:r>
              <a:rPr lang="en-US" dirty="0">
                <a:effectLst/>
                <a:hlinkClick r:id="rId260" tooltip="Abortion"/>
              </a:rPr>
              <a:t>abortion</a:t>
            </a:r>
            <a:r>
              <a:rPr lang="en-US" dirty="0">
                <a:effectLst/>
              </a:rPr>
              <a:t> beyond the legal </a:t>
            </a:r>
            <a:r>
              <a:rPr lang="en-US" dirty="0">
                <a:effectLst/>
                <a:hlinkClick r:id="rId193" tooltip="Fetal"/>
              </a:rPr>
              <a:t>fetal</a:t>
            </a:r>
            <a:r>
              <a:rPr lang="en-US" dirty="0">
                <a:effectLst/>
              </a:rPr>
              <a:t> age limit, even though the </a:t>
            </a:r>
            <a:r>
              <a:rPr lang="en-US" dirty="0">
                <a:effectLst/>
                <a:hlinkClick r:id="rId261" tooltip="Fetus"/>
              </a:rPr>
              <a:t>fetus</a:t>
            </a:r>
            <a:r>
              <a:rPr lang="en-US" dirty="0">
                <a:effectLst/>
              </a:rPr>
              <a:t> is not in jeopardy of life or limb.</a:t>
            </a:r>
            <a:r>
              <a:rPr lang="en-US" baseline="30000" dirty="0">
                <a:effectLst/>
              </a:rPr>
              <a:t>[</a:t>
            </a:r>
            <a:r>
              <a:rPr lang="en-US" i="1" baseline="30000" dirty="0">
                <a:effectLst/>
                <a:hlinkClick r:id="rId86" tooltip="Wikipedia:Citation needed"/>
              </a:rPr>
              <a:t>citation needed</a:t>
            </a:r>
            <a:r>
              <a:rPr lang="en-US" baseline="30000" dirty="0">
                <a:effectLst/>
              </a:rPr>
              <a:t>]</a:t>
            </a:r>
            <a:r>
              <a:rPr lang="en-US" dirty="0">
                <a:effectLst/>
              </a:rPr>
              <a:t> Some </a:t>
            </a:r>
            <a:r>
              <a:rPr lang="en-US" dirty="0">
                <a:effectLst/>
                <a:hlinkClick r:id="rId262" tooltip="Human rights"/>
              </a:rPr>
              <a:t>human rights</a:t>
            </a:r>
            <a:r>
              <a:rPr lang="en-US" dirty="0">
                <a:effectLst/>
              </a:rPr>
              <a:t> activists contend this practice of "cosmetic murder" amounts to </a:t>
            </a:r>
            <a:r>
              <a:rPr lang="en-US" dirty="0">
                <a:effectLst/>
                <a:hlinkClick r:id="rId263" tooltip="Eugenics"/>
              </a:rPr>
              <a:t>eugenics</a:t>
            </a:r>
            <a:r>
              <a:rPr lang="en-US" dirty="0">
                <a:effectLst/>
              </a:rPr>
              <a:t>.</a:t>
            </a:r>
            <a:r>
              <a:rPr lang="en-US" baseline="30000" dirty="0">
                <a:effectLst/>
              </a:rPr>
              <a:t>[</a:t>
            </a:r>
            <a:r>
              <a:rPr lang="en-US" i="1" baseline="30000" dirty="0">
                <a:effectLst/>
                <a:hlinkClick r:id="rId86" tooltip="Wikipedia:Citation needed"/>
              </a:rPr>
              <a:t>citation needed</a:t>
            </a:r>
            <a:r>
              <a:rPr lang="en-US" baseline="30000" dirty="0">
                <a:effectLst/>
              </a:rPr>
              <a:t>]</a:t>
            </a:r>
            <a:endParaRPr lang="en-US" dirty="0">
              <a:effectLst/>
            </a:endParaRPr>
          </a:p>
          <a:p>
            <a:pPr rtl="0"/>
            <a:r>
              <a:rPr lang="en-US" b="1" dirty="0">
                <a:effectLst/>
              </a:rPr>
              <a:t>Notable cases</a:t>
            </a:r>
          </a:p>
          <a:p>
            <a:pPr rtl="0"/>
            <a:r>
              <a:rPr lang="en-US" dirty="0" err="1">
                <a:effectLst/>
              </a:rPr>
              <a:t>NameComments</a:t>
            </a:r>
            <a:r>
              <a:rPr lang="en-US" dirty="0" err="1">
                <a:effectLst/>
                <a:hlinkClick r:id="rId264" tooltip="Doc Holliday"/>
              </a:rPr>
              <a:t>John</a:t>
            </a:r>
            <a:r>
              <a:rPr lang="en-US" dirty="0">
                <a:effectLst/>
                <a:hlinkClick r:id="rId264" tooltip="Doc Holliday"/>
              </a:rPr>
              <a:t> Henry "Doc" </a:t>
            </a:r>
            <a:r>
              <a:rPr lang="en-US" dirty="0" err="1">
                <a:effectLst/>
                <a:hlinkClick r:id="rId264" tooltip="Doc Holliday"/>
              </a:rPr>
              <a:t>Holliday</a:t>
            </a:r>
            <a:r>
              <a:rPr lang="en-US" dirty="0" err="1">
                <a:effectLst/>
                <a:hlinkClick r:id="rId265" tooltip="United States"/>
              </a:rPr>
              <a:t>American</a:t>
            </a:r>
            <a:r>
              <a:rPr lang="en-US" dirty="0">
                <a:effectLst/>
              </a:rPr>
              <a:t> </a:t>
            </a:r>
            <a:r>
              <a:rPr lang="en-US" dirty="0">
                <a:effectLst/>
                <a:hlinkClick r:id="rId266" tooltip="Dentistry"/>
              </a:rPr>
              <a:t>dentist</a:t>
            </a:r>
            <a:r>
              <a:rPr lang="en-US" dirty="0">
                <a:effectLst/>
              </a:rPr>
              <a:t>, </a:t>
            </a:r>
            <a:r>
              <a:rPr lang="en-US" dirty="0">
                <a:effectLst/>
                <a:hlinkClick r:id="rId267" tooltip="Gambling"/>
              </a:rPr>
              <a:t>gambler</a:t>
            </a:r>
            <a:r>
              <a:rPr lang="en-US" dirty="0">
                <a:effectLst/>
              </a:rPr>
              <a:t> and </a:t>
            </a:r>
            <a:r>
              <a:rPr lang="en-US" dirty="0">
                <a:effectLst/>
                <a:hlinkClick r:id="rId268" tooltip="Gunfighter"/>
              </a:rPr>
              <a:t>gunfighter</a:t>
            </a:r>
            <a:r>
              <a:rPr lang="en-US" dirty="0">
                <a:effectLst/>
              </a:rPr>
              <a:t> of the </a:t>
            </a:r>
            <a:r>
              <a:rPr lang="en-US" dirty="0">
                <a:effectLst/>
                <a:hlinkClick r:id="rId269" tooltip="American Old West"/>
              </a:rPr>
              <a:t>American Old West</a:t>
            </a:r>
            <a:r>
              <a:rPr lang="en-US" dirty="0">
                <a:effectLst/>
              </a:rPr>
              <a:t>, who is usually remembered for his friendship with </a:t>
            </a:r>
            <a:r>
              <a:rPr lang="en-US" dirty="0">
                <a:effectLst/>
                <a:hlinkClick r:id="rId270" tooltip="Wyatt Earp"/>
              </a:rPr>
              <a:t>Wyatt Earp</a:t>
            </a:r>
            <a:r>
              <a:rPr lang="en-US" dirty="0">
                <a:effectLst/>
              </a:rPr>
              <a:t> and the </a:t>
            </a:r>
            <a:r>
              <a:rPr lang="en-US" dirty="0">
                <a:effectLst/>
                <a:hlinkClick r:id="rId271" tooltip="Gunfight at the O.K. Corral"/>
              </a:rPr>
              <a:t>Gunfight at the O.K. Corral</a:t>
            </a:r>
            <a:r>
              <a:rPr lang="en-US" baseline="30000" dirty="0">
                <a:effectLst/>
                <a:hlinkClick r:id="rId272"/>
              </a:rPr>
              <a:t>[61]</a:t>
            </a:r>
            <a:r>
              <a:rPr lang="en-US" dirty="0" err="1">
                <a:effectLst/>
                <a:hlinkClick r:id="rId273" tooltip="Tutankhamen"/>
              </a:rPr>
              <a:t>Tutankhamen</a:t>
            </a:r>
            <a:r>
              <a:rPr lang="en-US" dirty="0" err="1">
                <a:effectLst/>
              </a:rPr>
              <a:t>Egyptian</a:t>
            </a:r>
            <a:r>
              <a:rPr lang="en-US" dirty="0">
                <a:effectLst/>
              </a:rPr>
              <a:t> </a:t>
            </a:r>
            <a:r>
              <a:rPr lang="en-US" dirty="0">
                <a:effectLst/>
                <a:hlinkClick r:id="rId274" tooltip="Pharaoh"/>
              </a:rPr>
              <a:t>pharaoh</a:t>
            </a:r>
            <a:r>
              <a:rPr lang="en-US" dirty="0">
                <a:effectLst/>
              </a:rPr>
              <a:t> who may have had a slightly cleft palate according to diagnostic imaging</a:t>
            </a:r>
            <a:r>
              <a:rPr lang="en-US" baseline="30000" dirty="0">
                <a:effectLst/>
                <a:hlinkClick r:id="rId275"/>
              </a:rPr>
              <a:t>[62]</a:t>
            </a:r>
            <a:r>
              <a:rPr lang="en-US" dirty="0" err="1">
                <a:effectLst/>
                <a:hlinkClick r:id="rId276" tooltip="Thorgils Skarthi"/>
              </a:rPr>
              <a:t>Thorgils</a:t>
            </a:r>
            <a:r>
              <a:rPr lang="en-US" dirty="0">
                <a:effectLst/>
                <a:hlinkClick r:id="rId276" tooltip="Thorgils Skarthi"/>
              </a:rPr>
              <a:t> </a:t>
            </a:r>
            <a:r>
              <a:rPr lang="en-US" dirty="0" err="1">
                <a:effectLst/>
                <a:hlinkClick r:id="rId276" tooltip="Thorgils Skarthi"/>
              </a:rPr>
              <a:t>Skarthi</a:t>
            </a:r>
            <a:r>
              <a:rPr lang="en-US" dirty="0" err="1">
                <a:effectLst/>
              </a:rPr>
              <a:t>Thorgils</a:t>
            </a:r>
            <a:r>
              <a:rPr lang="en-US" dirty="0">
                <a:effectLst/>
              </a:rPr>
              <a:t> 'the hare-lipped'—a 10th-century Viking warrior and founder of </a:t>
            </a:r>
            <a:r>
              <a:rPr lang="en-US" dirty="0">
                <a:effectLst/>
                <a:hlinkClick r:id="rId277" tooltip="Scarborough, England"/>
              </a:rPr>
              <a:t>Scarborough</a:t>
            </a:r>
            <a:r>
              <a:rPr lang="en-US" dirty="0">
                <a:effectLst/>
              </a:rPr>
              <a:t>, England.</a:t>
            </a:r>
            <a:r>
              <a:rPr lang="en-US" baseline="30000" dirty="0">
                <a:effectLst/>
                <a:hlinkClick r:id="rId278"/>
              </a:rPr>
              <a:t>[63]</a:t>
            </a:r>
            <a:r>
              <a:rPr lang="en-US" dirty="0">
                <a:effectLst/>
                <a:hlinkClick r:id="rId279" tooltip="Tad Lincoln"/>
              </a:rPr>
              <a:t>Tad </a:t>
            </a:r>
            <a:r>
              <a:rPr lang="en-US" dirty="0" err="1">
                <a:effectLst/>
                <a:hlinkClick r:id="rId279" tooltip="Tad Lincoln"/>
              </a:rPr>
              <a:t>Lincoln</a:t>
            </a:r>
            <a:r>
              <a:rPr lang="en-US" dirty="0" err="1">
                <a:effectLst/>
              </a:rPr>
              <a:t>Fourth</a:t>
            </a:r>
            <a:r>
              <a:rPr lang="en-US" dirty="0">
                <a:effectLst/>
              </a:rPr>
              <a:t> and youngest son of President </a:t>
            </a:r>
            <a:r>
              <a:rPr lang="en-US" dirty="0">
                <a:effectLst/>
                <a:hlinkClick r:id="rId280" tooltip="Abraham Lincoln"/>
              </a:rPr>
              <a:t>Abraham Lincoln</a:t>
            </a:r>
            <a:r>
              <a:rPr lang="en-US" baseline="30000" dirty="0">
                <a:effectLst/>
                <a:hlinkClick r:id="rId281"/>
              </a:rPr>
              <a:t>[64]</a:t>
            </a:r>
            <a:r>
              <a:rPr lang="en-US" dirty="0" err="1">
                <a:effectLst/>
                <a:hlinkClick r:id="rId282" tooltip="Carmit Bachar"/>
              </a:rPr>
              <a:t>Carmit</a:t>
            </a:r>
            <a:r>
              <a:rPr lang="en-US" dirty="0">
                <a:effectLst/>
                <a:hlinkClick r:id="rId282" tooltip="Carmit Bachar"/>
              </a:rPr>
              <a:t> </a:t>
            </a:r>
            <a:r>
              <a:rPr lang="en-US" dirty="0" err="1">
                <a:effectLst/>
                <a:hlinkClick r:id="rId282" tooltip="Carmit Bachar"/>
              </a:rPr>
              <a:t>Bachar</a:t>
            </a:r>
            <a:r>
              <a:rPr lang="en-US" dirty="0" err="1">
                <a:effectLst/>
              </a:rPr>
              <a:t>American</a:t>
            </a:r>
            <a:r>
              <a:rPr lang="en-US" dirty="0">
                <a:effectLst/>
              </a:rPr>
              <a:t> </a:t>
            </a:r>
            <a:r>
              <a:rPr lang="en-US" dirty="0">
                <a:effectLst/>
                <a:hlinkClick r:id="rId283" tooltip="Dancer"/>
              </a:rPr>
              <a:t>dancer</a:t>
            </a:r>
            <a:r>
              <a:rPr lang="en-US" dirty="0">
                <a:effectLst/>
              </a:rPr>
              <a:t> and </a:t>
            </a:r>
            <a:r>
              <a:rPr lang="en-US" dirty="0">
                <a:effectLst/>
                <a:hlinkClick r:id="rId284" tooltip="Singer"/>
              </a:rPr>
              <a:t>singer</a:t>
            </a:r>
            <a:r>
              <a:rPr lang="en-US" baseline="30000" dirty="0">
                <a:effectLst/>
                <a:hlinkClick r:id="rId285"/>
              </a:rPr>
              <a:t>[65]</a:t>
            </a:r>
            <a:r>
              <a:rPr lang="en-US" baseline="30000" dirty="0">
                <a:effectLst/>
                <a:hlinkClick r:id="rId286"/>
              </a:rPr>
              <a:t>[66]</a:t>
            </a:r>
            <a:r>
              <a:rPr lang="en-US" dirty="0">
                <a:effectLst/>
                <a:hlinkClick r:id="rId287" tooltip="Jürgen Habermas"/>
              </a:rPr>
              <a:t>Jürgen </a:t>
            </a:r>
            <a:r>
              <a:rPr lang="en-US" dirty="0" err="1">
                <a:effectLst/>
                <a:hlinkClick r:id="rId287" tooltip="Jürgen Habermas"/>
              </a:rPr>
              <a:t>Habermas</a:t>
            </a:r>
            <a:r>
              <a:rPr lang="en-US" dirty="0" err="1">
                <a:effectLst/>
              </a:rPr>
              <a:t>German</a:t>
            </a:r>
            <a:r>
              <a:rPr lang="en-US" dirty="0">
                <a:effectLst/>
              </a:rPr>
              <a:t> </a:t>
            </a:r>
            <a:r>
              <a:rPr lang="en-US" dirty="0">
                <a:effectLst/>
                <a:hlinkClick r:id="rId288" tooltip="Philosopher"/>
              </a:rPr>
              <a:t>philosopher</a:t>
            </a:r>
            <a:r>
              <a:rPr lang="en-US" dirty="0">
                <a:effectLst/>
              </a:rPr>
              <a:t> and </a:t>
            </a:r>
            <a:r>
              <a:rPr lang="en-US" dirty="0">
                <a:effectLst/>
                <a:hlinkClick r:id="rId289" tooltip="Sociologist"/>
              </a:rPr>
              <a:t>sociologist</a:t>
            </a:r>
            <a:r>
              <a:rPr lang="en-US" baseline="30000" dirty="0">
                <a:effectLst/>
                <a:hlinkClick r:id="rId290"/>
              </a:rPr>
              <a:t>[67]</a:t>
            </a:r>
            <a:r>
              <a:rPr lang="en-US" dirty="0" err="1">
                <a:effectLst/>
                <a:hlinkClick r:id="rId291" tooltip="Ljubo Milicevic"/>
              </a:rPr>
              <a:t>Ljubo</a:t>
            </a:r>
            <a:r>
              <a:rPr lang="en-US" dirty="0">
                <a:effectLst/>
                <a:hlinkClick r:id="rId291" tooltip="Ljubo Milicevic"/>
              </a:rPr>
              <a:t> </a:t>
            </a:r>
            <a:r>
              <a:rPr lang="en-US" dirty="0" err="1">
                <a:effectLst/>
                <a:hlinkClick r:id="rId291" tooltip="Ljubo Milicevic"/>
              </a:rPr>
              <a:t>Milicevic</a:t>
            </a:r>
            <a:r>
              <a:rPr lang="en-US" dirty="0" err="1">
                <a:effectLst/>
              </a:rPr>
              <a:t>Australian</a:t>
            </a:r>
            <a:r>
              <a:rPr lang="en-US" dirty="0">
                <a:effectLst/>
              </a:rPr>
              <a:t> professional footballer</a:t>
            </a:r>
            <a:r>
              <a:rPr lang="en-US" baseline="30000" dirty="0">
                <a:effectLst/>
                <a:hlinkClick r:id="rId292"/>
              </a:rPr>
              <a:t>[68]</a:t>
            </a:r>
            <a:r>
              <a:rPr lang="en-US" dirty="0">
                <a:effectLst/>
                <a:hlinkClick r:id="rId293" tooltip="Stacy Keach"/>
              </a:rPr>
              <a:t>Stacy </a:t>
            </a:r>
            <a:r>
              <a:rPr lang="en-US" dirty="0" err="1">
                <a:effectLst/>
                <a:hlinkClick r:id="rId293" tooltip="Stacy Keach"/>
              </a:rPr>
              <a:t>Keach</a:t>
            </a:r>
            <a:r>
              <a:rPr lang="en-US" dirty="0" err="1">
                <a:effectLst/>
              </a:rPr>
              <a:t>American</a:t>
            </a:r>
            <a:r>
              <a:rPr lang="en-US" dirty="0">
                <a:effectLst/>
              </a:rPr>
              <a:t> </a:t>
            </a:r>
            <a:r>
              <a:rPr lang="en-US" dirty="0">
                <a:effectLst/>
                <a:hlinkClick r:id="rId294" tooltip="Actor"/>
              </a:rPr>
              <a:t>actor</a:t>
            </a:r>
            <a:r>
              <a:rPr lang="en-US" dirty="0">
                <a:effectLst/>
              </a:rPr>
              <a:t> and </a:t>
            </a:r>
            <a:r>
              <a:rPr lang="en-US" dirty="0">
                <a:effectLst/>
                <a:hlinkClick r:id="rId295" tooltip="Narrator"/>
              </a:rPr>
              <a:t>narrator</a:t>
            </a:r>
            <a:r>
              <a:rPr lang="en-US" baseline="30000" dirty="0">
                <a:effectLst/>
                <a:hlinkClick r:id="rId296"/>
              </a:rPr>
              <a:t>[69]</a:t>
            </a:r>
            <a:r>
              <a:rPr lang="en-US" dirty="0">
                <a:effectLst/>
                <a:hlinkClick r:id="rId297" tooltip="Cheech Marin"/>
              </a:rPr>
              <a:t>Cheech </a:t>
            </a:r>
            <a:r>
              <a:rPr lang="en-US" dirty="0" err="1">
                <a:effectLst/>
                <a:hlinkClick r:id="rId297" tooltip="Cheech Marin"/>
              </a:rPr>
              <a:t>Marin</a:t>
            </a:r>
            <a:r>
              <a:rPr lang="en-US" dirty="0" err="1">
                <a:effectLst/>
              </a:rPr>
              <a:t>American</a:t>
            </a:r>
            <a:r>
              <a:rPr lang="en-US" dirty="0">
                <a:effectLst/>
              </a:rPr>
              <a:t> </a:t>
            </a:r>
            <a:r>
              <a:rPr lang="en-US" dirty="0">
                <a:effectLst/>
                <a:hlinkClick r:id="rId294" tooltip="Actor"/>
              </a:rPr>
              <a:t>actor</a:t>
            </a:r>
            <a:r>
              <a:rPr lang="en-US" dirty="0">
                <a:effectLst/>
              </a:rPr>
              <a:t> and </a:t>
            </a:r>
            <a:r>
              <a:rPr lang="en-US" dirty="0">
                <a:effectLst/>
                <a:hlinkClick r:id="rId298" tooltip="Comedian"/>
              </a:rPr>
              <a:t>comedian</a:t>
            </a:r>
            <a:r>
              <a:rPr lang="en-US" baseline="30000" dirty="0">
                <a:effectLst/>
                <a:hlinkClick r:id="rId299"/>
              </a:rPr>
              <a:t>[70]</a:t>
            </a:r>
            <a:r>
              <a:rPr lang="en-US" dirty="0">
                <a:effectLst/>
              </a:rPr>
              <a:t>Chin-</a:t>
            </a:r>
            <a:r>
              <a:rPr lang="en-US" dirty="0" err="1">
                <a:effectLst/>
              </a:rPr>
              <a:t>ChinAmerican</a:t>
            </a:r>
            <a:r>
              <a:rPr lang="en-US" dirty="0">
                <a:effectLst/>
              </a:rPr>
              <a:t> </a:t>
            </a:r>
            <a:r>
              <a:rPr lang="en-US" dirty="0">
                <a:effectLst/>
                <a:hlinkClick r:id="rId300" tooltip="Illusionist"/>
              </a:rPr>
              <a:t>magician</a:t>
            </a:r>
            <a:r>
              <a:rPr lang="en-US" dirty="0">
                <a:effectLst/>
              </a:rPr>
              <a:t> and stage </a:t>
            </a:r>
            <a:r>
              <a:rPr lang="en-US" dirty="0">
                <a:effectLst/>
                <a:hlinkClick r:id="rId300" tooltip="Illusionist"/>
              </a:rPr>
              <a:t>illusionist</a:t>
            </a:r>
            <a:r>
              <a:rPr lang="en-US" baseline="30000" dirty="0">
                <a:effectLst/>
                <a:hlinkClick r:id="rId301"/>
              </a:rPr>
              <a:t>[71]</a:t>
            </a:r>
            <a:r>
              <a:rPr lang="en-US" dirty="0">
                <a:effectLst/>
                <a:hlinkClick r:id="rId302" tooltip="Owen Schmitt"/>
              </a:rPr>
              <a:t>Owen </a:t>
            </a:r>
            <a:r>
              <a:rPr lang="en-US" dirty="0" err="1">
                <a:effectLst/>
                <a:hlinkClick r:id="rId302" tooltip="Owen Schmitt"/>
              </a:rPr>
              <a:t>Schmitt</a:t>
            </a:r>
            <a:r>
              <a:rPr lang="en-US" dirty="0" err="1">
                <a:effectLst/>
                <a:hlinkClick r:id="rId303" tooltip="American football"/>
              </a:rPr>
              <a:t>American</a:t>
            </a:r>
            <a:r>
              <a:rPr lang="en-US" dirty="0">
                <a:effectLst/>
                <a:hlinkClick r:id="rId303" tooltip="American football"/>
              </a:rPr>
              <a:t> football</a:t>
            </a:r>
            <a:r>
              <a:rPr lang="en-US" dirty="0">
                <a:effectLst/>
              </a:rPr>
              <a:t> </a:t>
            </a:r>
            <a:r>
              <a:rPr lang="en-US" dirty="0">
                <a:effectLst/>
                <a:hlinkClick r:id="rId304" tooltip="Fullback (American football)"/>
              </a:rPr>
              <a:t>fullback</a:t>
            </a:r>
            <a:r>
              <a:rPr lang="en-US" baseline="30000" dirty="0">
                <a:effectLst/>
                <a:hlinkClick r:id="rId305"/>
              </a:rPr>
              <a:t>[72]</a:t>
            </a:r>
            <a:r>
              <a:rPr lang="en-US" dirty="0">
                <a:effectLst/>
                <a:hlinkClick r:id="rId306" tooltip="Tim Lott"/>
              </a:rPr>
              <a:t>Tim </a:t>
            </a:r>
            <a:r>
              <a:rPr lang="en-US" dirty="0" err="1">
                <a:effectLst/>
                <a:hlinkClick r:id="rId306" tooltip="Tim Lott"/>
              </a:rPr>
              <a:t>Lott</a:t>
            </a:r>
            <a:r>
              <a:rPr lang="en-US" dirty="0" err="1">
                <a:effectLst/>
              </a:rPr>
              <a:t>English</a:t>
            </a:r>
            <a:r>
              <a:rPr lang="en-US" dirty="0">
                <a:effectLst/>
              </a:rPr>
              <a:t> author and journalist</a:t>
            </a:r>
            <a:r>
              <a:rPr lang="en-US" baseline="30000" dirty="0">
                <a:effectLst/>
                <a:hlinkClick r:id="rId307"/>
              </a:rPr>
              <a:t>[73]</a:t>
            </a:r>
            <a:r>
              <a:rPr lang="en-US" dirty="0">
                <a:effectLst/>
                <a:hlinkClick r:id="rId308" tooltip="Richard Hawley"/>
              </a:rPr>
              <a:t>Richard </a:t>
            </a:r>
            <a:r>
              <a:rPr lang="en-US" dirty="0" err="1">
                <a:effectLst/>
                <a:hlinkClick r:id="rId308" tooltip="Richard Hawley"/>
              </a:rPr>
              <a:t>Hawley</a:t>
            </a:r>
            <a:r>
              <a:rPr lang="en-US" dirty="0" err="1">
                <a:effectLst/>
              </a:rPr>
              <a:t>English</a:t>
            </a:r>
            <a:r>
              <a:rPr lang="en-US" dirty="0">
                <a:effectLst/>
              </a:rPr>
              <a:t> musician</a:t>
            </a:r>
            <a:r>
              <a:rPr lang="en-US" baseline="30000" dirty="0">
                <a:effectLst/>
                <a:hlinkClick r:id="rId307"/>
              </a:rPr>
              <a:t>[73]</a:t>
            </a:r>
            <a:r>
              <a:rPr lang="en-US" dirty="0">
                <a:effectLst/>
                <a:hlinkClick r:id="rId309" tooltip="Dario Šarić"/>
              </a:rPr>
              <a:t>Dario </a:t>
            </a:r>
            <a:r>
              <a:rPr lang="en-US" dirty="0" err="1">
                <a:effectLst/>
                <a:hlinkClick r:id="rId309" tooltip="Dario Šarić"/>
              </a:rPr>
              <a:t>Šarić</a:t>
            </a:r>
            <a:r>
              <a:rPr lang="en-US" dirty="0" err="1">
                <a:effectLst/>
              </a:rPr>
              <a:t>Croatian</a:t>
            </a:r>
            <a:r>
              <a:rPr lang="en-US" dirty="0">
                <a:effectLst/>
              </a:rPr>
              <a:t> professional </a:t>
            </a:r>
            <a:r>
              <a:rPr lang="en-US" dirty="0">
                <a:effectLst/>
                <a:hlinkClick r:id="rId310" tooltip="Basketball"/>
              </a:rPr>
              <a:t>basketball</a:t>
            </a:r>
            <a:r>
              <a:rPr lang="en-US" dirty="0">
                <a:effectLst/>
              </a:rPr>
              <a:t> player</a:t>
            </a:r>
            <a:r>
              <a:rPr lang="en-US" baseline="30000" dirty="0">
                <a:effectLst/>
                <a:hlinkClick r:id="rId311"/>
              </a:rPr>
              <a:t>[74]</a:t>
            </a:r>
            <a:r>
              <a:rPr lang="en-US" dirty="0">
                <a:effectLst/>
                <a:hlinkClick r:id="rId312" tooltip="Antoinette Bourignon"/>
              </a:rPr>
              <a:t>Antoinette </a:t>
            </a:r>
            <a:r>
              <a:rPr lang="en-US" dirty="0" err="1">
                <a:effectLst/>
                <a:hlinkClick r:id="rId312" tooltip="Antoinette Bourignon"/>
              </a:rPr>
              <a:t>Bourignon</a:t>
            </a:r>
            <a:r>
              <a:rPr lang="en-US" dirty="0" err="1">
                <a:effectLst/>
              </a:rPr>
              <a:t>Flemish</a:t>
            </a:r>
            <a:r>
              <a:rPr lang="en-US" dirty="0">
                <a:effectLst/>
              </a:rPr>
              <a:t> mystic</a:t>
            </a:r>
            <a:r>
              <a:rPr lang="en-US" baseline="30000" dirty="0">
                <a:effectLst/>
                <a:hlinkClick r:id="rId313"/>
              </a:rPr>
              <a:t>[75]</a:t>
            </a:r>
            <a:r>
              <a:rPr lang="en-US" b="1" dirty="0">
                <a:effectLst/>
              </a:rPr>
              <a:t>Works of fiction</a:t>
            </a:r>
          </a:p>
          <a:p>
            <a:pPr rtl="0"/>
            <a:r>
              <a:rPr lang="en-US" dirty="0">
                <a:effectLst/>
              </a:rPr>
              <a:t>The eponymous hero of </a:t>
            </a:r>
            <a:r>
              <a:rPr lang="en-US" dirty="0">
                <a:effectLst/>
                <a:hlinkClick r:id="rId314" tooltip="J.M. Coetzee"/>
              </a:rPr>
              <a:t>J.M. Coetzee</a:t>
            </a:r>
            <a:r>
              <a:rPr lang="en-US" dirty="0">
                <a:effectLst/>
              </a:rPr>
              <a:t>'s 1983 novel </a:t>
            </a:r>
            <a:r>
              <a:rPr lang="en-US" i="1" dirty="0">
                <a:effectLst/>
                <a:hlinkClick r:id="rId315" tooltip="Life &amp; Times of Michael K"/>
              </a:rPr>
              <a:t>Life &amp; Times of Michael K</a:t>
            </a:r>
            <a:r>
              <a:rPr lang="en-US" dirty="0">
                <a:effectLst/>
              </a:rPr>
              <a:t> has a cleft lip. However, the cleft lip is more frequently portrayed negatively in popular culture, and villains are described as having cleft lip and/or palate as a metaphor for their evil. Examples include </a:t>
            </a:r>
            <a:r>
              <a:rPr lang="en-US" dirty="0" err="1">
                <a:effectLst/>
                <a:hlinkClick r:id="rId316" tooltip="Oddjob"/>
              </a:rPr>
              <a:t>Oddjob</a:t>
            </a:r>
            <a:r>
              <a:rPr lang="en-US" dirty="0">
                <a:effectLst/>
              </a:rPr>
              <a:t>, the secondary villain of the </a:t>
            </a:r>
            <a:r>
              <a:rPr lang="en-US" dirty="0">
                <a:effectLst/>
                <a:hlinkClick r:id="rId317" tooltip="James Bond"/>
              </a:rPr>
              <a:t>James Bond</a:t>
            </a:r>
            <a:r>
              <a:rPr lang="en-US" dirty="0">
                <a:effectLst/>
              </a:rPr>
              <a:t> novel </a:t>
            </a:r>
            <a:r>
              <a:rPr lang="en-US" i="1" dirty="0" err="1">
                <a:effectLst/>
                <a:hlinkClick r:id="rId318" tooltip="Goldfinger (novel)"/>
              </a:rPr>
              <a:t>Goldfinger</a:t>
            </a:r>
            <a:r>
              <a:rPr lang="en-US" dirty="0">
                <a:effectLst/>
              </a:rPr>
              <a:t> by </a:t>
            </a:r>
            <a:r>
              <a:rPr lang="en-US" dirty="0">
                <a:effectLst/>
                <a:hlinkClick r:id="rId319" tooltip="Ian Fleming"/>
              </a:rPr>
              <a:t>Ian Fleming</a:t>
            </a:r>
            <a:r>
              <a:rPr lang="en-US" dirty="0">
                <a:effectLst/>
              </a:rPr>
              <a:t> (</a:t>
            </a:r>
            <a:r>
              <a:rPr lang="en-US" dirty="0">
                <a:effectLst/>
                <a:hlinkClick r:id="rId320" tooltip="Goldfinger (film)"/>
              </a:rPr>
              <a:t>the film adaptation</a:t>
            </a:r>
            <a:r>
              <a:rPr lang="en-US" dirty="0">
                <a:effectLst/>
              </a:rPr>
              <a:t> does not mention this but leaves it implied); the fanciful portrayal of </a:t>
            </a:r>
            <a:r>
              <a:rPr lang="en-US" dirty="0">
                <a:effectLst/>
                <a:hlinkClick r:id="rId321" tooltip="Roman Emperor"/>
              </a:rPr>
              <a:t>Roman Emperor</a:t>
            </a:r>
            <a:r>
              <a:rPr lang="en-US" dirty="0">
                <a:effectLst/>
              </a:rPr>
              <a:t> </a:t>
            </a:r>
            <a:r>
              <a:rPr lang="en-US" dirty="0">
                <a:effectLst/>
                <a:hlinkClick r:id="rId322" tooltip="Commodus"/>
              </a:rPr>
              <a:t>Commodus</a:t>
            </a:r>
            <a:r>
              <a:rPr lang="en-US" dirty="0">
                <a:effectLst/>
              </a:rPr>
              <a:t> in the 2000 film </a:t>
            </a:r>
            <a:r>
              <a:rPr lang="en-US" i="1" dirty="0">
                <a:effectLst/>
                <a:hlinkClick r:id="rId323" tooltip="Gladiator (2000 film)"/>
              </a:rPr>
              <a:t>Gladiator</a:t>
            </a:r>
            <a:r>
              <a:rPr lang="en-US" dirty="0">
                <a:effectLst/>
              </a:rPr>
              <a:t>,;</a:t>
            </a:r>
            <a:r>
              <a:rPr lang="en-US" baseline="30000" dirty="0">
                <a:effectLst/>
                <a:hlinkClick r:id="rId324"/>
              </a:rPr>
              <a:t>[76]</a:t>
            </a:r>
            <a:r>
              <a:rPr lang="en-US" dirty="0">
                <a:effectLst/>
              </a:rPr>
              <a:t> and serial killer </a:t>
            </a:r>
            <a:r>
              <a:rPr lang="en-US" dirty="0">
                <a:effectLst/>
                <a:hlinkClick r:id="rId325" tooltip="Francis Dolarhyde"/>
              </a:rPr>
              <a:t>Francis </a:t>
            </a:r>
            <a:r>
              <a:rPr lang="en-US" dirty="0" err="1">
                <a:effectLst/>
                <a:hlinkClick r:id="rId325" tooltip="Francis Dolarhyde"/>
              </a:rPr>
              <a:t>Dolarhyde</a:t>
            </a:r>
            <a:r>
              <a:rPr lang="en-US" dirty="0">
                <a:effectLst/>
              </a:rPr>
              <a:t> in the film </a:t>
            </a:r>
            <a:r>
              <a:rPr lang="en-US" i="1" dirty="0">
                <a:effectLst/>
                <a:hlinkClick r:id="rId326" tooltip="Red Dragon (film)"/>
              </a:rPr>
              <a:t>Red Dragon</a:t>
            </a:r>
            <a:r>
              <a:rPr lang="en-US" dirty="0">
                <a:effectLst/>
              </a:rPr>
              <a:t>.</a:t>
            </a:r>
            <a:r>
              <a:rPr lang="en-US" baseline="30000" dirty="0">
                <a:effectLst/>
                <a:hlinkClick r:id="rId327"/>
              </a:rPr>
              <a:t>[77]</a:t>
            </a:r>
            <a:endParaRPr lang="en-US" dirty="0">
              <a:effectLst/>
            </a:endParaRPr>
          </a:p>
          <a:p>
            <a:pPr rtl="0"/>
            <a:r>
              <a:rPr lang="en-US" dirty="0">
                <a:effectLst/>
              </a:rPr>
              <a:t>Compassion for those with cleft palates has been used as the theme of </a:t>
            </a:r>
            <a:r>
              <a:rPr lang="en-US" dirty="0">
                <a:effectLst/>
                <a:hlinkClick r:id="rId328" tooltip="Young adult novels"/>
              </a:rPr>
              <a:t>young adult novels</a:t>
            </a:r>
            <a:r>
              <a:rPr lang="en-US" dirty="0">
                <a:effectLst/>
              </a:rPr>
              <a:t> such as </a:t>
            </a:r>
            <a:r>
              <a:rPr lang="en-US" i="1" dirty="0">
                <a:effectLst/>
              </a:rPr>
              <a:t>Words in the Dust</a:t>
            </a:r>
            <a:r>
              <a:rPr lang="en-US" dirty="0">
                <a:effectLst/>
              </a:rPr>
              <a:t> by Trent Reedy and </a:t>
            </a:r>
            <a:r>
              <a:rPr lang="en-US" i="1" dirty="0">
                <a:effectLst/>
              </a:rPr>
              <a:t>Whisper</a:t>
            </a:r>
            <a:r>
              <a:rPr lang="en-US" dirty="0">
                <a:effectLst/>
              </a:rPr>
              <a:t> by Christina </a:t>
            </a:r>
            <a:r>
              <a:rPr lang="en-US" dirty="0" err="1">
                <a:effectLst/>
              </a:rPr>
              <a:t>Struyk</a:t>
            </a:r>
            <a:r>
              <a:rPr lang="en-US" dirty="0">
                <a:effectLst/>
              </a:rPr>
              <a:t>-Bonn.</a:t>
            </a:r>
            <a:r>
              <a:rPr lang="en-US" baseline="30000" dirty="0">
                <a:effectLst/>
              </a:rPr>
              <a:t>[</a:t>
            </a:r>
            <a:r>
              <a:rPr lang="en-US" i="1" baseline="30000" dirty="0">
                <a:effectLst/>
                <a:hlinkClick r:id="rId86" tooltip="Wikipedia:Citation needed"/>
              </a:rPr>
              <a:t>citation needed</a:t>
            </a:r>
            <a:r>
              <a:rPr lang="en-US" baseline="30000" dirty="0">
                <a:effectLst/>
              </a:rPr>
              <a:t>]</a:t>
            </a:r>
            <a:endParaRPr lang="en-US" dirty="0">
              <a:effectLst/>
            </a:endParaRPr>
          </a:p>
          <a:p>
            <a:pPr rtl="0"/>
            <a:r>
              <a:rPr lang="en-US" b="1" dirty="0">
                <a:effectLst/>
              </a:rPr>
              <a:t>Other animals</a:t>
            </a:r>
          </a:p>
          <a:p>
            <a:pPr rtl="0"/>
            <a:r>
              <a:rPr lang="en-US" dirty="0">
                <a:effectLst/>
              </a:rPr>
              <a:t>Cleft lips and palates are occasionally seen in </a:t>
            </a:r>
            <a:r>
              <a:rPr lang="en-US" dirty="0">
                <a:effectLst/>
                <a:hlinkClick r:id="rId329" tooltip="Cattle"/>
              </a:rPr>
              <a:t>cattle</a:t>
            </a:r>
            <a:r>
              <a:rPr lang="en-US" dirty="0">
                <a:effectLst/>
              </a:rPr>
              <a:t> and </a:t>
            </a:r>
            <a:r>
              <a:rPr lang="en-US" dirty="0">
                <a:effectLst/>
                <a:hlinkClick r:id="rId330" tooltip="Dog"/>
              </a:rPr>
              <a:t>dogs</a:t>
            </a:r>
            <a:r>
              <a:rPr lang="en-US" dirty="0">
                <a:effectLst/>
              </a:rPr>
              <a:t>, and rarely in </a:t>
            </a:r>
            <a:r>
              <a:rPr lang="en-US" dirty="0">
                <a:effectLst/>
                <a:hlinkClick r:id="rId331" tooltip="Sheep"/>
              </a:rPr>
              <a:t>sheep</a:t>
            </a:r>
            <a:r>
              <a:rPr lang="en-US" dirty="0">
                <a:effectLst/>
              </a:rPr>
              <a:t>, </a:t>
            </a:r>
            <a:r>
              <a:rPr lang="en-US" dirty="0">
                <a:effectLst/>
                <a:hlinkClick r:id="rId332" tooltip="Cat"/>
              </a:rPr>
              <a:t>cats</a:t>
            </a:r>
            <a:r>
              <a:rPr lang="en-US" dirty="0">
                <a:effectLst/>
              </a:rPr>
              <a:t>, </a:t>
            </a:r>
            <a:r>
              <a:rPr lang="en-US" dirty="0">
                <a:effectLst/>
                <a:hlinkClick r:id="rId333" tooltip="Horse"/>
              </a:rPr>
              <a:t>horses</a:t>
            </a:r>
            <a:r>
              <a:rPr lang="en-US" dirty="0">
                <a:effectLst/>
              </a:rPr>
              <a:t>, </a:t>
            </a:r>
            <a:r>
              <a:rPr lang="en-US" dirty="0">
                <a:effectLst/>
                <a:hlinkClick r:id="rId334" tooltip="Panda"/>
              </a:rPr>
              <a:t>pandas</a:t>
            </a:r>
            <a:r>
              <a:rPr lang="en-US" dirty="0">
                <a:effectLst/>
              </a:rPr>
              <a:t> and </a:t>
            </a:r>
            <a:r>
              <a:rPr lang="en-US" dirty="0">
                <a:effectLst/>
                <a:hlinkClick r:id="rId335" tooltip="Ferret"/>
              </a:rPr>
              <a:t>ferrets</a:t>
            </a:r>
            <a:r>
              <a:rPr lang="en-US" dirty="0">
                <a:effectLst/>
              </a:rPr>
              <a:t>. Most commonly, the defect involves the lip, </a:t>
            </a:r>
            <a:r>
              <a:rPr lang="en-US" dirty="0" err="1">
                <a:effectLst/>
                <a:hlinkClick r:id="rId336" tooltip="Rhinarium"/>
              </a:rPr>
              <a:t>rhinarium</a:t>
            </a:r>
            <a:r>
              <a:rPr lang="en-US" dirty="0">
                <a:effectLst/>
              </a:rPr>
              <a:t>, and </a:t>
            </a:r>
            <a:r>
              <a:rPr lang="en-US" dirty="0">
                <a:effectLst/>
                <a:hlinkClick r:id="rId337" tooltip="Premaxilla"/>
              </a:rPr>
              <a:t>premaxilla</a:t>
            </a:r>
            <a:r>
              <a:rPr lang="en-US" dirty="0">
                <a:effectLst/>
              </a:rPr>
              <a:t>. Clefts of the hard and soft palate are sometimes seen with a cleft lip. The cause is usually hereditary. </a:t>
            </a:r>
            <a:r>
              <a:rPr lang="en-US" dirty="0">
                <a:effectLst/>
                <a:hlinkClick r:id="rId338" tooltip="Brachycephalic syndrome"/>
              </a:rPr>
              <a:t>Brachycephalic</a:t>
            </a:r>
            <a:r>
              <a:rPr lang="en-US" dirty="0">
                <a:effectLst/>
              </a:rPr>
              <a:t> dogs such as </a:t>
            </a:r>
            <a:r>
              <a:rPr lang="en-US" dirty="0">
                <a:effectLst/>
                <a:hlinkClick r:id="rId339" tooltip="Boxer (dog)"/>
              </a:rPr>
              <a:t>Boxers</a:t>
            </a:r>
            <a:r>
              <a:rPr lang="en-US" dirty="0">
                <a:effectLst/>
              </a:rPr>
              <a:t> and </a:t>
            </a:r>
            <a:r>
              <a:rPr lang="en-US" dirty="0">
                <a:effectLst/>
                <a:hlinkClick r:id="rId340" tooltip="Boston Terrier"/>
              </a:rPr>
              <a:t>Boston Terriers</a:t>
            </a:r>
            <a:r>
              <a:rPr lang="en-US" dirty="0">
                <a:effectLst/>
              </a:rPr>
              <a:t> are most commonly affected.</a:t>
            </a:r>
            <a:r>
              <a:rPr lang="en-US" baseline="30000" dirty="0">
                <a:effectLst/>
                <a:hlinkClick r:id="rId341"/>
              </a:rPr>
              <a:t>[78]</a:t>
            </a:r>
            <a:r>
              <a:rPr lang="en-US" dirty="0">
                <a:effectLst/>
              </a:rPr>
              <a:t> An inherited disorder with incomplete </a:t>
            </a:r>
            <a:r>
              <a:rPr lang="en-US" dirty="0">
                <a:effectLst/>
                <a:hlinkClick r:id="rId342" tooltip="Penetrance"/>
              </a:rPr>
              <a:t>penetrance</a:t>
            </a:r>
            <a:r>
              <a:rPr lang="en-US" dirty="0">
                <a:effectLst/>
              </a:rPr>
              <a:t> has also been suggested in </a:t>
            </a:r>
            <a:r>
              <a:rPr lang="en-US" dirty="0">
                <a:effectLst/>
                <a:hlinkClick r:id="rId343" tooltip="Shih tzu"/>
              </a:rPr>
              <a:t>Shih </a:t>
            </a:r>
            <a:r>
              <a:rPr lang="en-US" dirty="0" err="1">
                <a:effectLst/>
                <a:hlinkClick r:id="rId343" tooltip="Shih tzu"/>
              </a:rPr>
              <a:t>tzus</a:t>
            </a:r>
            <a:r>
              <a:rPr lang="en-US" dirty="0">
                <a:effectLst/>
              </a:rPr>
              <a:t>, </a:t>
            </a:r>
            <a:r>
              <a:rPr lang="en-US" dirty="0">
                <a:effectLst/>
                <a:hlinkClick r:id="rId344" tooltip="Swiss Sheepdog (page does not exist)"/>
              </a:rPr>
              <a:t>Swiss Sheepdogs</a:t>
            </a:r>
            <a:r>
              <a:rPr lang="en-US" dirty="0">
                <a:effectLst/>
              </a:rPr>
              <a:t>, </a:t>
            </a:r>
            <a:r>
              <a:rPr lang="en-US" dirty="0">
                <a:effectLst/>
                <a:hlinkClick r:id="rId345" tooltip="Bulldog"/>
              </a:rPr>
              <a:t>Bulldogs</a:t>
            </a:r>
            <a:r>
              <a:rPr lang="en-US" dirty="0">
                <a:effectLst/>
              </a:rPr>
              <a:t>, and </a:t>
            </a:r>
            <a:r>
              <a:rPr lang="en-US" dirty="0">
                <a:effectLst/>
                <a:hlinkClick r:id="rId346" tooltip="Pointer (dog breed)"/>
              </a:rPr>
              <a:t>Pointers</a:t>
            </a:r>
            <a:r>
              <a:rPr lang="en-US" dirty="0">
                <a:effectLst/>
              </a:rPr>
              <a:t>.</a:t>
            </a:r>
            <a:r>
              <a:rPr lang="en-US" baseline="30000" dirty="0">
                <a:effectLst/>
                <a:hlinkClick r:id="rId347"/>
              </a:rPr>
              <a:t>[79]</a:t>
            </a:r>
            <a:r>
              <a:rPr lang="en-US" dirty="0">
                <a:effectLst/>
              </a:rPr>
              <a:t> In horses, it is a rare condition usually involving the caudal soft palate.</a:t>
            </a:r>
            <a:r>
              <a:rPr lang="en-US" baseline="30000" dirty="0">
                <a:effectLst/>
                <a:hlinkClick r:id="rId348"/>
              </a:rPr>
              <a:t>[80]</a:t>
            </a:r>
            <a:r>
              <a:rPr lang="en-US" dirty="0">
                <a:effectLst/>
              </a:rPr>
              <a:t> In </a:t>
            </a:r>
            <a:r>
              <a:rPr lang="en-US" dirty="0" err="1">
                <a:effectLst/>
                <a:hlinkClick r:id="rId349" tooltip="Charolais cattle"/>
              </a:rPr>
              <a:t>Charolais</a:t>
            </a:r>
            <a:r>
              <a:rPr lang="en-US" dirty="0">
                <a:effectLst/>
                <a:hlinkClick r:id="rId349" tooltip="Charolais cattle"/>
              </a:rPr>
              <a:t> cattle</a:t>
            </a:r>
            <a:r>
              <a:rPr lang="en-US" dirty="0">
                <a:effectLst/>
              </a:rPr>
              <a:t>, clefts are seen in combination with </a:t>
            </a:r>
            <a:r>
              <a:rPr lang="en-US" dirty="0">
                <a:effectLst/>
                <a:hlinkClick r:id="rId350" tooltip="Arthrogryposis"/>
              </a:rPr>
              <a:t>arthrogryposis</a:t>
            </a:r>
            <a:r>
              <a:rPr lang="en-US" dirty="0">
                <a:effectLst/>
              </a:rPr>
              <a:t>, which is inherited as an </a:t>
            </a:r>
            <a:r>
              <a:rPr lang="en-US" dirty="0">
                <a:effectLst/>
                <a:hlinkClick r:id="rId351" tooltip="Recessive allele"/>
              </a:rPr>
              <a:t>autosomal recessive</a:t>
            </a:r>
            <a:r>
              <a:rPr lang="en-US" dirty="0">
                <a:effectLst/>
              </a:rPr>
              <a:t> trait. It is also inherited as an autosomal recessive trait in </a:t>
            </a:r>
            <a:r>
              <a:rPr lang="en-US" dirty="0">
                <a:effectLst/>
                <a:hlinkClick r:id="rId352" tooltip="Texel (sheep)"/>
              </a:rPr>
              <a:t>Texel sheep</a:t>
            </a:r>
            <a:r>
              <a:rPr lang="en-US" dirty="0">
                <a:effectLst/>
              </a:rPr>
              <a:t>. Other contributing factors may include maternal nutritional deficiencies, exposure </a:t>
            </a:r>
            <a:r>
              <a:rPr lang="en-US" i="1" dirty="0">
                <a:effectLst/>
              </a:rPr>
              <a:t>in utero</a:t>
            </a:r>
            <a:r>
              <a:rPr lang="en-US" dirty="0">
                <a:effectLst/>
              </a:rPr>
              <a:t> to viral infections, trauma, drugs, or chemicals, or ingestion of toxins by the mother, such as certain </a:t>
            </a:r>
            <a:r>
              <a:rPr lang="en-US" dirty="0">
                <a:effectLst/>
                <a:hlinkClick r:id="rId353" tooltip="Lupin"/>
              </a:rPr>
              <a:t>lupines</a:t>
            </a:r>
            <a:r>
              <a:rPr lang="en-US" dirty="0">
                <a:effectLst/>
              </a:rPr>
              <a:t> by cattle during the second or third month of </a:t>
            </a:r>
            <a:r>
              <a:rPr lang="en-US" dirty="0">
                <a:effectLst/>
                <a:hlinkClick r:id="rId354" tooltip="Gestation"/>
              </a:rPr>
              <a:t>gestation</a:t>
            </a:r>
            <a:r>
              <a:rPr lang="en-US" dirty="0">
                <a:effectLst/>
              </a:rPr>
              <a:t>.</a:t>
            </a:r>
            <a:r>
              <a:rPr lang="en-US" baseline="30000" dirty="0">
                <a:effectLst/>
                <a:hlinkClick r:id="rId355"/>
              </a:rPr>
              <a:t>[81]</a:t>
            </a:r>
            <a:r>
              <a:rPr lang="en-US" dirty="0">
                <a:effectLst/>
              </a:rPr>
              <a:t> The use of </a:t>
            </a:r>
            <a:r>
              <a:rPr lang="en-US" dirty="0">
                <a:effectLst/>
                <a:hlinkClick r:id="rId356" tooltip="Corticosteroid"/>
              </a:rPr>
              <a:t>corticosteroids</a:t>
            </a:r>
            <a:r>
              <a:rPr lang="en-US" dirty="0">
                <a:effectLst/>
              </a:rPr>
              <a:t> during pregnancy in dogs and the ingestion of </a:t>
            </a:r>
            <a:r>
              <a:rPr lang="en-US" i="1" dirty="0" err="1">
                <a:effectLst/>
                <a:hlinkClick r:id="rId357" tooltip="Veratrum californicum"/>
              </a:rPr>
              <a:t>Veratrum</a:t>
            </a:r>
            <a:r>
              <a:rPr lang="en-US" i="1" dirty="0">
                <a:effectLst/>
                <a:hlinkClick r:id="rId357" tooltip="Veratrum californicum"/>
              </a:rPr>
              <a:t> </a:t>
            </a:r>
            <a:r>
              <a:rPr lang="en-US" i="1" dirty="0" err="1">
                <a:effectLst/>
                <a:hlinkClick r:id="rId357" tooltip="Veratrum californicum"/>
              </a:rPr>
              <a:t>californicum</a:t>
            </a:r>
            <a:r>
              <a:rPr lang="en-US" dirty="0">
                <a:effectLst/>
              </a:rPr>
              <a:t> by pregnant sheep have also been associated with cleft formation.</a:t>
            </a:r>
            <a:r>
              <a:rPr lang="en-US" baseline="30000" dirty="0">
                <a:effectLst/>
                <a:hlinkClick r:id="rId358"/>
              </a:rPr>
              <a:t>[82]</a:t>
            </a:r>
            <a:endParaRPr lang="en-US" dirty="0">
              <a:effectLst/>
            </a:endParaRPr>
          </a:p>
          <a:p>
            <a:pPr rtl="0"/>
            <a:r>
              <a:rPr lang="en-US" dirty="0">
                <a:effectLst/>
              </a:rPr>
              <a:t>Difficulty with nursing is the most common problem associated with clefts, but </a:t>
            </a:r>
            <a:r>
              <a:rPr lang="en-US" dirty="0">
                <a:effectLst/>
                <a:hlinkClick r:id="rId359" tooltip="Aspiration pneumonia"/>
              </a:rPr>
              <a:t>aspiration pneumonia</a:t>
            </a:r>
            <a:r>
              <a:rPr lang="en-US" dirty="0">
                <a:effectLst/>
              </a:rPr>
              <a:t>, </a:t>
            </a:r>
            <a:r>
              <a:rPr lang="en-US" dirty="0">
                <a:effectLst/>
                <a:hlinkClick r:id="rId360" tooltip="Regurgitation (digestion)"/>
              </a:rPr>
              <a:t>regurgitation</a:t>
            </a:r>
            <a:r>
              <a:rPr lang="en-US" dirty="0">
                <a:effectLst/>
              </a:rPr>
              <a:t>, and </a:t>
            </a:r>
            <a:r>
              <a:rPr lang="en-US" dirty="0">
                <a:effectLst/>
                <a:hlinkClick r:id="rId361" tooltip="Malnutrition"/>
              </a:rPr>
              <a:t>malnutrition</a:t>
            </a:r>
            <a:r>
              <a:rPr lang="en-US" dirty="0">
                <a:effectLst/>
              </a:rPr>
              <a:t> are often seen with cleft palate and is a common cause of death. Providing nutrition through a </a:t>
            </a:r>
            <a:r>
              <a:rPr lang="en-US" dirty="0">
                <a:effectLst/>
                <a:hlinkClick r:id="rId362" tooltip="Feeding tube"/>
              </a:rPr>
              <a:t>feeding tube</a:t>
            </a:r>
            <a:r>
              <a:rPr lang="en-US" dirty="0">
                <a:effectLst/>
              </a:rPr>
              <a:t> is often necessary, but corrective surgery in dogs can be done by the age of twelve weeks.</a:t>
            </a:r>
            <a:r>
              <a:rPr lang="en-US" baseline="30000" dirty="0">
                <a:effectLst/>
                <a:hlinkClick r:id="rId341"/>
              </a:rPr>
              <a:t>[78]</a:t>
            </a:r>
            <a:r>
              <a:rPr lang="en-US" dirty="0">
                <a:effectLst/>
              </a:rPr>
              <a:t> For cleft palate, there is a high rate of surgical failure resulting in repeated surgeries.</a:t>
            </a:r>
            <a:r>
              <a:rPr lang="en-US" baseline="30000" dirty="0">
                <a:effectLst/>
                <a:hlinkClick r:id="rId363"/>
              </a:rPr>
              <a:t>[83]</a:t>
            </a:r>
            <a:r>
              <a:rPr lang="en-US" dirty="0">
                <a:effectLst/>
              </a:rPr>
              <a:t> Surgical techniques for cleft palate in dogs include </a:t>
            </a:r>
            <a:r>
              <a:rPr lang="en-US" dirty="0">
                <a:effectLst/>
                <a:hlinkClick r:id="rId364" tooltip="Prosthesis"/>
              </a:rPr>
              <a:t>prosthesis</a:t>
            </a:r>
            <a:r>
              <a:rPr lang="en-US" dirty="0">
                <a:effectLst/>
              </a:rPr>
              <a:t>, mucosal flaps, and microvascular </a:t>
            </a:r>
            <a:r>
              <a:rPr lang="en-US" dirty="0">
                <a:effectLst/>
                <a:hlinkClick r:id="rId365" tooltip="Free flap"/>
              </a:rPr>
              <a:t>free flaps</a:t>
            </a:r>
            <a:r>
              <a:rPr lang="en-US" dirty="0">
                <a:effectLst/>
              </a:rPr>
              <a:t>.</a:t>
            </a:r>
            <a:r>
              <a:rPr lang="en-US" baseline="30000" dirty="0">
                <a:effectLst/>
                <a:hlinkClick r:id="rId366"/>
              </a:rPr>
              <a:t>[84]</a:t>
            </a:r>
            <a:r>
              <a:rPr lang="en-US" dirty="0">
                <a:effectLst/>
              </a:rPr>
              <a:t> Affected animals should not be bred due to the hereditary nature of this condition.</a:t>
            </a:r>
          </a:p>
          <a:p>
            <a:pPr rtl="0"/>
            <a:r>
              <a:rPr lang="en-US" dirty="0">
                <a:effectLst/>
              </a:rPr>
              <a:t>Cleft lip in a Boxer</a:t>
            </a:r>
          </a:p>
          <a:p>
            <a:pPr rtl="0"/>
            <a:r>
              <a:rPr lang="en-US" dirty="0">
                <a:effectLst/>
              </a:rPr>
              <a:t>Cleft lip in a Boxer with </a:t>
            </a:r>
            <a:r>
              <a:rPr lang="en-US" dirty="0" err="1">
                <a:effectLst/>
              </a:rPr>
              <a:t>premaxillary</a:t>
            </a:r>
            <a:r>
              <a:rPr lang="en-US" dirty="0">
                <a:effectLst/>
              </a:rPr>
              <a:t> involvement</a:t>
            </a:r>
          </a:p>
          <a:p>
            <a:pPr rtl="0"/>
            <a:r>
              <a:rPr lang="en-US" dirty="0">
                <a:effectLst/>
              </a:rPr>
              <a:t>Same dog as picture on left, one year later</a:t>
            </a:r>
          </a:p>
          <a:p>
            <a:pPr rtl="0"/>
            <a:r>
              <a:rPr lang="en-US" b="1" dirty="0">
                <a:effectLst/>
              </a:rPr>
              <a:t>See also</a:t>
            </a:r>
          </a:p>
          <a:p>
            <a:pPr rtl="0"/>
            <a:r>
              <a:rPr lang="en-US" dirty="0">
                <a:effectLst/>
                <a:hlinkClick r:id="rId367" tooltip="Smile Pinki"/>
              </a:rPr>
              <a:t>Smile </a:t>
            </a:r>
            <a:r>
              <a:rPr lang="en-US" dirty="0" err="1">
                <a:effectLst/>
                <a:hlinkClick r:id="rId367" tooltip="Smile Pinki"/>
              </a:rPr>
              <a:t>Pinki</a:t>
            </a:r>
            <a:endParaRPr lang="en-US" dirty="0">
              <a:effectLst/>
            </a:endParaRPr>
          </a:p>
          <a:p>
            <a:pPr rtl="0"/>
            <a:r>
              <a:rPr lang="en-US" dirty="0">
                <a:effectLst/>
                <a:hlinkClick r:id="rId223" tooltip="Palatal obturator"/>
              </a:rPr>
              <a:t>Palatal obturator</a:t>
            </a:r>
            <a:endParaRPr lang="en-US" dirty="0">
              <a:effectLst/>
            </a:endParaRPr>
          </a:p>
          <a:p>
            <a:pPr rtl="0"/>
            <a:r>
              <a:rPr lang="en-US" dirty="0" err="1">
                <a:effectLst/>
                <a:hlinkClick r:id="rId368" tooltip="Vomer flap surgery"/>
              </a:rPr>
              <a:t>Vomer</a:t>
            </a:r>
            <a:r>
              <a:rPr lang="en-US" dirty="0">
                <a:effectLst/>
                <a:hlinkClick r:id="rId368" tooltip="Vomer flap surgery"/>
              </a:rPr>
              <a:t> flap surgery</a:t>
            </a:r>
            <a:endParaRPr lang="en-US" dirty="0">
              <a:effectLst/>
            </a:endParaRPr>
          </a:p>
          <a:p>
            <a:pPr rtl="0"/>
            <a:r>
              <a:rPr lang="en-US" dirty="0">
                <a:effectLst/>
                <a:hlinkClick r:id="rId369" tooltip="Cleft lip and palate organisations"/>
              </a:rPr>
              <a:t>Cleft lip and palate </a:t>
            </a:r>
            <a:r>
              <a:rPr lang="en-US" dirty="0" err="1">
                <a:effectLst/>
                <a:hlinkClick r:id="rId369" tooltip="Cleft lip and palate organisations"/>
              </a:rPr>
              <a:t>organisations</a:t>
            </a:r>
            <a:endParaRPr lang="en-US" dirty="0">
              <a:effectLst/>
            </a:endParaRPr>
          </a:p>
          <a:p>
            <a:pPr rtl="0"/>
            <a:r>
              <a:rPr lang="en-US" dirty="0">
                <a:effectLst/>
                <a:hlinkClick r:id="rId370" tooltip="Face and neck development of the embryo"/>
              </a:rPr>
              <a:t>Face and neck development of the embryo</a:t>
            </a:r>
            <a:endParaRPr lang="en-US" dirty="0">
              <a:effectLst/>
            </a:endParaRPr>
          </a:p>
          <a:p>
            <a:pPr rtl="0"/>
            <a:r>
              <a:rPr lang="en-US" b="1" dirty="0">
                <a:effectLst/>
              </a:rPr>
              <a:t>References</a:t>
            </a:r>
          </a:p>
          <a:p>
            <a:pPr rtl="0"/>
            <a:r>
              <a:rPr lang="en-US" dirty="0">
                <a:effectLst/>
              </a:rPr>
              <a:t>^ </a:t>
            </a:r>
            <a:r>
              <a:rPr lang="en-US" dirty="0">
                <a:effectLst/>
                <a:hlinkClick r:id="rId371"/>
              </a:rPr>
              <a:t>Jump up to: </a:t>
            </a:r>
            <a:r>
              <a:rPr lang="en-US" b="1" i="1" baseline="30000" dirty="0">
                <a:effectLst/>
                <a:hlinkClick r:id="rId371"/>
              </a:rPr>
              <a:t>a</a:t>
            </a:r>
            <a:r>
              <a:rPr lang="en-US" dirty="0">
                <a:effectLst/>
              </a:rPr>
              <a:t> </a:t>
            </a:r>
            <a:r>
              <a:rPr lang="en-US" b="1" i="1" baseline="30000" dirty="0">
                <a:effectLst/>
                <a:hlinkClick r:id="rId372"/>
              </a:rPr>
              <a:t>b</a:t>
            </a:r>
            <a:r>
              <a:rPr lang="en-US" dirty="0">
                <a:effectLst/>
              </a:rPr>
              <a:t> </a:t>
            </a:r>
            <a:r>
              <a:rPr lang="en-US" b="1" i="1" baseline="30000" dirty="0">
                <a:effectLst/>
                <a:hlinkClick r:id="rId373"/>
              </a:rPr>
              <a:t>c</a:t>
            </a:r>
            <a:r>
              <a:rPr lang="en-US" dirty="0">
                <a:effectLst/>
              </a:rPr>
              <a:t> </a:t>
            </a:r>
            <a:r>
              <a:rPr lang="en-US" b="1" i="1" baseline="30000" dirty="0">
                <a:effectLst/>
                <a:hlinkClick r:id="rId374"/>
              </a:rPr>
              <a:t>d</a:t>
            </a:r>
            <a:r>
              <a:rPr lang="en-US" dirty="0">
                <a:effectLst/>
              </a:rPr>
              <a:t> </a:t>
            </a:r>
            <a:r>
              <a:rPr lang="en-US" b="1" i="1" baseline="30000" dirty="0">
                <a:effectLst/>
                <a:hlinkClick r:id="rId375"/>
              </a:rPr>
              <a:t>e</a:t>
            </a:r>
            <a:r>
              <a:rPr lang="en-US" dirty="0">
                <a:effectLst/>
              </a:rPr>
              <a:t> </a:t>
            </a:r>
            <a:r>
              <a:rPr lang="en-US" b="1" i="1" baseline="30000" dirty="0">
                <a:effectLst/>
                <a:hlinkClick r:id="rId376"/>
              </a:rPr>
              <a:t>f</a:t>
            </a:r>
            <a:r>
              <a:rPr lang="en-US" dirty="0">
                <a:effectLst/>
              </a:rPr>
              <a:t> </a:t>
            </a:r>
            <a:r>
              <a:rPr lang="en-US" dirty="0">
                <a:effectLst/>
                <a:hlinkClick r:id="rId377"/>
              </a:rPr>
              <a:t>"Facts about Cleft Lip and Cleft Palate"</a:t>
            </a:r>
            <a:r>
              <a:rPr lang="en-US" dirty="0">
                <a:effectLst/>
              </a:rPr>
              <a:t>. October 20, 2014. Retrieved 8 May 2015. </a:t>
            </a:r>
          </a:p>
          <a:p>
            <a:pPr rtl="0"/>
            <a:r>
              <a:rPr lang="en-US" dirty="0">
                <a:effectLst/>
              </a:rPr>
              <a:t>^ </a:t>
            </a:r>
            <a:r>
              <a:rPr lang="en-US" dirty="0">
                <a:effectLst/>
                <a:hlinkClick r:id="rId378"/>
              </a:rPr>
              <a:t>Jump up to: </a:t>
            </a:r>
            <a:r>
              <a:rPr lang="en-US" b="1" i="1" baseline="30000" dirty="0">
                <a:effectLst/>
                <a:hlinkClick r:id="rId378"/>
              </a:rPr>
              <a:t>a</a:t>
            </a:r>
            <a:r>
              <a:rPr lang="en-US" dirty="0">
                <a:effectLst/>
              </a:rPr>
              <a:t> </a:t>
            </a:r>
            <a:r>
              <a:rPr lang="en-US" b="1" i="1" baseline="30000" dirty="0">
                <a:effectLst/>
                <a:hlinkClick r:id="rId379"/>
              </a:rPr>
              <a:t>b</a:t>
            </a:r>
            <a:r>
              <a:rPr lang="en-US" dirty="0">
                <a:effectLst/>
              </a:rPr>
              <a:t> </a:t>
            </a:r>
            <a:r>
              <a:rPr lang="en-US" b="1" i="1" baseline="30000" dirty="0">
                <a:effectLst/>
                <a:hlinkClick r:id="rId380"/>
              </a:rPr>
              <a:t>c</a:t>
            </a:r>
            <a:r>
              <a:rPr lang="en-US" dirty="0">
                <a:effectLst/>
              </a:rPr>
              <a:t> </a:t>
            </a:r>
            <a:r>
              <a:rPr lang="en-US" b="1" i="1" baseline="30000" dirty="0">
                <a:effectLst/>
                <a:hlinkClick r:id="rId381"/>
              </a:rPr>
              <a:t>d</a:t>
            </a:r>
            <a:r>
              <a:rPr lang="en-US" dirty="0">
                <a:effectLst/>
              </a:rPr>
              <a:t> </a:t>
            </a:r>
            <a:r>
              <a:rPr lang="en-US" b="1" i="1" baseline="30000" dirty="0">
                <a:effectLst/>
                <a:hlinkClick r:id="rId382"/>
              </a:rPr>
              <a:t>e</a:t>
            </a:r>
            <a:r>
              <a:rPr lang="en-US" dirty="0">
                <a:effectLst/>
              </a:rPr>
              <a:t> Watkins, SE; Meyer, RE; Strauss, RP; </a:t>
            </a:r>
            <a:r>
              <a:rPr lang="en-US" dirty="0" err="1">
                <a:effectLst/>
              </a:rPr>
              <a:t>Aylsworth</a:t>
            </a:r>
            <a:r>
              <a:rPr lang="en-US" dirty="0">
                <a:effectLst/>
              </a:rPr>
              <a:t>, AS (April 2014). "Classification, epidemiology, and genetics of orofacial clefts.". </a:t>
            </a:r>
            <a:r>
              <a:rPr lang="en-US" i="1" dirty="0">
                <a:effectLst/>
              </a:rPr>
              <a:t>Clinics in plastic surgery</a:t>
            </a:r>
            <a:r>
              <a:rPr lang="en-US" dirty="0">
                <a:effectLst/>
              </a:rPr>
              <a:t> </a:t>
            </a:r>
            <a:r>
              <a:rPr lang="en-US" b="1" dirty="0">
                <a:effectLst/>
              </a:rPr>
              <a:t>41</a:t>
            </a:r>
            <a:r>
              <a:rPr lang="en-US" dirty="0">
                <a:effectLst/>
              </a:rPr>
              <a:t> (2): 149–63. </a:t>
            </a:r>
            <a:r>
              <a:rPr lang="en-US" dirty="0">
                <a:effectLst/>
                <a:hlinkClick r:id="rId383" tooltip="PubMed Identifier"/>
              </a:rPr>
              <a:t>PMID</a:t>
            </a:r>
            <a:r>
              <a:rPr lang="en-US" dirty="0">
                <a:effectLst/>
              </a:rPr>
              <a:t> </a:t>
            </a:r>
            <a:r>
              <a:rPr lang="en-US" dirty="0">
                <a:effectLst/>
                <a:hlinkClick r:id="rId384"/>
              </a:rPr>
              <a:t>24607185</a:t>
            </a:r>
            <a:r>
              <a:rPr lang="en-US" dirty="0">
                <a:effectLst/>
              </a:rPr>
              <a:t>. </a:t>
            </a:r>
          </a:p>
          <a:p>
            <a:pPr rtl="0"/>
            <a:r>
              <a:rPr lang="en-US" b="1" dirty="0">
                <a:effectLst/>
                <a:hlinkClick r:id="rId385"/>
              </a:rPr>
              <a:t>Jump up ^</a:t>
            </a:r>
            <a:r>
              <a:rPr lang="en-US" dirty="0">
                <a:effectLst/>
              </a:rPr>
              <a:t> GBD 2013 Mortality and Causes of Death, Collaborators (17 December 2014). "Global, regional, and national age-sex specific all-cause and cause-specific mortality for 240 causes of death, 1990-2013: a systematic analysis for the Global Burden of Disease Study 2013.". </a:t>
            </a:r>
            <a:r>
              <a:rPr lang="en-US" i="1" dirty="0">
                <a:effectLst/>
              </a:rPr>
              <a:t>Lancet</a:t>
            </a:r>
            <a:r>
              <a:rPr lang="en-US" dirty="0">
                <a:effectLst/>
              </a:rPr>
              <a:t>. </a:t>
            </a:r>
            <a:r>
              <a:rPr lang="en-US" dirty="0">
                <a:effectLst/>
                <a:hlinkClick r:id="rId386" tooltip="Digital object identifier"/>
              </a:rPr>
              <a:t>doi</a:t>
            </a:r>
            <a:r>
              <a:rPr lang="en-US" dirty="0">
                <a:effectLst/>
              </a:rPr>
              <a:t>:</a:t>
            </a:r>
            <a:r>
              <a:rPr lang="en-US" dirty="0">
                <a:effectLst/>
                <a:hlinkClick r:id="rId387"/>
              </a:rPr>
              <a:t>10.1016/S0140-6736(14)61682-2</a:t>
            </a:r>
            <a:r>
              <a:rPr lang="en-US" dirty="0">
                <a:effectLst/>
              </a:rPr>
              <a:t>. </a:t>
            </a:r>
            <a:r>
              <a:rPr lang="en-US" dirty="0">
                <a:effectLst/>
                <a:hlinkClick r:id="rId383" tooltip="PubMed Identifier"/>
              </a:rPr>
              <a:t>PMID</a:t>
            </a:r>
            <a:r>
              <a:rPr lang="en-US" dirty="0">
                <a:effectLst/>
              </a:rPr>
              <a:t> </a:t>
            </a:r>
            <a:r>
              <a:rPr lang="en-US" dirty="0">
                <a:effectLst/>
                <a:hlinkClick r:id="rId388"/>
              </a:rPr>
              <a:t>25530442</a:t>
            </a:r>
            <a:r>
              <a:rPr lang="en-US" dirty="0">
                <a:effectLst/>
              </a:rPr>
              <a:t>. </a:t>
            </a:r>
          </a:p>
          <a:p>
            <a:pPr rtl="0"/>
            <a:r>
              <a:rPr lang="en-US" b="1" dirty="0">
                <a:effectLst/>
                <a:hlinkClick r:id="rId389"/>
              </a:rPr>
              <a:t>Jump up ^</a:t>
            </a:r>
            <a:r>
              <a:rPr lang="en-US" dirty="0">
                <a:effectLst/>
              </a:rPr>
              <a:t> </a:t>
            </a:r>
            <a:r>
              <a:rPr lang="en-US" dirty="0" err="1">
                <a:effectLst/>
              </a:rPr>
              <a:t>Boklage</a:t>
            </a:r>
            <a:r>
              <a:rPr lang="en-US" dirty="0">
                <a:effectLst/>
              </a:rPr>
              <a:t>, Charles E. (2010). </a:t>
            </a:r>
            <a:r>
              <a:rPr lang="en-US" i="1" dirty="0">
                <a:effectLst/>
                <a:hlinkClick r:id="rId390"/>
              </a:rPr>
              <a:t>How new humans are made cells and embryos</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83</a:t>
            </a:fld>
            <a:endParaRPr lang="en-US"/>
          </a:p>
        </p:txBody>
      </p:sp>
    </p:spTree>
    <p:extLst>
      <p:ext uri="{BB962C8B-B14F-4D97-AF65-F5344CB8AC3E}">
        <p14:creationId xmlns:p14="http://schemas.microsoft.com/office/powerpoint/2010/main" val="2141004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hlinkClick r:id="rId3" tooltip="Premature birth"/>
              </a:rPr>
              <a:t>Premature babies</a:t>
            </a:r>
            <a:r>
              <a:rPr lang="en-US" dirty="0">
                <a:effectLst/>
              </a:rPr>
              <a:t> can have difficulties coordinating their sucking reflex with breathing. They may also tire during feeds.</a:t>
            </a:r>
            <a:r>
              <a:rPr lang="en-US" baseline="30000" dirty="0">
                <a:effectLst/>
              </a:rPr>
              <a:t>[</a:t>
            </a:r>
            <a:r>
              <a:rPr lang="en-US" i="1" baseline="30000" dirty="0">
                <a:effectLst/>
                <a:hlinkClick r:id="rId4" tooltip="Wikipedia:Citation needed"/>
              </a:rPr>
              <a:t>citation needed</a:t>
            </a:r>
            <a:r>
              <a:rPr lang="en-US" baseline="30000" dirty="0">
                <a:effectLst/>
              </a:rPr>
              <a:t>]</a:t>
            </a:r>
            <a:r>
              <a:rPr lang="en-US" dirty="0">
                <a:effectLst/>
              </a:rPr>
              <a:t> Premature infants unable to take enough calories by mouth may need </a:t>
            </a:r>
            <a:r>
              <a:rPr lang="en-US" dirty="0">
                <a:effectLst/>
                <a:hlinkClick r:id="rId5" tooltip="Enteral feeding"/>
              </a:rPr>
              <a:t>enteral or gavage feeding</a:t>
            </a:r>
            <a:r>
              <a:rPr lang="en-US" dirty="0">
                <a:effectLst/>
              </a:rPr>
              <a:t> - inserting a feeding tube into the stomach to provide enough breast milk or a substitute. This is often done together with </a:t>
            </a:r>
            <a:r>
              <a:rPr lang="en-US" dirty="0">
                <a:effectLst/>
                <a:hlinkClick r:id="rId6" tooltip="Kangaroo care"/>
              </a:rPr>
              <a:t>Kangaroo care</a:t>
            </a:r>
            <a:r>
              <a:rPr lang="en-US" dirty="0">
                <a:effectLst/>
              </a:rPr>
              <a:t> (prolonged skin-to-skin contact with the mother) which makes later breastfeeding easier. For some suckling difficulties, such as may happen with cleft lip/palate, the baby can be fed with a </a:t>
            </a:r>
            <a:r>
              <a:rPr lang="en-US" dirty="0" err="1">
                <a:effectLst/>
                <a:hlinkClick r:id="rId7" tooltip="Haberman Feeder"/>
              </a:rPr>
              <a:t>Haberman</a:t>
            </a:r>
            <a:r>
              <a:rPr lang="en-US" dirty="0">
                <a:effectLst/>
                <a:hlinkClick r:id="rId7" tooltip="Haberman Feeder"/>
              </a:rPr>
              <a:t> Feeder</a:t>
            </a:r>
            <a:r>
              <a:rPr lang="en-US" dirty="0">
                <a:effectLst/>
              </a:rPr>
              <a:t>.</a:t>
            </a:r>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84</a:t>
            </a:fld>
            <a:endParaRPr lang="en-US"/>
          </a:p>
        </p:txBody>
      </p:sp>
    </p:spTree>
    <p:extLst>
      <p:ext uri="{BB962C8B-B14F-4D97-AF65-F5344CB8AC3E}">
        <p14:creationId xmlns:p14="http://schemas.microsoft.com/office/powerpoint/2010/main" val="2356018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4CEED4-3332-4962-BA94-4ED42520B0CD}" type="slidenum">
              <a:rPr lang="en-US" altLang="en-US">
                <a:solidFill>
                  <a:prstClr val="black"/>
                </a:solidFill>
              </a:rPr>
              <a:pPr/>
              <a:t>88</a:t>
            </a:fld>
            <a:endParaRPr lang="en-US" altLang="en-US">
              <a:solidFill>
                <a:prstClr val="black"/>
              </a:solidFill>
            </a:endParaRPr>
          </a:p>
        </p:txBody>
      </p:sp>
      <p:sp>
        <p:nvSpPr>
          <p:cNvPr id="9218" name="Rectangle 2"/>
          <p:cNvSpPr>
            <a:spLocks noGrp="1" noRot="1" noChangeAspect="1" noChangeArrowheads="1" noTextEdit="1"/>
          </p:cNvSpPr>
          <p:nvPr>
            <p:ph type="sldImg"/>
          </p:nvPr>
        </p:nvSpPr>
        <p:spPr>
          <a:xfrm>
            <a:off x="381000" y="457200"/>
            <a:ext cx="6096000" cy="3429000"/>
          </a:xfrm>
          <a:ln/>
        </p:spPr>
      </p:sp>
      <p:sp>
        <p:nvSpPr>
          <p:cNvPr id="9219" name="Rectangle 3"/>
          <p:cNvSpPr>
            <a:spLocks noGrp="1" noChangeArrowheads="1"/>
          </p:cNvSpPr>
          <p:nvPr>
            <p:ph type="body" idx="1"/>
          </p:nvPr>
        </p:nvSpPr>
        <p:spPr>
          <a:xfrm>
            <a:off x="533400" y="4114800"/>
            <a:ext cx="5791200" cy="4343400"/>
          </a:xfrm>
        </p:spPr>
        <p:txBody>
          <a:bodyPr/>
          <a:lstStyle/>
          <a:p>
            <a:r>
              <a:rPr lang="en-US" altLang="en-US" dirty="0"/>
              <a:t>As the infant suckles at the breast, the nerve endings in the breast send a signal to the mother’s brain, resulting in the release of prolactin from the anterior pituitary and oxytocin from the posterior pituitary.  </a:t>
            </a:r>
          </a:p>
          <a:p>
            <a:r>
              <a:rPr lang="en-US" altLang="en-US" dirty="0"/>
              <a:t>Prolactin surges result in increased production of milk in the alveolar tissue of the breast. Oxytocin has multiple effects.  </a:t>
            </a:r>
          </a:p>
          <a:p>
            <a:r>
              <a:rPr lang="en-US" altLang="en-US" dirty="0"/>
              <a:t>In the brain, oxytocin receptors bind the oxytocin, causing strong feelings of attachment and love for the nursing infant.  </a:t>
            </a:r>
          </a:p>
          <a:p>
            <a:r>
              <a:rPr lang="en-US" altLang="en-US" dirty="0"/>
              <a:t>In the breast, oxytocin causes the </a:t>
            </a:r>
            <a:r>
              <a:rPr lang="en-US" altLang="en-US" dirty="0" err="1"/>
              <a:t>myoepithelial</a:t>
            </a:r>
            <a:r>
              <a:rPr lang="en-US" altLang="en-US" dirty="0"/>
              <a:t> cells surrounding </a:t>
            </a:r>
            <a:br>
              <a:rPr lang="en-US" altLang="en-US" dirty="0"/>
            </a:br>
            <a:r>
              <a:rPr lang="en-US" altLang="en-US" dirty="0"/>
              <a:t>the glandular tissue to contract and increase the milk flow to the baby, </a:t>
            </a:r>
            <a:br>
              <a:rPr lang="en-US" altLang="en-US" dirty="0"/>
            </a:br>
            <a:r>
              <a:rPr lang="en-US" altLang="en-US" dirty="0"/>
              <a:t>in what is called the milk ejection reflex (commonly referred to as </a:t>
            </a:r>
            <a:br>
              <a:rPr lang="en-US" altLang="en-US" dirty="0"/>
            </a:br>
            <a:r>
              <a:rPr lang="en-US" altLang="en-US" dirty="0"/>
              <a:t>“let-down”). </a:t>
            </a:r>
          </a:p>
          <a:p>
            <a:r>
              <a:rPr lang="en-US" altLang="en-US" dirty="0"/>
              <a:t>In the mother’s uterus, oxytocin causes uterine contractions that result </a:t>
            </a:r>
            <a:br>
              <a:rPr lang="en-US" altLang="en-US" dirty="0"/>
            </a:br>
            <a:r>
              <a:rPr lang="en-US" altLang="en-US" dirty="0"/>
              <a:t>in constriction of the </a:t>
            </a:r>
            <a:r>
              <a:rPr lang="en-US" altLang="en-US" dirty="0" err="1"/>
              <a:t>myoepithelial</a:t>
            </a:r>
            <a:r>
              <a:rPr lang="en-US" altLang="en-US" dirty="0"/>
              <a:t> cells of the uterus, decreasing the risk of hemorrhage. Milk production also depends on many other maternal hormones, including adequate thyroid hormone.</a:t>
            </a:r>
          </a:p>
          <a:p>
            <a:endParaRPr lang="en-US" altLang="en-US" dirty="0"/>
          </a:p>
        </p:txBody>
      </p:sp>
    </p:spTree>
    <p:extLst>
      <p:ext uri="{BB962C8B-B14F-4D97-AF65-F5344CB8AC3E}">
        <p14:creationId xmlns:p14="http://schemas.microsoft.com/office/powerpoint/2010/main" val="2008126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2E5506-B2FE-470B-BE8C-B51EED410E51}" type="slidenum">
              <a:rPr lang="en-US" smtClean="0"/>
              <a:t>97</a:t>
            </a:fld>
            <a:endParaRPr lang="en-US"/>
          </a:p>
        </p:txBody>
      </p:sp>
    </p:spTree>
    <p:extLst>
      <p:ext uri="{BB962C8B-B14F-4D97-AF65-F5344CB8AC3E}">
        <p14:creationId xmlns:p14="http://schemas.microsoft.com/office/powerpoint/2010/main" val="3826101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C0DC0E-34AD-46A7-8538-B924C9B73C44}" type="slidenum">
              <a:rPr lang="en-US" altLang="en-US">
                <a:solidFill>
                  <a:prstClr val="black"/>
                </a:solidFill>
              </a:rPr>
              <a:pPr/>
              <a:t>98</a:t>
            </a:fld>
            <a:endParaRPr lang="en-US" altLang="en-US">
              <a:solidFill>
                <a:prstClr val="black"/>
              </a:solidFill>
            </a:endParaRPr>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35452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CABC135-378D-4355-8CBE-6A81BE3DC4FB}" type="datetimeFigureOut">
              <a:rPr lang="en-US" smtClean="0"/>
              <a:t>24-Jul-25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1670943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ABC135-378D-4355-8CBE-6A81BE3DC4FB}" type="datetimeFigureOut">
              <a:rPr lang="en-US" smtClean="0"/>
              <a:t>24-Jul-25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456072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ABC135-378D-4355-8CBE-6A81BE3DC4FB}" type="datetimeFigureOut">
              <a:rPr lang="en-US" smtClean="0"/>
              <a:t>24-Jul-25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3072106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CABC135-378D-4355-8CBE-6A81BE3DC4FB}" type="datetimeFigureOut">
              <a:rPr lang="en-US" smtClean="0"/>
              <a:t>24-Jul-25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1246051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CABC135-378D-4355-8CBE-6A81BE3DC4FB}" type="datetimeFigureOut">
              <a:rPr lang="en-US" smtClean="0"/>
              <a:t>24-Jul-25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4158202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CABC135-378D-4355-8CBE-6A81BE3DC4FB}" type="datetimeFigureOut">
              <a:rPr lang="en-US" smtClean="0"/>
              <a:t>24-Jul-25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2829258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ABC135-378D-4355-8CBE-6A81BE3DC4FB}" type="datetimeFigureOut">
              <a:rPr lang="en-US" smtClean="0"/>
              <a:t>24-Jul-25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563732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ABC135-378D-4355-8CBE-6A81BE3DC4FB}" type="datetimeFigureOut">
              <a:rPr lang="en-US" smtClean="0"/>
              <a:t>24-Jul-25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91425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ABC135-378D-4355-8CBE-6A81BE3DC4FB}" type="datetimeFigureOut">
              <a:rPr lang="en-US" smtClean="0"/>
              <a:t>24-Jul-25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214748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ABC135-378D-4355-8CBE-6A81BE3DC4FB}" type="datetimeFigureOut">
              <a:rPr lang="en-US" smtClean="0"/>
              <a:t>24-Jul-25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3456893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ABC135-378D-4355-8CBE-6A81BE3DC4FB}" type="datetimeFigureOut">
              <a:rPr lang="en-US" smtClean="0"/>
              <a:t>24-Jul-25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A2E053-1419-47B0-A39D-0CAE277770F4}" type="slidenum">
              <a:rPr lang="en-US" smtClean="0"/>
              <a:t>‹#›</a:t>
            </a:fld>
            <a:endParaRPr lang="en-US"/>
          </a:p>
        </p:txBody>
      </p:sp>
    </p:spTree>
    <p:extLst>
      <p:ext uri="{BB962C8B-B14F-4D97-AF65-F5344CB8AC3E}">
        <p14:creationId xmlns:p14="http://schemas.microsoft.com/office/powerpoint/2010/main" val="3359149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a:xfrm>
            <a:off x="2692397" y="5037663"/>
            <a:ext cx="5214635" cy="279400"/>
          </a:xfr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8956900" y="5037663"/>
            <a:ext cx="551167" cy="279400"/>
          </a:xfrm>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066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455580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93820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solidFill>
            </a:endParaRPr>
          </a:p>
        </p:txBody>
      </p:sp>
      <p:sp>
        <p:nvSpPr>
          <p:cNvPr id="7" name="Slide Number Placeholder 6"/>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0287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8" name="Footer Placeholder 7"/>
          <p:cNvSpPr>
            <a:spLocks noGrp="1"/>
          </p:cNvSpPr>
          <p:nvPr>
            <p:ph type="ftr" sz="quarter" idx="11"/>
          </p:nvPr>
        </p:nvSpPr>
        <p:spPr/>
        <p:txBody>
          <a:bodyPr/>
          <a:lstStyle/>
          <a:p>
            <a:endParaRPr lang="en-US">
              <a:solidFill>
                <a:prstClr val="black"/>
              </a:solidFill>
            </a:endParaRPr>
          </a:p>
        </p:txBody>
      </p:sp>
      <p:sp>
        <p:nvSpPr>
          <p:cNvPr id="9" name="Slide Number Placeholder 8"/>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2547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4" name="Footer Placeholder 3"/>
          <p:cNvSpPr>
            <a:spLocks noGrp="1"/>
          </p:cNvSpPr>
          <p:nvPr>
            <p:ph type="ftr" sz="quarter" idx="11"/>
          </p:nvPr>
        </p:nvSpPr>
        <p:spPr/>
        <p:txBody>
          <a:bodyPr/>
          <a:lstStyle/>
          <a:p>
            <a:endParaRPr lang="en-US">
              <a:solidFill>
                <a:prstClr val="black"/>
              </a:solidFill>
            </a:endParaRPr>
          </a:p>
        </p:txBody>
      </p:sp>
      <p:sp>
        <p:nvSpPr>
          <p:cNvPr id="5" name="Slide Number Placeholder 4"/>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49924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3" name="Footer Placeholder 2"/>
          <p:cNvSpPr>
            <a:spLocks noGrp="1"/>
          </p:cNvSpPr>
          <p:nvPr>
            <p:ph type="ftr" sz="quarter" idx="11"/>
          </p:nvPr>
        </p:nvSpPr>
        <p:spPr/>
        <p:txBody>
          <a:bodyPr/>
          <a:lstStyle/>
          <a:p>
            <a:endParaRPr lang="en-US">
              <a:solidFill>
                <a:prstClr val="black"/>
              </a:solidFill>
            </a:endParaRPr>
          </a:p>
        </p:txBody>
      </p:sp>
      <p:sp>
        <p:nvSpPr>
          <p:cNvPr id="4" name="Slide Number Placeholder 3"/>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9342921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solidFill>
            </a:endParaRPr>
          </a:p>
        </p:txBody>
      </p:sp>
      <p:sp>
        <p:nvSpPr>
          <p:cNvPr id="7" name="Slide Number Placeholder 6"/>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30154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solidFill>
            </a:endParaRPr>
          </a:p>
        </p:txBody>
      </p:sp>
      <p:sp>
        <p:nvSpPr>
          <p:cNvPr id="7" name="Slide Number Placeholder 6"/>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551460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solidFill>
            </a:endParaRPr>
          </a:p>
        </p:txBody>
      </p:sp>
      <p:sp>
        <p:nvSpPr>
          <p:cNvPr id="7" name="Slide Number Placeholder 6"/>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484072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33268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r>
              <a:rPr lang="en-US" sz="8000" dirty="0">
                <a:solidFill>
                  <a:prstClr val="black"/>
                </a:solidFill>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algn="r"/>
            <a:r>
              <a:rPr lang="en-US" sz="8000" dirty="0">
                <a:solidFill>
                  <a:prstClr val="black"/>
                </a:solidFill>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062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658637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r>
              <a:rPr lang="en-US" sz="8000" dirty="0">
                <a:solidFill>
                  <a:prstClr val="black"/>
                </a:solidFill>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algn="r"/>
            <a:r>
              <a:rPr lang="en-US" sz="8000" dirty="0">
                <a:solidFill>
                  <a:prstClr val="black"/>
                </a:solidFill>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12121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19078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99883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71548E74-5594-448D-AAD4-4E74E2B13E32}" type="slidenum">
              <a:rPr lang="en-US" smtClean="0">
                <a:solidFill>
                  <a:prstClr val="black"/>
                </a:solidFill>
              </a:rPr>
              <a:pPr/>
              <a:t>‹#›</a:t>
            </a:fld>
            <a:endParaRPr lang="en-US">
              <a:solidFill>
                <a:prstClr val="black"/>
              </a:solidFill>
            </a:endParaRP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163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292101" y="227013"/>
            <a:ext cx="9969500" cy="1143000"/>
          </a:xfrm>
        </p:spPr>
        <p:txBody>
          <a:bodyPr/>
          <a:lstStyle/>
          <a:p>
            <a:r>
              <a:rPr lang="en-US"/>
              <a:t>Click to edit Master title style</a:t>
            </a:r>
          </a:p>
        </p:txBody>
      </p:sp>
      <p:sp>
        <p:nvSpPr>
          <p:cNvPr id="3" name="SmartArt Placeholder 2"/>
          <p:cNvSpPr>
            <a:spLocks noGrp="1"/>
          </p:cNvSpPr>
          <p:nvPr>
            <p:ph type="dgm" idx="1"/>
          </p:nvPr>
        </p:nvSpPr>
        <p:spPr>
          <a:xfrm>
            <a:off x="351367" y="1598613"/>
            <a:ext cx="9848851" cy="4497387"/>
          </a:xfrm>
        </p:spPr>
        <p:txBody>
          <a:bodyPr/>
          <a:lstStyle/>
          <a:p>
            <a:endParaRPr lang="en-US"/>
          </a:p>
        </p:txBody>
      </p:sp>
      <p:sp>
        <p:nvSpPr>
          <p:cNvPr id="4" name="Date Placeholder 3"/>
          <p:cNvSpPr>
            <a:spLocks noGrp="1"/>
          </p:cNvSpPr>
          <p:nvPr>
            <p:ph type="dt" sz="half" idx="10"/>
          </p:nvPr>
        </p:nvSpPr>
        <p:spPr>
          <a:xfrm>
            <a:off x="402168" y="6242051"/>
            <a:ext cx="2377017" cy="474663"/>
          </a:xfrm>
        </p:spPr>
        <p:txBody>
          <a:bodyPr/>
          <a:lstStyle>
            <a:lvl1pPr>
              <a:defRPr/>
            </a:lvl1pPr>
          </a:lstStyle>
          <a:p>
            <a:endParaRPr lang="en-US" altLang="en-US">
              <a:solidFill>
                <a:prstClr val="black"/>
              </a:solidFill>
            </a:endParaRPr>
          </a:p>
        </p:txBody>
      </p:sp>
      <p:sp>
        <p:nvSpPr>
          <p:cNvPr id="5" name="Footer Placeholder 4"/>
          <p:cNvSpPr>
            <a:spLocks noGrp="1"/>
          </p:cNvSpPr>
          <p:nvPr>
            <p:ph type="ftr" sz="quarter" idx="11"/>
          </p:nvPr>
        </p:nvSpPr>
        <p:spPr>
          <a:xfrm>
            <a:off x="3009900" y="6248401"/>
            <a:ext cx="4607984" cy="474663"/>
          </a:xfrm>
        </p:spPr>
        <p:txBody>
          <a:bodyPr/>
          <a:lstStyle>
            <a:lvl1pPr>
              <a:defRPr/>
            </a:lvl1pPr>
          </a:lstStyle>
          <a:p>
            <a:endParaRPr lang="en-US" altLang="en-US">
              <a:solidFill>
                <a:prstClr val="black"/>
              </a:solidFill>
            </a:endParaRPr>
          </a:p>
        </p:txBody>
      </p:sp>
      <p:sp>
        <p:nvSpPr>
          <p:cNvPr id="6" name="Slide Number Placeholder 5"/>
          <p:cNvSpPr>
            <a:spLocks noGrp="1"/>
          </p:cNvSpPr>
          <p:nvPr>
            <p:ph type="sldNum" sz="quarter" idx="12"/>
          </p:nvPr>
        </p:nvSpPr>
        <p:spPr>
          <a:xfrm>
            <a:off x="7823201" y="6248401"/>
            <a:ext cx="2341033" cy="474663"/>
          </a:xfrm>
        </p:spPr>
        <p:txBody>
          <a:bodyPr/>
          <a:lstStyle>
            <a:lvl1pPr>
              <a:defRPr/>
            </a:lvl1pPr>
          </a:lstStyle>
          <a:p>
            <a:fld id="{333BC926-7BDA-4F42-A046-06455ACB96D5}" type="slidenum">
              <a:rPr lang="en-US" altLang="en-US">
                <a:solidFill>
                  <a:prstClr val="black"/>
                </a:solidFill>
              </a:rPr>
              <a:pPr/>
              <a:t>‹#›</a:t>
            </a:fld>
            <a:endParaRPr lang="en-US" altLang="en-US">
              <a:solidFill>
                <a:prstClr val="black"/>
              </a:solidFill>
            </a:endParaRPr>
          </a:p>
        </p:txBody>
      </p:sp>
    </p:spTree>
    <p:extLst>
      <p:ext uri="{BB962C8B-B14F-4D97-AF65-F5344CB8AC3E}">
        <p14:creationId xmlns:p14="http://schemas.microsoft.com/office/powerpoint/2010/main" val="15672867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01259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95676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96444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005931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24126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227625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247197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16975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388765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231858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026183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8176668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9081036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0988006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3478051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8" name="Footer Placeholder 7"/>
          <p:cNvSpPr>
            <a:spLocks noGrp="1"/>
          </p:cNvSpPr>
          <p:nvPr>
            <p:ph type="ftr" sz="quarter" idx="11"/>
          </p:nvPr>
        </p:nvSpPr>
        <p:spPr/>
        <p:txBody>
          <a:bodyPr/>
          <a:lstStyle/>
          <a:p>
            <a:endParaRPr lang="en-AU">
              <a:solidFill>
                <a:prstClr val="black">
                  <a:tint val="75000"/>
                </a:prstClr>
              </a:solidFill>
            </a:endParaRPr>
          </a:p>
        </p:txBody>
      </p:sp>
      <p:sp>
        <p:nvSpPr>
          <p:cNvPr id="9" name="Slide Number Placeholder 8"/>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4596001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4" name="Footer Placeholder 3"/>
          <p:cNvSpPr>
            <a:spLocks noGrp="1"/>
          </p:cNvSpPr>
          <p:nvPr>
            <p:ph type="ftr" sz="quarter" idx="11"/>
          </p:nvPr>
        </p:nvSpPr>
        <p:spPr/>
        <p:txBody>
          <a:bodyPr/>
          <a:lstStyle/>
          <a:p>
            <a:endParaRPr lang="en-AU">
              <a:solidFill>
                <a:prstClr val="black">
                  <a:tint val="75000"/>
                </a:prstClr>
              </a:solidFill>
            </a:endParaRPr>
          </a:p>
        </p:txBody>
      </p:sp>
      <p:sp>
        <p:nvSpPr>
          <p:cNvPr id="5" name="Slide Number Placeholder 4"/>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0833429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3" name="Footer Placeholder 2"/>
          <p:cNvSpPr>
            <a:spLocks noGrp="1"/>
          </p:cNvSpPr>
          <p:nvPr>
            <p:ph type="ftr" sz="quarter" idx="11"/>
          </p:nvPr>
        </p:nvSpPr>
        <p:spPr/>
        <p:txBody>
          <a:bodyPr/>
          <a:lstStyle/>
          <a:p>
            <a:endParaRPr lang="en-AU">
              <a:solidFill>
                <a:prstClr val="black">
                  <a:tint val="75000"/>
                </a:prstClr>
              </a:solidFill>
            </a:endParaRPr>
          </a:p>
        </p:txBody>
      </p:sp>
      <p:sp>
        <p:nvSpPr>
          <p:cNvPr id="4" name="Slide Number Placeholder 3"/>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3558038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5111833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5814281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1601728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25266061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947659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92330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261145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91879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00195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191886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3800230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2805968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129415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633740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02768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562707" y="1371600"/>
            <a:ext cx="109728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a:t>Click to edit Master title style</a:t>
            </a:r>
          </a:p>
        </p:txBody>
      </p:sp>
      <p:sp>
        <p:nvSpPr>
          <p:cNvPr id="28" name="Date Placeholder 27"/>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17" name="Footer Placeholder 16"/>
          <p:cNvSpPr>
            <a:spLocks noGrp="1"/>
          </p:cNvSpPr>
          <p:nvPr>
            <p:ph type="ftr" sz="quarter" idx="11"/>
          </p:nvPr>
        </p:nvSpPr>
        <p:spPr/>
        <p:txBody>
          <a:bodyPr/>
          <a:lstStyle/>
          <a:p>
            <a:endParaRPr lang="en-US">
              <a:solidFill>
                <a:prstClr val="white">
                  <a:shade val="50000"/>
                </a:prstClr>
              </a:solidFill>
            </a:endParaRPr>
          </a:p>
        </p:txBody>
      </p:sp>
      <p:sp>
        <p:nvSpPr>
          <p:cNvPr id="29" name="Slide Number Placeholder 28"/>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
        <p:nvSpPr>
          <p:cNvPr id="9" name="Subtitle 8"/>
          <p:cNvSpPr>
            <a:spLocks noGrp="1"/>
          </p:cNvSpPr>
          <p:nvPr>
            <p:ph type="subTitle" idx="1"/>
          </p:nvPr>
        </p:nvSpPr>
        <p:spPr>
          <a:xfrm>
            <a:off x="1828800" y="3331698"/>
            <a:ext cx="85344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Tree>
    <p:extLst>
      <p:ext uri="{BB962C8B-B14F-4D97-AF65-F5344CB8AC3E}">
        <p14:creationId xmlns:p14="http://schemas.microsoft.com/office/powerpoint/2010/main" val="5773659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5" name="Footer Placeholder 4"/>
          <p:cNvSpPr>
            <a:spLocks noGrp="1"/>
          </p:cNvSpPr>
          <p:nvPr>
            <p:ph type="ftr" sz="quarter" idx="11"/>
          </p:nvPr>
        </p:nvSpPr>
        <p:spPr/>
        <p:txBody>
          <a:bodyPr/>
          <a:lstStyle/>
          <a:p>
            <a:endParaRPr lang="en-US">
              <a:solidFill>
                <a:prstClr val="white">
                  <a:shade val="50000"/>
                </a:prstClr>
              </a:solidFill>
            </a:endParaRPr>
          </a:p>
        </p:txBody>
      </p:sp>
      <p:sp>
        <p:nvSpPr>
          <p:cNvPr id="6" name="Slide Number Placeholder 5"/>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373357686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33600" y="609600"/>
            <a:ext cx="94488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2133600" y="2507786"/>
            <a:ext cx="94488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5" name="Footer Placeholder 4"/>
          <p:cNvSpPr>
            <a:spLocks noGrp="1"/>
          </p:cNvSpPr>
          <p:nvPr>
            <p:ph type="ftr" sz="quarter" idx="11"/>
          </p:nvPr>
        </p:nvSpPr>
        <p:spPr/>
        <p:txBody>
          <a:bodyPr/>
          <a:lstStyle/>
          <a:p>
            <a:endParaRPr lang="en-US">
              <a:solidFill>
                <a:prstClr val="white">
                  <a:shade val="50000"/>
                </a:prstClr>
              </a:solidFill>
            </a:endParaRPr>
          </a:p>
        </p:txBody>
      </p:sp>
      <p:sp>
        <p:nvSpPr>
          <p:cNvPr id="6" name="Slide Number Placeholder 5"/>
          <p:cNvSpPr>
            <a:spLocks noGrp="1"/>
          </p:cNvSpPr>
          <p:nvPr>
            <p:ph type="sldNum" sz="quarter" idx="12"/>
          </p:nvPr>
        </p:nvSpPr>
        <p:spPr>
          <a:xfrm>
            <a:off x="10566400" y="6416676"/>
            <a:ext cx="1016000" cy="365125"/>
          </a:xfrm>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2789055392"/>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6" name="Footer Placeholder 5"/>
          <p:cNvSpPr>
            <a:spLocks noGrp="1"/>
          </p:cNvSpPr>
          <p:nvPr>
            <p:ph type="ftr" sz="quarter" idx="11"/>
          </p:nvPr>
        </p:nvSpPr>
        <p:spPr/>
        <p:txBody>
          <a:bodyPr/>
          <a:lstStyle/>
          <a:p>
            <a:endParaRPr lang="en-US">
              <a:solidFill>
                <a:prstClr val="white">
                  <a:shade val="50000"/>
                </a:prstClr>
              </a:solidFill>
            </a:endParaRPr>
          </a:p>
        </p:txBody>
      </p:sp>
      <p:sp>
        <p:nvSpPr>
          <p:cNvPr id="7" name="Slide Number Placeholder 6"/>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8586543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535113"/>
            <a:ext cx="5386917"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535113"/>
            <a:ext cx="5389033"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362201"/>
            <a:ext cx="5386917"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362201"/>
            <a:ext cx="5389033"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8" name="Footer Placeholder 7"/>
          <p:cNvSpPr>
            <a:spLocks noGrp="1"/>
          </p:cNvSpPr>
          <p:nvPr>
            <p:ph type="ftr" sz="quarter" idx="11"/>
          </p:nvPr>
        </p:nvSpPr>
        <p:spPr/>
        <p:txBody>
          <a:bodyPr/>
          <a:lstStyle/>
          <a:p>
            <a:endParaRPr lang="en-US">
              <a:solidFill>
                <a:prstClr val="white">
                  <a:shade val="50000"/>
                </a:prstClr>
              </a:solidFill>
            </a:endParaRPr>
          </a:p>
        </p:txBody>
      </p:sp>
      <p:sp>
        <p:nvSpPr>
          <p:cNvPr id="9" name="Slide Number Placeholder 8"/>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263888123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4" name="Footer Placeholder 3"/>
          <p:cNvSpPr>
            <a:spLocks noGrp="1"/>
          </p:cNvSpPr>
          <p:nvPr>
            <p:ph type="ftr" sz="quarter" idx="11"/>
          </p:nvPr>
        </p:nvSpPr>
        <p:spPr/>
        <p:txBody>
          <a:bodyPr/>
          <a:lstStyle/>
          <a:p>
            <a:endParaRPr lang="en-US">
              <a:solidFill>
                <a:prstClr val="white">
                  <a:shade val="50000"/>
                </a:prstClr>
              </a:solidFill>
            </a:endParaRPr>
          </a:p>
        </p:txBody>
      </p:sp>
      <p:sp>
        <p:nvSpPr>
          <p:cNvPr id="5" name="Slide Number Placeholder 4"/>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31276538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3" name="Footer Placeholder 2"/>
          <p:cNvSpPr>
            <a:spLocks noGrp="1"/>
          </p:cNvSpPr>
          <p:nvPr>
            <p:ph type="ftr" sz="quarter" idx="11"/>
          </p:nvPr>
        </p:nvSpPr>
        <p:spPr/>
        <p:txBody>
          <a:bodyPr/>
          <a:lstStyle/>
          <a:p>
            <a:endParaRPr lang="en-US">
              <a:solidFill>
                <a:prstClr val="white">
                  <a:shade val="50000"/>
                </a:prstClr>
              </a:solidFill>
            </a:endParaRPr>
          </a:p>
        </p:txBody>
      </p:sp>
      <p:sp>
        <p:nvSpPr>
          <p:cNvPr id="4" name="Slide Number Placeholder 3"/>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389640632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a:t>Click to edit Master title style</a:t>
            </a:r>
          </a:p>
        </p:txBody>
      </p:sp>
      <p:sp>
        <p:nvSpPr>
          <p:cNvPr id="3" name="Text Placeholder 2"/>
          <p:cNvSpPr>
            <a:spLocks noGrp="1"/>
          </p:cNvSpPr>
          <p:nvPr>
            <p:ph type="body" idx="2"/>
          </p:nvPr>
        </p:nvSpPr>
        <p:spPr>
          <a:xfrm>
            <a:off x="609601" y="1524001"/>
            <a:ext cx="4011084"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273051"/>
            <a:ext cx="6815667"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6" name="Footer Placeholder 5"/>
          <p:cNvSpPr>
            <a:spLocks noGrp="1"/>
          </p:cNvSpPr>
          <p:nvPr>
            <p:ph type="ftr" sz="quarter" idx="11"/>
          </p:nvPr>
        </p:nvSpPr>
        <p:spPr/>
        <p:txBody>
          <a:bodyPr/>
          <a:lstStyle/>
          <a:p>
            <a:endParaRPr lang="en-US">
              <a:solidFill>
                <a:prstClr val="white">
                  <a:shade val="50000"/>
                </a:prstClr>
              </a:solidFill>
            </a:endParaRPr>
          </a:p>
        </p:txBody>
      </p:sp>
      <p:sp>
        <p:nvSpPr>
          <p:cNvPr id="7" name="Slide Number Placeholder 6"/>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113709045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38400" y="609600"/>
            <a:ext cx="7315200" cy="522288"/>
          </a:xfrm>
        </p:spPr>
        <p:txBody>
          <a:bodyPr lIns="45720" rIns="45720" bIns="0" anchor="b">
            <a:sp3d prstMaterial="softEdge"/>
          </a:bodyPr>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2438400" y="1831975"/>
            <a:ext cx="73152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marL="0" indent="0" algn="l" rtl="0" eaLnBrk="1" latinLnBrk="0" hangingPunct="1">
              <a:buNone/>
              <a:defRPr sz="3200"/>
            </a:lvl1pPr>
          </a:lstStyle>
          <a:p>
            <a:pPr marL="0" algn="l" rtl="0" eaLnBrk="1" latinLnBrk="0" hangingPunct="1"/>
            <a:r>
              <a:rPr kumimoji="0" lang="en-US">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2438400" y="1166787"/>
            <a:ext cx="73152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6" name="Footer Placeholder 5"/>
          <p:cNvSpPr>
            <a:spLocks noGrp="1"/>
          </p:cNvSpPr>
          <p:nvPr>
            <p:ph type="ftr" sz="quarter" idx="11"/>
          </p:nvPr>
        </p:nvSpPr>
        <p:spPr/>
        <p:txBody>
          <a:bodyPr/>
          <a:lstStyle/>
          <a:p>
            <a:endParaRPr lang="en-US">
              <a:solidFill>
                <a:prstClr val="white">
                  <a:shade val="50000"/>
                </a:prstClr>
              </a:solidFill>
            </a:endParaRPr>
          </a:p>
        </p:txBody>
      </p:sp>
      <p:sp>
        <p:nvSpPr>
          <p:cNvPr id="7" name="Slide Number Placeholder 6"/>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225656300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5" name="Footer Placeholder 4"/>
          <p:cNvSpPr>
            <a:spLocks noGrp="1"/>
          </p:cNvSpPr>
          <p:nvPr>
            <p:ph type="ftr" sz="quarter" idx="11"/>
          </p:nvPr>
        </p:nvSpPr>
        <p:spPr/>
        <p:txBody>
          <a:bodyPr/>
          <a:lstStyle/>
          <a:p>
            <a:endParaRPr lang="en-US">
              <a:solidFill>
                <a:prstClr val="white">
                  <a:shade val="50000"/>
                </a:prstClr>
              </a:solidFill>
            </a:endParaRPr>
          </a:p>
        </p:txBody>
      </p:sp>
      <p:sp>
        <p:nvSpPr>
          <p:cNvPr id="6" name="Slide Number Placeholder 5"/>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340270042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5" name="Footer Placeholder 4"/>
          <p:cNvSpPr>
            <a:spLocks noGrp="1"/>
          </p:cNvSpPr>
          <p:nvPr>
            <p:ph type="ftr" sz="quarter" idx="11"/>
          </p:nvPr>
        </p:nvSpPr>
        <p:spPr/>
        <p:txBody>
          <a:bodyPr/>
          <a:lstStyle/>
          <a:p>
            <a:endParaRPr lang="en-US">
              <a:solidFill>
                <a:prstClr val="white">
                  <a:shade val="50000"/>
                </a:prstClr>
              </a:solidFill>
            </a:endParaRPr>
          </a:p>
        </p:txBody>
      </p:sp>
      <p:sp>
        <p:nvSpPr>
          <p:cNvPr id="6" name="Slide Number Placeholder 5"/>
          <p:cNvSpPr>
            <a:spLocks noGrp="1"/>
          </p:cNvSpPr>
          <p:nvPr>
            <p:ph type="sldNum" sz="quarter" idx="12"/>
          </p:nvPr>
        </p:nvSpPr>
        <p:spPr/>
        <p:txBody>
          <a:body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307757060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06A47699-1B7C-4973-A8DE-A8D22838202E}" type="datetimeFigureOut">
              <a:rPr lang="en-GB" smtClean="0">
                <a:solidFill>
                  <a:srgbClr val="ECE9C6"/>
                </a:solidFill>
              </a:rPr>
              <a:pPr/>
              <a:t>24/07/2025</a:t>
            </a:fld>
            <a:endParaRPr lang="en-GB">
              <a:solidFill>
                <a:srgbClr val="ECE9C6"/>
              </a:solidFill>
            </a:endParaRPr>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GB">
              <a:solidFill>
                <a:srgbClr val="ECE9C6"/>
              </a:solidFill>
            </a:endParaRP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33C94288-CE4A-4F32-B7A3-D3E029A34858}" type="slidenum">
              <a:rPr lang="en-GB" smtClean="0">
                <a:solidFill>
                  <a:srgbClr val="ECE9C6"/>
                </a:solidFill>
              </a:rPr>
              <a:pPr/>
              <a:t>‹#›</a:t>
            </a:fld>
            <a:endParaRPr lang="en-GB">
              <a:solidFill>
                <a:srgbClr val="ECE9C6"/>
              </a:solidFill>
            </a:endParaRPr>
          </a:p>
        </p:txBody>
      </p:sp>
      <p:grpSp>
        <p:nvGrpSpPr>
          <p:cNvPr id="8" name="Group 7"/>
          <p:cNvGrpSpPr/>
          <p:nvPr/>
        </p:nvGrpSpPr>
        <p:grpSpPr>
          <a:xfrm>
            <a:off x="1592135" y="2887530"/>
            <a:ext cx="9038813"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657872" cy="923330"/>
            </a:xfrm>
            <a:prstGeom prst="rect">
              <a:avLst/>
            </a:prstGeom>
            <a:noFill/>
          </p:spPr>
          <p:txBody>
            <a:bodyPr wrap="none" rtlCol="0">
              <a:spAutoFit/>
            </a:bodyPr>
            <a:lstStyle/>
            <a:p>
              <a:r>
                <a:rPr lang="en-US" sz="5400" dirty="0">
                  <a:ln w="3175">
                    <a:solidFill>
                      <a:srgbClr val="ECE9C6">
                        <a:alpha val="60000"/>
                      </a:srgbClr>
                    </a:solidFill>
                  </a:ln>
                  <a:solidFill>
                    <a:srgbClr val="ECE9C6">
                      <a:lumMod val="90000"/>
                    </a:srgbClr>
                  </a:solidFill>
                  <a:effectLst>
                    <a:outerShdw blurRad="34925" dist="12700" dir="14400000" algn="ctr" rotWithShape="0">
                      <a:srgbClr val="000000">
                        <a:alpha val="21000"/>
                      </a:srgbClr>
                    </a:outerShdw>
                  </a:effectLst>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77788" y="1387737"/>
            <a:ext cx="9036424"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828800" y="3767862"/>
            <a:ext cx="85344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958935775"/>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5" name="Footer Placeholder 4"/>
          <p:cNvSpPr>
            <a:spLocks noGrp="1"/>
          </p:cNvSpPr>
          <p:nvPr>
            <p:ph type="ftr" sz="quarter" idx="11"/>
          </p:nvPr>
        </p:nvSpPr>
        <p:spPr/>
        <p:txBody>
          <a:bodyPr/>
          <a:lstStyle/>
          <a:p>
            <a:endParaRPr lang="en-GB">
              <a:solidFill>
                <a:srgbClr val="895D1D"/>
              </a:solidFill>
            </a:endParaRPr>
          </a:p>
        </p:txBody>
      </p:sp>
      <p:sp>
        <p:nvSpPr>
          <p:cNvPr id="6" name="Slide Number Placeholder 5"/>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sp>
        <p:nvSpPr>
          <p:cNvPr id="11" name="Title 10"/>
          <p:cNvSpPr>
            <a:spLocks noGrp="1"/>
          </p:cNvSpPr>
          <p:nvPr>
            <p:ph type="title"/>
          </p:nvPr>
        </p:nvSpPr>
        <p:spPr/>
        <p:txBody>
          <a:bodyPr/>
          <a:lstStyle/>
          <a:p>
            <a:r>
              <a:rPr lang="en-US"/>
              <a:t>Click to edit Master title style</a:t>
            </a:r>
          </a:p>
        </p:txBody>
      </p:sp>
      <p:grpSp>
        <p:nvGrpSpPr>
          <p:cNvPr id="12" name="Group 11"/>
          <p:cNvGrpSpPr/>
          <p:nvPr/>
        </p:nvGrpSpPr>
        <p:grpSpPr>
          <a:xfrm>
            <a:off x="1563446" y="1392217"/>
            <a:ext cx="9038813" cy="923330"/>
            <a:chOff x="1172584" y="1381459"/>
            <a:chExt cx="6779110" cy="923330"/>
          </a:xfrm>
        </p:grpSpPr>
        <p:sp>
          <p:nvSpPr>
            <p:cNvPr id="13" name="TextBox 12"/>
            <p:cNvSpPr txBox="1"/>
            <p:nvPr/>
          </p:nvSpPr>
          <p:spPr>
            <a:xfrm>
              <a:off x="4147073" y="1381459"/>
              <a:ext cx="657872" cy="923330"/>
            </a:xfrm>
            <a:prstGeom prst="rect">
              <a:avLst/>
            </a:prstGeom>
            <a:noFill/>
          </p:spPr>
          <p:txBody>
            <a:bodyPr wrap="none" rtlCol="0">
              <a:spAutoFit/>
            </a:bodyPr>
            <a:lstStyle/>
            <a:p>
              <a:r>
                <a:rPr lang="en-US" sz="5400" dirty="0">
                  <a:solidFill>
                    <a:srgbClr val="895D1D">
                      <a:lumMod val="60000"/>
                      <a:lumOff val="40000"/>
                    </a:srgbClr>
                  </a:solidFill>
                  <a:latin typeface="Wingdings" pitchFamily="2" charset="2"/>
                </a:rPr>
                <a:t></a:t>
              </a: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73818133"/>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12192000" cy="6858000"/>
          </a:xfrm>
          <a:prstGeom prst="rect">
            <a:avLst/>
          </a:prstGeom>
        </p:spPr>
      </p:pic>
      <p:grpSp>
        <p:nvGrpSpPr>
          <p:cNvPr id="7" name="Group 7"/>
          <p:cNvGrpSpPr/>
          <p:nvPr/>
        </p:nvGrpSpPr>
        <p:grpSpPr>
          <a:xfrm>
            <a:off x="1563446" y="2887579"/>
            <a:ext cx="9038813" cy="923330"/>
            <a:chOff x="1172584" y="1381459"/>
            <a:chExt cx="6779110" cy="923330"/>
          </a:xfrm>
        </p:grpSpPr>
        <p:sp>
          <p:nvSpPr>
            <p:cNvPr id="9" name="TextBox 8"/>
            <p:cNvSpPr txBox="1"/>
            <p:nvPr/>
          </p:nvSpPr>
          <p:spPr>
            <a:xfrm>
              <a:off x="4147073" y="1381459"/>
              <a:ext cx="657872" cy="923330"/>
            </a:xfrm>
            <a:prstGeom prst="rect">
              <a:avLst/>
            </a:prstGeom>
            <a:noFill/>
          </p:spPr>
          <p:txBody>
            <a:bodyPr wrap="none" rtlCol="0">
              <a:spAutoFit/>
            </a:bodyPr>
            <a:lstStyle/>
            <a:p>
              <a:r>
                <a:rPr lang="en-US" sz="5400" dirty="0">
                  <a:solidFill>
                    <a:srgbClr val="895D1D">
                      <a:lumMod val="60000"/>
                      <a:lumOff val="40000"/>
                    </a:srgbClr>
                  </a:solidFill>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920054" y="1204857"/>
            <a:ext cx="10339617" cy="1910716"/>
          </a:xfrm>
        </p:spPr>
        <p:txBody>
          <a:bodyPr anchor="b"/>
          <a:lstStyle>
            <a:lvl1pPr algn="ctr">
              <a:defRPr sz="5400" b="0" cap="none"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932331" y="3767317"/>
            <a:ext cx="10312996"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5" name="Footer Placeholder 4"/>
          <p:cNvSpPr>
            <a:spLocks noGrp="1"/>
          </p:cNvSpPr>
          <p:nvPr>
            <p:ph type="ftr" sz="quarter" idx="11"/>
          </p:nvPr>
        </p:nvSpPr>
        <p:spPr/>
        <p:txBody>
          <a:bodyPr/>
          <a:lstStyle/>
          <a:p>
            <a:endParaRPr lang="en-GB">
              <a:solidFill>
                <a:srgbClr val="895D1D"/>
              </a:solidFill>
            </a:endParaRPr>
          </a:p>
        </p:txBody>
      </p:sp>
      <p:sp>
        <p:nvSpPr>
          <p:cNvPr id="6" name="Slide Number Placeholder 5"/>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spTree>
    <p:extLst>
      <p:ext uri="{BB962C8B-B14F-4D97-AF65-F5344CB8AC3E}">
        <p14:creationId xmlns:p14="http://schemas.microsoft.com/office/powerpoint/2010/main" val="2362299303"/>
      </p:ext>
    </p:extLst>
  </p:cSld>
  <p:clrMapOvr>
    <a:overrideClrMapping bg1="lt1" tx1="dk1" bg2="lt2" tx2="dk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6" name="Footer Placeholder 5"/>
          <p:cNvSpPr>
            <a:spLocks noGrp="1"/>
          </p:cNvSpPr>
          <p:nvPr>
            <p:ph type="ftr" sz="quarter" idx="11"/>
          </p:nvPr>
        </p:nvSpPr>
        <p:spPr/>
        <p:txBody>
          <a:bodyPr/>
          <a:lstStyle/>
          <a:p>
            <a:endParaRPr lang="en-GB">
              <a:solidFill>
                <a:srgbClr val="895D1D"/>
              </a:solidFill>
            </a:endParaRPr>
          </a:p>
        </p:txBody>
      </p:sp>
      <p:sp>
        <p:nvSpPr>
          <p:cNvPr id="7" name="Slide Number Placeholder 6"/>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sp>
        <p:nvSpPr>
          <p:cNvPr id="12" name="Title 1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grpSp>
        <p:nvGrpSpPr>
          <p:cNvPr id="13" name="Group 12"/>
          <p:cNvGrpSpPr/>
          <p:nvPr/>
        </p:nvGrpSpPr>
        <p:grpSpPr>
          <a:xfrm>
            <a:off x="1563446" y="1392217"/>
            <a:ext cx="9038813" cy="923330"/>
            <a:chOff x="1172584" y="1381459"/>
            <a:chExt cx="6779110" cy="923330"/>
          </a:xfrm>
        </p:grpSpPr>
        <p:sp>
          <p:nvSpPr>
            <p:cNvPr id="14" name="TextBox 13"/>
            <p:cNvSpPr txBox="1"/>
            <p:nvPr/>
          </p:nvSpPr>
          <p:spPr>
            <a:xfrm>
              <a:off x="4147073" y="1381459"/>
              <a:ext cx="657872" cy="923330"/>
            </a:xfrm>
            <a:prstGeom prst="rect">
              <a:avLst/>
            </a:prstGeom>
            <a:noFill/>
          </p:spPr>
          <p:txBody>
            <a:bodyPr wrap="none" rtlCol="0">
              <a:spAutoFit/>
            </a:bodyPr>
            <a:lstStyle/>
            <a:p>
              <a:r>
                <a:rPr lang="en-US" sz="5400" dirty="0">
                  <a:solidFill>
                    <a:srgbClr val="895D1D">
                      <a:lumMod val="60000"/>
                      <a:lumOff val="40000"/>
                    </a:srgb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914400" y="2240280"/>
            <a:ext cx="5071872"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6193535" y="2240280"/>
            <a:ext cx="5071872"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476982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402080" y="2240280"/>
            <a:ext cx="458992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7984" y="2947595"/>
            <a:ext cx="5071872"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9741" y="2240280"/>
            <a:ext cx="4596384"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944368"/>
            <a:ext cx="50663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8" name="Footer Placeholder 7"/>
          <p:cNvSpPr>
            <a:spLocks noGrp="1"/>
          </p:cNvSpPr>
          <p:nvPr>
            <p:ph type="ftr" sz="quarter" idx="11"/>
          </p:nvPr>
        </p:nvSpPr>
        <p:spPr/>
        <p:txBody>
          <a:bodyPr/>
          <a:lstStyle/>
          <a:p>
            <a:endParaRPr lang="en-GB">
              <a:solidFill>
                <a:srgbClr val="895D1D"/>
              </a:solidFill>
            </a:endParaRPr>
          </a:p>
        </p:txBody>
      </p:sp>
      <p:sp>
        <p:nvSpPr>
          <p:cNvPr id="9" name="Slide Number Placeholder 8"/>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grpSp>
        <p:nvGrpSpPr>
          <p:cNvPr id="14" name="Group 13"/>
          <p:cNvGrpSpPr/>
          <p:nvPr/>
        </p:nvGrpSpPr>
        <p:grpSpPr>
          <a:xfrm>
            <a:off x="1563446" y="1392217"/>
            <a:ext cx="9038813" cy="923330"/>
            <a:chOff x="1172584" y="1381459"/>
            <a:chExt cx="6779110" cy="923330"/>
          </a:xfrm>
        </p:grpSpPr>
        <p:sp>
          <p:nvSpPr>
            <p:cNvPr id="16" name="TextBox 15"/>
            <p:cNvSpPr txBox="1"/>
            <p:nvPr/>
          </p:nvSpPr>
          <p:spPr>
            <a:xfrm>
              <a:off x="4147073" y="1381459"/>
              <a:ext cx="657872" cy="923330"/>
            </a:xfrm>
            <a:prstGeom prst="rect">
              <a:avLst/>
            </a:prstGeom>
            <a:noFill/>
          </p:spPr>
          <p:txBody>
            <a:bodyPr wrap="none" rtlCol="0">
              <a:spAutoFit/>
            </a:bodyPr>
            <a:lstStyle/>
            <a:p>
              <a:r>
                <a:rPr lang="en-US" sz="5400" dirty="0">
                  <a:solidFill>
                    <a:srgbClr val="895D1D">
                      <a:lumMod val="60000"/>
                      <a:lumOff val="40000"/>
                    </a:srgbClr>
                  </a:solidFill>
                  <a:latin typeface="Wingdings" pitchFamily="2" charset="2"/>
                </a:rPr>
                <a:t></a:t>
              </a: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153664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4" name="Footer Placeholder 3"/>
          <p:cNvSpPr>
            <a:spLocks noGrp="1"/>
          </p:cNvSpPr>
          <p:nvPr>
            <p:ph type="ftr" sz="quarter" idx="11"/>
          </p:nvPr>
        </p:nvSpPr>
        <p:spPr/>
        <p:txBody>
          <a:bodyPr/>
          <a:lstStyle/>
          <a:p>
            <a:endParaRPr lang="en-GB">
              <a:solidFill>
                <a:srgbClr val="895D1D"/>
              </a:solidFill>
            </a:endParaRPr>
          </a:p>
        </p:txBody>
      </p:sp>
      <p:sp>
        <p:nvSpPr>
          <p:cNvPr id="5" name="Slide Number Placeholder 4"/>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grpSp>
        <p:nvGrpSpPr>
          <p:cNvPr id="10" name="Group 9"/>
          <p:cNvGrpSpPr/>
          <p:nvPr/>
        </p:nvGrpSpPr>
        <p:grpSpPr>
          <a:xfrm>
            <a:off x="1563446" y="1392217"/>
            <a:ext cx="9038813" cy="923330"/>
            <a:chOff x="1172584" y="1381459"/>
            <a:chExt cx="6779110" cy="923330"/>
          </a:xfrm>
        </p:grpSpPr>
        <p:sp>
          <p:nvSpPr>
            <p:cNvPr id="14" name="TextBox 13"/>
            <p:cNvSpPr txBox="1"/>
            <p:nvPr/>
          </p:nvSpPr>
          <p:spPr>
            <a:xfrm>
              <a:off x="4147073" y="1381459"/>
              <a:ext cx="657872" cy="923330"/>
            </a:xfrm>
            <a:prstGeom prst="rect">
              <a:avLst/>
            </a:prstGeom>
            <a:noFill/>
          </p:spPr>
          <p:txBody>
            <a:bodyPr wrap="none" rtlCol="0">
              <a:spAutoFit/>
            </a:bodyPr>
            <a:lstStyle/>
            <a:p>
              <a:r>
                <a:rPr lang="en-US" sz="5400" dirty="0">
                  <a:solidFill>
                    <a:srgbClr val="895D1D">
                      <a:lumMod val="60000"/>
                      <a:lumOff val="40000"/>
                    </a:srgb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3558702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3" name="Footer Placeholder 2"/>
          <p:cNvSpPr>
            <a:spLocks noGrp="1"/>
          </p:cNvSpPr>
          <p:nvPr>
            <p:ph type="ftr" sz="quarter" idx="11"/>
          </p:nvPr>
        </p:nvSpPr>
        <p:spPr/>
        <p:txBody>
          <a:bodyPr/>
          <a:lstStyle/>
          <a:p>
            <a:endParaRPr lang="en-GB">
              <a:solidFill>
                <a:srgbClr val="895D1D"/>
              </a:solidFill>
            </a:endParaRPr>
          </a:p>
        </p:txBody>
      </p:sp>
      <p:sp>
        <p:nvSpPr>
          <p:cNvPr id="4" name="Slide Number Placeholder 3"/>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spTree>
    <p:extLst>
      <p:ext uri="{BB962C8B-B14F-4D97-AF65-F5344CB8AC3E}">
        <p14:creationId xmlns:p14="http://schemas.microsoft.com/office/powerpoint/2010/main" val="178670059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12773" y="1678196"/>
            <a:ext cx="4563311" cy="1886921"/>
          </a:xfrm>
        </p:spPr>
        <p:txBody>
          <a:bodyPr anchor="b"/>
          <a:lstStyle>
            <a:lvl1pPr algn="l">
              <a:defRPr sz="2800" b="0"/>
            </a:lvl1pPr>
          </a:lstStyle>
          <a:p>
            <a:r>
              <a:rPr lang="en-US"/>
              <a:t>Click to edit Master title style</a:t>
            </a:r>
          </a:p>
        </p:txBody>
      </p:sp>
      <p:sp>
        <p:nvSpPr>
          <p:cNvPr id="3" name="Content Placeholder 2"/>
          <p:cNvSpPr>
            <a:spLocks noGrp="1"/>
          </p:cNvSpPr>
          <p:nvPr>
            <p:ph idx="1"/>
          </p:nvPr>
        </p:nvSpPr>
        <p:spPr>
          <a:xfrm>
            <a:off x="922669" y="559399"/>
            <a:ext cx="5488889"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12773" y="3603813"/>
            <a:ext cx="4548967"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6" name="Footer Placeholder 5"/>
          <p:cNvSpPr>
            <a:spLocks noGrp="1"/>
          </p:cNvSpPr>
          <p:nvPr>
            <p:ph type="ftr" sz="quarter" idx="11"/>
          </p:nvPr>
        </p:nvSpPr>
        <p:spPr/>
        <p:txBody>
          <a:bodyPr/>
          <a:lstStyle/>
          <a:p>
            <a:endParaRPr lang="en-GB">
              <a:solidFill>
                <a:srgbClr val="895D1D"/>
              </a:solidFill>
            </a:endParaRPr>
          </a:p>
        </p:txBody>
      </p:sp>
      <p:sp>
        <p:nvSpPr>
          <p:cNvPr id="7" name="Slide Number Placeholder 6"/>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spTree>
    <p:extLst>
      <p:ext uri="{BB962C8B-B14F-4D97-AF65-F5344CB8AC3E}">
        <p14:creationId xmlns:p14="http://schemas.microsoft.com/office/powerpoint/2010/main" val="267766125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03642" y="4668819"/>
            <a:ext cx="10356028" cy="644729"/>
          </a:xfrm>
        </p:spPr>
        <p:txBody>
          <a:bodyPr anchor="b"/>
          <a:lstStyle>
            <a:lvl1pPr algn="ctr">
              <a:defRPr sz="2800" b="0"/>
            </a:lvl1pPr>
          </a:lstStyle>
          <a:p>
            <a:r>
              <a:rPr lang="en-US"/>
              <a:t>Click to edit Master title style</a:t>
            </a:r>
          </a:p>
        </p:txBody>
      </p:sp>
      <p:sp>
        <p:nvSpPr>
          <p:cNvPr id="3" name="Picture Placeholder 2"/>
          <p:cNvSpPr>
            <a:spLocks noGrp="1"/>
          </p:cNvSpPr>
          <p:nvPr>
            <p:ph type="pic" idx="1"/>
          </p:nvPr>
        </p:nvSpPr>
        <p:spPr>
          <a:xfrm rot="240000">
            <a:off x="2911723" y="666965"/>
            <a:ext cx="6362875"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7986" y="5324306"/>
            <a:ext cx="10341685"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6" name="Footer Placeholder 5"/>
          <p:cNvSpPr>
            <a:spLocks noGrp="1"/>
          </p:cNvSpPr>
          <p:nvPr>
            <p:ph type="ftr" sz="quarter" idx="11"/>
          </p:nvPr>
        </p:nvSpPr>
        <p:spPr/>
        <p:txBody>
          <a:bodyPr/>
          <a:lstStyle/>
          <a:p>
            <a:endParaRPr lang="en-GB">
              <a:solidFill>
                <a:srgbClr val="895D1D"/>
              </a:solidFill>
            </a:endParaRPr>
          </a:p>
        </p:txBody>
      </p:sp>
      <p:sp>
        <p:nvSpPr>
          <p:cNvPr id="7" name="Slide Number Placeholder 6"/>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spTree>
    <p:extLst>
      <p:ext uri="{BB962C8B-B14F-4D97-AF65-F5344CB8AC3E}">
        <p14:creationId xmlns:p14="http://schemas.microsoft.com/office/powerpoint/2010/main" val="314620556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5" name="Footer Placeholder 4"/>
          <p:cNvSpPr>
            <a:spLocks noGrp="1"/>
          </p:cNvSpPr>
          <p:nvPr>
            <p:ph type="ftr" sz="quarter" idx="11"/>
          </p:nvPr>
        </p:nvSpPr>
        <p:spPr/>
        <p:txBody>
          <a:bodyPr/>
          <a:lstStyle/>
          <a:p>
            <a:endParaRPr lang="en-GB">
              <a:solidFill>
                <a:srgbClr val="895D1D"/>
              </a:solidFill>
            </a:endParaRPr>
          </a:p>
        </p:txBody>
      </p:sp>
      <p:sp>
        <p:nvSpPr>
          <p:cNvPr id="6" name="Slide Number Placeholder 5"/>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grpSp>
        <p:nvGrpSpPr>
          <p:cNvPr id="11" name="Group 10"/>
          <p:cNvGrpSpPr/>
          <p:nvPr/>
        </p:nvGrpSpPr>
        <p:grpSpPr>
          <a:xfrm>
            <a:off x="1563446" y="1392217"/>
            <a:ext cx="9038813" cy="923330"/>
            <a:chOff x="1172584" y="1381459"/>
            <a:chExt cx="6779110" cy="923330"/>
          </a:xfrm>
        </p:grpSpPr>
        <p:sp>
          <p:nvSpPr>
            <p:cNvPr id="15" name="TextBox 14"/>
            <p:cNvSpPr txBox="1"/>
            <p:nvPr/>
          </p:nvSpPr>
          <p:spPr>
            <a:xfrm>
              <a:off x="4147073" y="1381459"/>
              <a:ext cx="657872" cy="923330"/>
            </a:xfrm>
            <a:prstGeom prst="rect">
              <a:avLst/>
            </a:prstGeom>
            <a:noFill/>
          </p:spPr>
          <p:txBody>
            <a:bodyPr wrap="none" rtlCol="0">
              <a:spAutoFit/>
            </a:bodyPr>
            <a:lstStyle/>
            <a:p>
              <a:r>
                <a:rPr lang="en-US" sz="5400" dirty="0">
                  <a:solidFill>
                    <a:srgbClr val="895D1D">
                      <a:lumMod val="60000"/>
                      <a:lumOff val="40000"/>
                    </a:srgbClr>
                  </a:solidFill>
                  <a:latin typeface="Wingdings" pitchFamily="2" charset="2"/>
                </a:rPr>
                <a:t></a:t>
              </a: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8882097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22081" y="559399"/>
            <a:ext cx="2237591" cy="556676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17985" y="849855"/>
            <a:ext cx="7343889" cy="50238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5" name="Footer Placeholder 4"/>
          <p:cNvSpPr>
            <a:spLocks noGrp="1"/>
          </p:cNvSpPr>
          <p:nvPr>
            <p:ph type="ftr" sz="quarter" idx="11"/>
          </p:nvPr>
        </p:nvSpPr>
        <p:spPr/>
        <p:txBody>
          <a:bodyPr/>
          <a:lstStyle/>
          <a:p>
            <a:endParaRPr lang="en-GB">
              <a:solidFill>
                <a:srgbClr val="895D1D"/>
              </a:solidFill>
            </a:endParaRPr>
          </a:p>
        </p:txBody>
      </p:sp>
      <p:sp>
        <p:nvSpPr>
          <p:cNvPr id="6" name="Slide Number Placeholder 5"/>
          <p:cNvSpPr>
            <a:spLocks noGrp="1"/>
          </p:cNvSpPr>
          <p:nvPr>
            <p:ph type="sldNum" sz="quarter" idx="12"/>
          </p:nvPr>
        </p:nvSpPr>
        <p:spPr/>
        <p:txBody>
          <a:bodyPr/>
          <a:lstStyle/>
          <a:p>
            <a:fld id="{33C94288-CE4A-4F32-B7A3-D3E029A34858}" type="slidenum">
              <a:rPr lang="en-GB" smtClean="0">
                <a:solidFill>
                  <a:srgbClr val="895D1D"/>
                </a:solidFill>
              </a:rPr>
              <a:pPr/>
              <a:t>‹#›</a:t>
            </a:fld>
            <a:endParaRPr lang="en-GB">
              <a:solidFill>
                <a:srgbClr val="895D1D"/>
              </a:solidFill>
            </a:endParaRPr>
          </a:p>
        </p:txBody>
      </p:sp>
      <p:grpSp>
        <p:nvGrpSpPr>
          <p:cNvPr id="11" name="Group 10"/>
          <p:cNvGrpSpPr/>
          <p:nvPr/>
        </p:nvGrpSpPr>
        <p:grpSpPr>
          <a:xfrm rot="5400000">
            <a:off x="6125426" y="2880824"/>
            <a:ext cx="5480154" cy="923330"/>
            <a:chOff x="1815339" y="1496875"/>
            <a:chExt cx="5480154" cy="692497"/>
          </a:xfrm>
        </p:grpSpPr>
        <p:sp>
          <p:nvSpPr>
            <p:cNvPr id="12" name="TextBox 11"/>
            <p:cNvSpPr txBox="1"/>
            <p:nvPr/>
          </p:nvSpPr>
          <p:spPr>
            <a:xfrm>
              <a:off x="4147073" y="1496875"/>
              <a:ext cx="877163" cy="692497"/>
            </a:xfrm>
            <a:prstGeom prst="rect">
              <a:avLst/>
            </a:prstGeom>
            <a:noFill/>
          </p:spPr>
          <p:txBody>
            <a:bodyPr wrap="none" rtlCol="0">
              <a:spAutoFit/>
            </a:bodyPr>
            <a:lstStyle/>
            <a:p>
              <a:r>
                <a:rPr lang="en-US" sz="5400" dirty="0">
                  <a:solidFill>
                    <a:srgbClr val="895D1D">
                      <a:lumMod val="60000"/>
                      <a:lumOff val="40000"/>
                    </a:srgbClr>
                  </a:solidFill>
                  <a:latin typeface="Wingdings" pitchFamily="2" charset="2"/>
                </a:rPr>
                <a:t></a:t>
              </a: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7667942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50512894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90824225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75070912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07390670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8" name="Footer Placeholder 7"/>
          <p:cNvSpPr>
            <a:spLocks noGrp="1"/>
          </p:cNvSpPr>
          <p:nvPr>
            <p:ph type="ftr" sz="quarter" idx="11"/>
          </p:nvPr>
        </p:nvSpPr>
        <p:spPr/>
        <p:txBody>
          <a:bodyPr/>
          <a:lstStyle/>
          <a:p>
            <a:endParaRPr lang="en-AU">
              <a:solidFill>
                <a:prstClr val="black">
                  <a:tint val="75000"/>
                </a:prstClr>
              </a:solidFill>
            </a:endParaRPr>
          </a:p>
        </p:txBody>
      </p:sp>
      <p:sp>
        <p:nvSpPr>
          <p:cNvPr id="9" name="Slide Number Placeholder 8"/>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08419096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4" name="Footer Placeholder 3"/>
          <p:cNvSpPr>
            <a:spLocks noGrp="1"/>
          </p:cNvSpPr>
          <p:nvPr>
            <p:ph type="ftr" sz="quarter" idx="11"/>
          </p:nvPr>
        </p:nvSpPr>
        <p:spPr/>
        <p:txBody>
          <a:bodyPr/>
          <a:lstStyle/>
          <a:p>
            <a:endParaRPr lang="en-AU">
              <a:solidFill>
                <a:prstClr val="black">
                  <a:tint val="75000"/>
                </a:prstClr>
              </a:solidFill>
            </a:endParaRPr>
          </a:p>
        </p:txBody>
      </p:sp>
      <p:sp>
        <p:nvSpPr>
          <p:cNvPr id="5" name="Slide Number Placeholder 4"/>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0025558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3" name="Footer Placeholder 2"/>
          <p:cNvSpPr>
            <a:spLocks noGrp="1"/>
          </p:cNvSpPr>
          <p:nvPr>
            <p:ph type="ftr" sz="quarter" idx="11"/>
          </p:nvPr>
        </p:nvSpPr>
        <p:spPr/>
        <p:txBody>
          <a:bodyPr/>
          <a:lstStyle/>
          <a:p>
            <a:endParaRPr lang="en-AU">
              <a:solidFill>
                <a:prstClr val="black">
                  <a:tint val="75000"/>
                </a:prstClr>
              </a:solidFill>
            </a:endParaRPr>
          </a:p>
        </p:txBody>
      </p:sp>
      <p:sp>
        <p:nvSpPr>
          <p:cNvPr id="4" name="Slide Number Placeholder 3"/>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63358165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43616153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endParaRPr lang="en-AU">
              <a:solidFill>
                <a:prstClr val="black">
                  <a:tint val="75000"/>
                </a:prstClr>
              </a:solidFill>
            </a:endParaRPr>
          </a:p>
        </p:txBody>
      </p:sp>
      <p:sp>
        <p:nvSpPr>
          <p:cNvPr id="7" name="Slide Number Placeholder 6"/>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211665879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247105206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48463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4.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theme" Target="../theme/theme6.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theme" Target="../theme/theme7.xml"/><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theme" Target="../theme/theme8.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ABC135-378D-4355-8CBE-6A81BE3DC4FB}" type="datetimeFigureOut">
              <a:rPr lang="en-US" smtClean="0"/>
              <a:t>24-Jul-25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A2E053-1419-47B0-A39D-0CAE277770F4}" type="slidenum">
              <a:rPr lang="en-US" smtClean="0"/>
              <a:t>‹#›</a:t>
            </a:fld>
            <a:endParaRPr lang="en-US"/>
          </a:p>
        </p:txBody>
      </p:sp>
    </p:spTree>
    <p:extLst>
      <p:ext uri="{BB962C8B-B14F-4D97-AF65-F5344CB8AC3E}">
        <p14:creationId xmlns:p14="http://schemas.microsoft.com/office/powerpoint/2010/main" val="1564145615"/>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0C163CC-59A3-42CC-8674-FCCADBB0A92A}" type="datetimeFigureOut">
              <a:rPr lang="en-US" smtClean="0">
                <a:solidFill>
                  <a:prstClr val="black"/>
                </a:solidFill>
              </a:rPr>
              <a:pPr/>
              <a:t>24-Jul-25</a:t>
            </a:fld>
            <a:endParaRPr lang="en-US">
              <a:solidFill>
                <a:prstClr val="black"/>
              </a:solidFill>
            </a:endParaRP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solidFill>
                <a:prstClr val="black"/>
              </a:solidFill>
            </a:endParaRP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1548E74-5594-448D-AAD4-4E74E2B13E32}"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2231611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6A7A46-AADC-485A-92F2-73DA78683CBC}"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A985A-B62A-4F85-BE66-FAAF119938C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4756190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60210708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E2E568-E381-4924-BC47-9DCFAAF9AA32}" type="datetimeFigureOut">
              <a:rPr lang="en-US" smtClean="0">
                <a:solidFill>
                  <a:prstClr val="black">
                    <a:tint val="75000"/>
                  </a:prstClr>
                </a:solidFill>
              </a:rPr>
              <a:pPr/>
              <a:t>24-Jul-25</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9C5257-5AC7-4E5C-A1EF-6A5E21B065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189569"/>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a:t>Click to edit Master title style</a:t>
            </a:r>
          </a:p>
        </p:txBody>
      </p:sp>
      <p:sp>
        <p:nvSpPr>
          <p:cNvPr id="13" name="Text Placeholder 12"/>
          <p:cNvSpPr>
            <a:spLocks noGrp="1"/>
          </p:cNvSpPr>
          <p:nvPr>
            <p:ph type="body" idx="1"/>
          </p:nvPr>
        </p:nvSpPr>
        <p:spPr>
          <a:xfrm>
            <a:off x="609600" y="1600200"/>
            <a:ext cx="10972800" cy="470916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 y="6416676"/>
            <a:ext cx="28448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9E3B45F6-786E-4388-9228-ADB4CFA8D916}" type="datetimeFigureOut">
              <a:rPr lang="en-US" smtClean="0">
                <a:solidFill>
                  <a:prstClr val="white">
                    <a:shade val="50000"/>
                  </a:prstClr>
                </a:solidFill>
              </a:rPr>
              <a:pPr/>
              <a:t>24-Jul-25</a:t>
            </a:fld>
            <a:endParaRPr lang="en-US">
              <a:solidFill>
                <a:prstClr val="white">
                  <a:shade val="50000"/>
                </a:prstClr>
              </a:solidFill>
            </a:endParaRPr>
          </a:p>
        </p:txBody>
      </p:sp>
      <p:sp>
        <p:nvSpPr>
          <p:cNvPr id="3" name="Footer Placeholder 2"/>
          <p:cNvSpPr>
            <a:spLocks noGrp="1"/>
          </p:cNvSpPr>
          <p:nvPr>
            <p:ph type="ftr" sz="quarter" idx="3"/>
          </p:nvPr>
        </p:nvSpPr>
        <p:spPr>
          <a:xfrm>
            <a:off x="4165600" y="6416676"/>
            <a:ext cx="38608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solidFill>
                <a:prstClr val="white">
                  <a:shade val="50000"/>
                </a:prstClr>
              </a:solidFill>
            </a:endParaRPr>
          </a:p>
        </p:txBody>
      </p:sp>
      <p:sp>
        <p:nvSpPr>
          <p:cNvPr id="23" name="Slide Number Placeholder 22"/>
          <p:cNvSpPr>
            <a:spLocks noGrp="1"/>
          </p:cNvSpPr>
          <p:nvPr>
            <p:ph type="sldNum" sz="quarter" idx="4"/>
          </p:nvPr>
        </p:nvSpPr>
        <p:spPr>
          <a:xfrm>
            <a:off x="10566400" y="6416676"/>
            <a:ext cx="1016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117F675E-86E0-4862-ACF2-432F7178F1A3}" type="slidenum">
              <a:rPr lang="en-US" smtClean="0">
                <a:solidFill>
                  <a:prstClr val="white">
                    <a:shade val="50000"/>
                  </a:prstClr>
                </a:solidFill>
              </a:rPr>
              <a:pPr/>
              <a:t>‹#›</a:t>
            </a:fld>
            <a:endParaRPr lang="en-US">
              <a:solidFill>
                <a:prstClr val="white">
                  <a:shade val="50000"/>
                </a:prstClr>
              </a:solidFill>
            </a:endParaRPr>
          </a:p>
        </p:txBody>
      </p:sp>
    </p:spTree>
    <p:extLst>
      <p:ext uri="{BB962C8B-B14F-4D97-AF65-F5344CB8AC3E}">
        <p14:creationId xmlns:p14="http://schemas.microsoft.com/office/powerpoint/2010/main" val="1601329868"/>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2" name="Title Placeholder 1"/>
          <p:cNvSpPr>
            <a:spLocks noGrp="1"/>
          </p:cNvSpPr>
          <p:nvPr>
            <p:ph type="title"/>
          </p:nvPr>
        </p:nvSpPr>
        <p:spPr>
          <a:xfrm>
            <a:off x="917987" y="570156"/>
            <a:ext cx="10341684" cy="105425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932330" y="2248348"/>
            <a:ext cx="10327340" cy="3877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80504" y="6161443"/>
            <a:ext cx="2844800" cy="365125"/>
          </a:xfrm>
          <a:prstGeom prst="rect">
            <a:avLst/>
          </a:prstGeom>
        </p:spPr>
        <p:txBody>
          <a:bodyPr vert="horz" lIns="91440" tIns="45720" rIns="91440" bIns="45720" rtlCol="0" anchor="ctr"/>
          <a:lstStyle>
            <a:lvl1pPr algn="l">
              <a:defRPr sz="1200">
                <a:solidFill>
                  <a:schemeClr val="tx2"/>
                </a:solidFill>
              </a:defRPr>
            </a:lvl1pPr>
          </a:lstStyle>
          <a:p>
            <a:fld id="{06A47699-1B7C-4973-A8DE-A8D22838202E}" type="datetimeFigureOut">
              <a:rPr lang="en-GB" smtClean="0">
                <a:solidFill>
                  <a:srgbClr val="895D1D"/>
                </a:solidFill>
              </a:rPr>
              <a:pPr/>
              <a:t>24/07/2025</a:t>
            </a:fld>
            <a:endParaRPr lang="en-GB">
              <a:solidFill>
                <a:srgbClr val="895D1D"/>
              </a:solidFill>
            </a:endParaRPr>
          </a:p>
        </p:txBody>
      </p:sp>
      <p:sp>
        <p:nvSpPr>
          <p:cNvPr id="5" name="Footer Placeholder 4"/>
          <p:cNvSpPr>
            <a:spLocks noGrp="1"/>
          </p:cNvSpPr>
          <p:nvPr>
            <p:ph type="ftr" sz="quarter" idx="3"/>
          </p:nvPr>
        </p:nvSpPr>
        <p:spPr>
          <a:xfrm>
            <a:off x="4165600" y="6161443"/>
            <a:ext cx="3860800" cy="365125"/>
          </a:xfrm>
          <a:prstGeom prst="rect">
            <a:avLst/>
          </a:prstGeom>
        </p:spPr>
        <p:txBody>
          <a:bodyPr vert="horz" lIns="91440" tIns="45720" rIns="91440" bIns="45720" rtlCol="0" anchor="ctr"/>
          <a:lstStyle>
            <a:lvl1pPr algn="ctr">
              <a:defRPr sz="1200">
                <a:solidFill>
                  <a:schemeClr val="tx2"/>
                </a:solidFill>
              </a:defRPr>
            </a:lvl1pPr>
          </a:lstStyle>
          <a:p>
            <a:endParaRPr lang="en-GB">
              <a:solidFill>
                <a:srgbClr val="895D1D"/>
              </a:solidFill>
            </a:endParaRPr>
          </a:p>
        </p:txBody>
      </p:sp>
      <p:sp>
        <p:nvSpPr>
          <p:cNvPr id="6" name="Slide Number Placeholder 5"/>
          <p:cNvSpPr>
            <a:spLocks noGrp="1"/>
          </p:cNvSpPr>
          <p:nvPr>
            <p:ph type="sldNum" sz="quarter" idx="4"/>
          </p:nvPr>
        </p:nvSpPr>
        <p:spPr>
          <a:xfrm>
            <a:off x="8852352" y="6161443"/>
            <a:ext cx="2844800" cy="365125"/>
          </a:xfrm>
          <a:prstGeom prst="rect">
            <a:avLst/>
          </a:prstGeom>
        </p:spPr>
        <p:txBody>
          <a:bodyPr vert="horz" lIns="91440" tIns="45720" rIns="91440" bIns="45720" rtlCol="0" anchor="ctr"/>
          <a:lstStyle>
            <a:lvl1pPr algn="r">
              <a:defRPr sz="1200">
                <a:solidFill>
                  <a:schemeClr val="tx2"/>
                </a:solidFill>
              </a:defRPr>
            </a:lvl1pPr>
          </a:lstStyle>
          <a:p>
            <a:fld id="{33C94288-CE4A-4F32-B7A3-D3E029A34858}" type="slidenum">
              <a:rPr lang="en-GB" smtClean="0">
                <a:solidFill>
                  <a:srgbClr val="895D1D"/>
                </a:solidFill>
              </a:rPr>
              <a:pPr/>
              <a:t>‹#›</a:t>
            </a:fld>
            <a:endParaRPr lang="en-GB">
              <a:solidFill>
                <a:srgbClr val="895D1D"/>
              </a:solidFill>
            </a:endParaRPr>
          </a:p>
        </p:txBody>
      </p:sp>
    </p:spTree>
    <p:extLst>
      <p:ext uri="{BB962C8B-B14F-4D97-AF65-F5344CB8AC3E}">
        <p14:creationId xmlns:p14="http://schemas.microsoft.com/office/powerpoint/2010/main" val="2454560562"/>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470E5A-E54B-489C-9E15-C64C5CB179F0}" type="datetimeFigureOut">
              <a:rPr lang="en-AU" smtClean="0">
                <a:solidFill>
                  <a:prstClr val="black">
                    <a:tint val="75000"/>
                  </a:prstClr>
                </a:solidFill>
              </a:rPr>
              <a:pPr/>
              <a:t>24/07/2025</a:t>
            </a:fld>
            <a:endParaRPr lang="en-AU">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8C2D52-4960-4EDA-B39A-12B89FD09D3A}"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724791433"/>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1.xml"/><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88.xml"/></Relationships>
</file>

<file path=ppt/slides/_rels/slide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88.xml"/></Relationships>
</file>

<file path=ppt/slides/_rels/slide2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8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55.xml"/></Relationships>
</file>

<file path=ppt/slides/_rels/slide3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55.xml"/></Relationships>
</file>

<file path=ppt/slides/_rels/slide3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5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5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5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3.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49.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64.xml"/></Relationships>
</file>

<file path=ppt/slides/_rels/slide5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4.xml"/></Relationships>
</file>

<file path=ppt/slides/_rels/slide5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64.xml"/></Relationships>
</file>

<file path=ppt/slides/_rels/slide5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64.xml"/></Relationships>
</file>

<file path=ppt/slides/_rels/slide53.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64.xml"/></Relationships>
</file>

<file path=ppt/slides/_rels/slide5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64.xml"/></Relationships>
</file>

<file path=ppt/slides/_rels/slide5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6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57.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6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5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64.xml"/></Relationships>
</file>

<file path=ppt/slides/_rels/slide6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7.xml"/></Relationships>
</file>

<file path=ppt/slides/_rels/slide6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7.xml"/></Relationships>
</file>

<file path=ppt/slides/_rels/slide72.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4.gif"/><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5.jpeg"/></Relationships>
</file>

<file path=ppt/slides/_rels/slide74.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3.png"/><Relationship Id="rId7" Type="http://schemas.openxmlformats.org/officeDocument/2006/relationships/diagramLayout" Target="../diagrams/layout2.xml"/><Relationship Id="rId2" Type="http://schemas.openxmlformats.org/officeDocument/2006/relationships/image" Target="../media/image2.jpeg"/><Relationship Id="rId1" Type="http://schemas.openxmlformats.org/officeDocument/2006/relationships/slideLayout" Target="../slideLayouts/slideLayout29.xml"/><Relationship Id="rId6" Type="http://schemas.openxmlformats.org/officeDocument/2006/relationships/diagramData" Target="../diagrams/data2.xml"/><Relationship Id="rId5" Type="http://schemas.openxmlformats.org/officeDocument/2006/relationships/image" Target="../media/image74.png"/><Relationship Id="rId10" Type="http://schemas.microsoft.com/office/2007/relationships/diagramDrawing" Target="../diagrams/drawing2.xml"/><Relationship Id="rId4" Type="http://schemas.openxmlformats.org/officeDocument/2006/relationships/image" Target="../media/image4.png"/><Relationship Id="rId9" Type="http://schemas.openxmlformats.org/officeDocument/2006/relationships/diagramColors" Target="../diagrams/colors2.xml"/></Relationships>
</file>

<file path=ppt/slides/_rels/slide8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8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83.jpg"/><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2" Type="http://schemas.openxmlformats.org/officeDocument/2006/relationships/image" Target="../media/image87.gif"/><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g"/><Relationship Id="rId1" Type="http://schemas.openxmlformats.org/officeDocument/2006/relationships/slideLayout" Target="../slideLayouts/slideLayout13.xml"/><Relationship Id="rId5" Type="http://schemas.openxmlformats.org/officeDocument/2006/relationships/image" Target="../media/image91.jpeg"/><Relationship Id="rId4" Type="http://schemas.openxmlformats.org/officeDocument/2006/relationships/image" Target="../media/image90.jpg"/></Relationships>
</file>

<file path=ppt/slides/_rels/slide9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image" Target="../media/image93.jpe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with a mustache wearing a suit and tie&#10;&#10;AI-generated content may be incorrect.">
            <a:extLst>
              <a:ext uri="{FF2B5EF4-FFF2-40B4-BE49-F238E27FC236}">
                <a16:creationId xmlns:a16="http://schemas.microsoft.com/office/drawing/2014/main" id="{F26D992A-0E03-E835-8987-08872457C335}"/>
              </a:ext>
            </a:extLst>
          </p:cNvPr>
          <p:cNvPicPr>
            <a:picLocks noChangeAspect="1"/>
          </p:cNvPicPr>
          <p:nvPr/>
        </p:nvPicPr>
        <p:blipFill>
          <a:blip r:embed="rId2">
            <a:extLst>
              <a:ext uri="{28A0092B-C50C-407E-A947-70E740481C1C}">
                <a14:useLocalDpi xmlns:a14="http://schemas.microsoft.com/office/drawing/2010/main" val="0"/>
              </a:ext>
            </a:extLst>
          </a:blip>
          <a:srcRect t="2012" r="1" b="32013"/>
          <a:stretch>
            <a:fillRect/>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47" name="Freeform: Shape 46">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9" name="Freeform: Shape 48">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477981" y="574100"/>
            <a:ext cx="4470906" cy="3752397"/>
          </a:xfrm>
        </p:spPr>
        <p:txBody>
          <a:bodyPr vert="horz" lIns="91440" tIns="45720" rIns="91440" bIns="45720" rtlCol="0" anchor="b">
            <a:noAutofit/>
          </a:bodyPr>
          <a:lstStyle/>
          <a:p>
            <a:pPr algn="l"/>
            <a:r>
              <a:rPr lang="en-US" sz="6300" dirty="0">
                <a:latin typeface="Aharoni" panose="02010803020104030203" pitchFamily="2" charset="-79"/>
                <a:cs typeface="Aharoni" panose="02010803020104030203" pitchFamily="2" charset="-79"/>
              </a:rPr>
              <a:t>BREAST FEEDING, </a:t>
            </a:r>
            <a:br>
              <a:rPr lang="en-US" sz="6300" dirty="0">
                <a:latin typeface="Aharoni" panose="02010803020104030203" pitchFamily="2" charset="-79"/>
                <a:cs typeface="Aharoni" panose="02010803020104030203" pitchFamily="2" charset="-79"/>
              </a:rPr>
            </a:br>
            <a:r>
              <a:rPr lang="en-US" sz="6300" dirty="0">
                <a:latin typeface="Aharoni" panose="02010803020104030203" pitchFamily="2" charset="-79"/>
                <a:cs typeface="Aharoni" panose="02010803020104030203" pitchFamily="2" charset="-79"/>
              </a:rPr>
              <a:t>BEST </a:t>
            </a:r>
            <a:br>
              <a:rPr lang="en-US" sz="6300" dirty="0">
                <a:latin typeface="Aharoni" panose="02010803020104030203" pitchFamily="2" charset="-79"/>
                <a:cs typeface="Aharoni" panose="02010803020104030203" pitchFamily="2" charset="-79"/>
              </a:rPr>
            </a:br>
            <a:r>
              <a:rPr lang="en-US" sz="6300" dirty="0">
                <a:latin typeface="Aharoni" panose="02010803020104030203" pitchFamily="2" charset="-79"/>
                <a:cs typeface="Aharoni" panose="02010803020104030203" pitchFamily="2" charset="-79"/>
              </a:rPr>
              <a:t>FEEDING</a:t>
            </a:r>
          </a:p>
        </p:txBody>
      </p:sp>
      <p:sp>
        <p:nvSpPr>
          <p:cNvPr id="9" name="TextBox 8">
            <a:extLst>
              <a:ext uri="{FF2B5EF4-FFF2-40B4-BE49-F238E27FC236}">
                <a16:creationId xmlns:a16="http://schemas.microsoft.com/office/drawing/2014/main" id="{03948327-7AD5-A0B7-FA10-B022A26462BF}"/>
              </a:ext>
            </a:extLst>
          </p:cNvPr>
          <p:cNvSpPr txBox="1"/>
          <p:nvPr/>
        </p:nvSpPr>
        <p:spPr>
          <a:xfrm>
            <a:off x="477981" y="4803920"/>
            <a:ext cx="3933306" cy="1689477"/>
          </a:xfrm>
          <a:prstGeom prst="rect">
            <a:avLst/>
          </a:prstGeom>
        </p:spPr>
        <p:txBody>
          <a:bodyPr vert="horz" lIns="91440" tIns="45720" rIns="91440" bIns="45720" rtlCol="0">
            <a:normAutofit/>
          </a:bodyPr>
          <a:lstStyle/>
          <a:p>
            <a:pPr>
              <a:lnSpc>
                <a:spcPct val="90000"/>
              </a:lnSpc>
              <a:spcBef>
                <a:spcPts val="1000"/>
              </a:spcBef>
            </a:pPr>
            <a:r>
              <a:rPr lang="en-US" sz="2800" b="1" dirty="0"/>
              <a:t>Speaker:</a:t>
            </a:r>
            <a:br>
              <a:rPr lang="en-US" sz="2800" b="1" dirty="0"/>
            </a:br>
            <a:r>
              <a:rPr lang="en-US" sz="2800" b="1" dirty="0"/>
              <a:t>Dr. NILAMADHAB JENA,</a:t>
            </a:r>
            <a:br>
              <a:rPr lang="en-US" sz="2800" b="1" dirty="0"/>
            </a:br>
            <a:r>
              <a:rPr lang="en-US" sz="2800" b="1" dirty="0"/>
              <a:t>Past PRESIDENT IAP , ODISHA</a:t>
            </a:r>
          </a:p>
        </p:txBody>
      </p:sp>
      <p:sp>
        <p:nvSpPr>
          <p:cNvPr id="51" name="Rectangle 5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Rectangle 5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227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b="3438"/>
          <a:stretch>
            <a:fillRect/>
          </a:stretch>
        </p:blipFill>
        <p:spPr>
          <a:xfrm>
            <a:off x="0" y="-1978"/>
            <a:ext cx="12192000" cy="6859978"/>
          </a:xfrm>
          <a:prstGeom prst="rect">
            <a:avLst/>
          </a:prstGeom>
        </p:spPr>
      </p:pic>
    </p:spTree>
    <p:extLst>
      <p:ext uri="{BB962C8B-B14F-4D97-AF65-F5344CB8AC3E}">
        <p14:creationId xmlns:p14="http://schemas.microsoft.com/office/powerpoint/2010/main" val="2248590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838200" y="365125"/>
            <a:ext cx="5393361" cy="1325563"/>
          </a:xfrm>
        </p:spPr>
        <p:txBody>
          <a:bodyPr>
            <a:normAutofit/>
          </a:bodyPr>
          <a:lstStyle/>
          <a:p>
            <a:r>
              <a:rPr lang="en-US" b="1">
                <a:latin typeface="Aharoni" panose="02010803020104030203" pitchFamily="2" charset="-79"/>
                <a:cs typeface="Aharoni" panose="02010803020104030203" pitchFamily="2" charset="-79"/>
              </a:rPr>
              <a:t>BREASTFEEDING</a:t>
            </a:r>
            <a:endParaRPr lang="en-US" b="1" dirty="0">
              <a:latin typeface="Aharoni" panose="02010803020104030203" pitchFamily="2" charset="-79"/>
              <a:cs typeface="Aharoni" panose="02010803020104030203" pitchFamily="2" charset="-79"/>
            </a:endParaRPr>
          </a:p>
        </p:txBody>
      </p:sp>
      <p:sp>
        <p:nvSpPr>
          <p:cNvPr id="3" name="Content Placeholder 2"/>
          <p:cNvSpPr>
            <a:spLocks noGrp="1"/>
          </p:cNvSpPr>
          <p:nvPr>
            <p:ph idx="1"/>
          </p:nvPr>
        </p:nvSpPr>
        <p:spPr>
          <a:xfrm>
            <a:off x="838200" y="1825625"/>
            <a:ext cx="5393361" cy="4351338"/>
          </a:xfrm>
        </p:spPr>
        <p:txBody>
          <a:bodyPr>
            <a:normAutofit/>
          </a:bodyPr>
          <a:lstStyle/>
          <a:p>
            <a:pPr>
              <a:lnSpc>
                <a:spcPct val="90000"/>
              </a:lnSpc>
            </a:pPr>
            <a:r>
              <a:rPr lang="en-US" dirty="0">
                <a:latin typeface="Amasis MT Pro Medium" panose="02040604050005020304" pitchFamily="18" charset="0"/>
                <a:cs typeface="Aharoni" panose="02010803020104030203" pitchFamily="2" charset="-79"/>
              </a:rPr>
              <a:t>Ideal food for the neonate</a:t>
            </a:r>
          </a:p>
          <a:p>
            <a:pPr>
              <a:lnSpc>
                <a:spcPct val="90000"/>
              </a:lnSpc>
            </a:pPr>
            <a:endParaRPr lang="en-US" dirty="0">
              <a:latin typeface="Amasis MT Pro Medium" panose="02040604050005020304" pitchFamily="18" charset="0"/>
              <a:cs typeface="Aharoni" panose="02010803020104030203" pitchFamily="2" charset="-79"/>
            </a:endParaRPr>
          </a:p>
          <a:p>
            <a:pPr>
              <a:lnSpc>
                <a:spcPct val="90000"/>
              </a:lnSpc>
            </a:pPr>
            <a:r>
              <a:rPr lang="en-US" dirty="0">
                <a:latin typeface="Amasis MT Pro Medium" panose="02040604050005020304" pitchFamily="18" charset="0"/>
                <a:cs typeface="Aharoni" panose="02010803020104030203" pitchFamily="2" charset="-79"/>
              </a:rPr>
              <a:t>Ensuring exclusive breastfeeding reduces under-5 mortality</a:t>
            </a:r>
          </a:p>
          <a:p>
            <a:pPr>
              <a:lnSpc>
                <a:spcPct val="90000"/>
              </a:lnSpc>
            </a:pPr>
            <a:endParaRPr lang="en-US" dirty="0">
              <a:latin typeface="Amasis MT Pro Medium" panose="02040604050005020304" pitchFamily="18" charset="0"/>
              <a:cs typeface="Aharoni" panose="02010803020104030203" pitchFamily="2" charset="-79"/>
            </a:endParaRPr>
          </a:p>
          <a:p>
            <a:pPr>
              <a:lnSpc>
                <a:spcPct val="90000"/>
              </a:lnSpc>
            </a:pPr>
            <a:r>
              <a:rPr lang="en-US" dirty="0">
                <a:latin typeface="Amasis MT Pro Medium" panose="02040604050005020304" pitchFamily="18" charset="0"/>
                <a:cs typeface="Aharoni" panose="02010803020104030203" pitchFamily="2" charset="-79"/>
              </a:rPr>
              <a:t>Must be exclusive for 6 months</a:t>
            </a:r>
          </a:p>
        </p:txBody>
      </p:sp>
      <p:pic>
        <p:nvPicPr>
          <p:cNvPr id="2050" name="Picture 2" descr="5+ Thousand Breastfeeding Cartoon Royalty-Free Images, Stock Photos &amp;  Pictures | Shutterstock">
            <a:extLst>
              <a:ext uri="{FF2B5EF4-FFF2-40B4-BE49-F238E27FC236}">
                <a16:creationId xmlns:a16="http://schemas.microsoft.com/office/drawing/2014/main" id="{48EDCC78-0DBA-8586-720F-2123F84D99D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r="3" b="3"/>
          <a:stretch>
            <a:fillRect/>
          </a:stretch>
        </p:blipFill>
        <p:spPr bwMode="auto">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2057"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59"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669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b="2684"/>
          <a:stretch>
            <a:fillRect/>
          </a:stretch>
        </p:blipFill>
        <p:spPr>
          <a:xfrm>
            <a:off x="799942" y="-6229"/>
            <a:ext cx="10592115" cy="6864229"/>
          </a:xfrm>
        </p:spPr>
      </p:pic>
    </p:spTree>
    <p:extLst>
      <p:ext uri="{BB962C8B-B14F-4D97-AF65-F5344CB8AC3E}">
        <p14:creationId xmlns:p14="http://schemas.microsoft.com/office/powerpoint/2010/main" val="272014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81" name="Arc 308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lang="en-US" dirty="0">
                <a:latin typeface="Aharoni" panose="02010803020104030203" pitchFamily="2" charset="-79"/>
                <a:cs typeface="Aharoni" panose="02010803020104030203" pitchFamily="2" charset="-79"/>
                <a:sym typeface="Wingdings" pitchFamily="2" charset="2"/>
              </a:rPr>
              <a:t> </a:t>
            </a:r>
            <a:r>
              <a:rPr lang="en-US" dirty="0">
                <a:latin typeface="Aharoni" panose="02010803020104030203" pitchFamily="2" charset="-79"/>
                <a:cs typeface="Aharoni" panose="02010803020104030203" pitchFamily="2" charset="-79"/>
              </a:rPr>
              <a:t>Nutritional superiority</a:t>
            </a:r>
          </a:p>
        </p:txBody>
      </p:sp>
      <p:sp>
        <p:nvSpPr>
          <p:cNvPr id="3083" name="Freeform: Shape 308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4" name="Picture 2">
            <a:extLst>
              <a:ext uri="{FF2B5EF4-FFF2-40B4-BE49-F238E27FC236}">
                <a16:creationId xmlns:a16="http://schemas.microsoft.com/office/drawing/2014/main" id="{AEFAB032-311E-90DC-B0C5-E38DD6ECC6E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894962" y="1984443"/>
            <a:ext cx="5458838" cy="4192520"/>
          </a:xfrm>
        </p:spPr>
        <p:txBody>
          <a:bodyPr>
            <a:normAutofit/>
          </a:bodyPr>
          <a:lstStyle/>
          <a:p>
            <a:r>
              <a:rPr lang="en-US" b="1">
                <a:latin typeface="Amasis MT Pro Medium" panose="02040604050005020304" pitchFamily="18" charset="0"/>
                <a:cs typeface="AngsanaUPC" pitchFamily="18" charset="-34"/>
              </a:rPr>
              <a:t>Contains all nutrients</a:t>
            </a:r>
          </a:p>
          <a:p>
            <a:endParaRPr lang="en-US" b="1">
              <a:latin typeface="Amasis MT Pro Medium" panose="02040604050005020304" pitchFamily="18" charset="0"/>
              <a:cs typeface="AngsanaUPC" pitchFamily="18" charset="-34"/>
            </a:endParaRPr>
          </a:p>
          <a:p>
            <a:r>
              <a:rPr lang="en-US" b="1">
                <a:latin typeface="Amasis MT Pro Medium" panose="02040604050005020304" pitchFamily="18" charset="0"/>
                <a:cs typeface="AngsanaUPC" pitchFamily="18" charset="-34"/>
              </a:rPr>
              <a:t>In optimum proportion</a:t>
            </a:r>
          </a:p>
          <a:p>
            <a:endParaRPr lang="en-US" b="1">
              <a:latin typeface="Amasis MT Pro Medium" panose="02040604050005020304" pitchFamily="18" charset="0"/>
              <a:cs typeface="AngsanaUPC" pitchFamily="18" charset="-34"/>
            </a:endParaRPr>
          </a:p>
          <a:p>
            <a:r>
              <a:rPr lang="en-US" b="1">
                <a:latin typeface="Amasis MT Pro Medium" panose="02040604050005020304" pitchFamily="18" charset="0"/>
                <a:cs typeface="AngsanaUPC" pitchFamily="18" charset="-34"/>
              </a:rPr>
              <a:t>In a form easily digested</a:t>
            </a:r>
          </a:p>
          <a:p>
            <a:pPr marL="0" indent="0">
              <a:buNone/>
            </a:pPr>
            <a:endParaRPr lang="en-US" dirty="0">
              <a:latin typeface="Amasis MT Pro Medium" panose="02040604050005020304" pitchFamily="18" charset="0"/>
            </a:endParaRPr>
          </a:p>
        </p:txBody>
      </p:sp>
    </p:spTree>
    <p:extLst>
      <p:ext uri="{BB962C8B-B14F-4D97-AF65-F5344CB8AC3E}">
        <p14:creationId xmlns:p14="http://schemas.microsoft.com/office/powerpoint/2010/main" val="1599376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05" name="Arc 410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lang="en-US" dirty="0">
                <a:latin typeface="Aharoni" panose="02010803020104030203" pitchFamily="2" charset="-79"/>
                <a:cs typeface="Aharoni" panose="02010803020104030203" pitchFamily="2" charset="-79"/>
              </a:rPr>
              <a:t>Carbohydrates</a:t>
            </a:r>
            <a:br>
              <a:rPr lang="en-US" dirty="0">
                <a:latin typeface="Aharoni" panose="02010803020104030203" pitchFamily="2" charset="-79"/>
                <a:cs typeface="Aharoni" panose="02010803020104030203" pitchFamily="2" charset="-79"/>
              </a:rPr>
            </a:br>
            <a:endParaRPr lang="en-US">
              <a:latin typeface="Aharoni" panose="02010803020104030203" pitchFamily="2" charset="-79"/>
              <a:cs typeface="Aharoni" panose="02010803020104030203" pitchFamily="2" charset="-79"/>
            </a:endParaRPr>
          </a:p>
        </p:txBody>
      </p:sp>
      <p:sp>
        <p:nvSpPr>
          <p:cNvPr id="4107" name="Freeform: Shape 410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descr="Glucose Molecule Carbohydrate Stock Illustrations – 360 Glucose Molecule  Carbohydrate Stock Illustrations, Vectors &amp; Clipart - Dreamstime">
            <a:extLst>
              <a:ext uri="{FF2B5EF4-FFF2-40B4-BE49-F238E27FC236}">
                <a16:creationId xmlns:a16="http://schemas.microsoft.com/office/drawing/2014/main" id="{77CDC3F7-216B-EEFC-9E45-CCC00D95797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6212"/>
          <a:stretch>
            <a:fillRect/>
          </a:stretch>
        </p:blipFill>
        <p:spPr bwMode="auto">
          <a:xfrm>
            <a:off x="703182" y="979690"/>
            <a:ext cx="4777381" cy="472887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894962" y="1984443"/>
            <a:ext cx="5458838" cy="4192520"/>
          </a:xfrm>
        </p:spPr>
        <p:txBody>
          <a:bodyPr>
            <a:normAutofit/>
          </a:bodyPr>
          <a:lstStyle/>
          <a:p>
            <a:pPr>
              <a:lnSpc>
                <a:spcPct val="90000"/>
              </a:lnSpc>
            </a:pPr>
            <a:r>
              <a:rPr lang="en-US" b="1" dirty="0">
                <a:latin typeface="Amasis MT Pro Medium" panose="02040604050005020304" pitchFamily="18" charset="0"/>
                <a:cs typeface="AngsanaUPC" pitchFamily="18" charset="-34"/>
              </a:rPr>
              <a:t>Lactose 6-7 g/dL</a:t>
            </a:r>
            <a:endParaRPr lang="en-US" b="1">
              <a:latin typeface="Amasis MT Pro Medium" panose="02040604050005020304" pitchFamily="18" charset="0"/>
              <a:cs typeface="AngsanaUPC" pitchFamily="18" charset="-34"/>
            </a:endParaRPr>
          </a:p>
          <a:p>
            <a:pPr>
              <a:lnSpc>
                <a:spcPct val="90000"/>
              </a:lnSpc>
            </a:pPr>
            <a:endParaRPr lang="en-US" b="1">
              <a:latin typeface="Amasis MT Pro Medium" panose="02040604050005020304" pitchFamily="18" charset="0"/>
              <a:cs typeface="AngsanaUPC" pitchFamily="18" charset="-34"/>
            </a:endParaRPr>
          </a:p>
          <a:p>
            <a:pPr>
              <a:lnSpc>
                <a:spcPct val="90000"/>
              </a:lnSpc>
            </a:pPr>
            <a:r>
              <a:rPr lang="en-US" b="1" dirty="0">
                <a:latin typeface="Amasis MT Pro Medium" panose="02040604050005020304" pitchFamily="18" charset="0"/>
                <a:cs typeface="AngsanaUPC" pitchFamily="18" charset="-34"/>
              </a:rPr>
              <a:t>Helps in the absorption of calcium </a:t>
            </a:r>
            <a:endParaRPr lang="en-US" b="1">
              <a:latin typeface="Amasis MT Pro Medium" panose="02040604050005020304" pitchFamily="18" charset="0"/>
              <a:cs typeface="AngsanaUPC" pitchFamily="18" charset="-34"/>
            </a:endParaRPr>
          </a:p>
          <a:p>
            <a:pPr marL="0" indent="0">
              <a:lnSpc>
                <a:spcPct val="90000"/>
              </a:lnSpc>
              <a:buNone/>
            </a:pPr>
            <a:r>
              <a:rPr lang="en-US" b="1" dirty="0">
                <a:latin typeface="Amasis MT Pro Medium" panose="02040604050005020304" pitchFamily="18" charset="0"/>
                <a:cs typeface="AngsanaUPC" pitchFamily="18" charset="-34"/>
              </a:rPr>
              <a:t>   and growth of lactobacilli</a:t>
            </a:r>
            <a:endParaRPr lang="en-US" b="1">
              <a:latin typeface="Amasis MT Pro Medium" panose="02040604050005020304" pitchFamily="18" charset="0"/>
              <a:cs typeface="AngsanaUPC" pitchFamily="18" charset="-34"/>
            </a:endParaRPr>
          </a:p>
          <a:p>
            <a:pPr marL="0" indent="0">
              <a:lnSpc>
                <a:spcPct val="90000"/>
              </a:lnSpc>
              <a:buNone/>
            </a:pPr>
            <a:endParaRPr lang="en-US" b="1">
              <a:latin typeface="Amasis MT Pro Medium" panose="02040604050005020304" pitchFamily="18" charset="0"/>
              <a:cs typeface="AngsanaUPC" pitchFamily="18" charset="-34"/>
            </a:endParaRPr>
          </a:p>
          <a:p>
            <a:pPr>
              <a:lnSpc>
                <a:spcPct val="90000"/>
              </a:lnSpc>
            </a:pPr>
            <a:r>
              <a:rPr lang="en-US" b="1" dirty="0">
                <a:latin typeface="Amasis MT Pro Medium" panose="02040604050005020304" pitchFamily="18" charset="0"/>
                <a:cs typeface="AngsanaUPC" pitchFamily="18" charset="-34"/>
              </a:rPr>
              <a:t>Galactose for </a:t>
            </a:r>
            <a:r>
              <a:rPr lang="en-US" b="1" dirty="0" err="1">
                <a:latin typeface="Amasis MT Pro Medium" panose="02040604050005020304" pitchFamily="18" charset="0"/>
                <a:cs typeface="AngsanaUPC" pitchFamily="18" charset="-34"/>
              </a:rPr>
              <a:t>galactocerebrosides</a:t>
            </a:r>
            <a:endParaRPr lang="en-US" b="1">
              <a:latin typeface="Amasis MT Pro Medium" panose="02040604050005020304" pitchFamily="18" charset="0"/>
              <a:cs typeface="AngsanaUPC" pitchFamily="18" charset="-34"/>
            </a:endParaRPr>
          </a:p>
          <a:p>
            <a:pPr>
              <a:lnSpc>
                <a:spcPct val="90000"/>
              </a:lnSpc>
            </a:pPr>
            <a:endParaRPr lang="en-US" b="1">
              <a:latin typeface="Amasis MT Pro Medium" panose="02040604050005020304" pitchFamily="18" charset="0"/>
            </a:endParaRPr>
          </a:p>
        </p:txBody>
      </p:sp>
    </p:spTree>
    <p:extLst>
      <p:ext uri="{BB962C8B-B14F-4D97-AF65-F5344CB8AC3E}">
        <p14:creationId xmlns:p14="http://schemas.microsoft.com/office/powerpoint/2010/main" val="2547452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657715" y="321797"/>
            <a:ext cx="4195674" cy="2052522"/>
          </a:xfrm>
        </p:spPr>
        <p:txBody>
          <a:bodyPr anchor="b">
            <a:normAutofit/>
          </a:bodyPr>
          <a:lstStyle/>
          <a:p>
            <a:r>
              <a:rPr lang="en-US" sz="5600" dirty="0">
                <a:latin typeface="Aharoni" panose="02010803020104030203" pitchFamily="2" charset="-79"/>
                <a:cs typeface="Aharoni" panose="02010803020104030203" pitchFamily="2" charset="-79"/>
              </a:rPr>
              <a:t>Proteins</a:t>
            </a:r>
            <a:br>
              <a:rPr lang="en-US" sz="5600" dirty="0">
                <a:latin typeface="Aharoni" panose="02010803020104030203" pitchFamily="2" charset="-79"/>
                <a:cs typeface="Aharoni" panose="02010803020104030203" pitchFamily="2" charset="-79"/>
              </a:rPr>
            </a:br>
            <a:endParaRPr lang="en-US" sz="5600" dirty="0">
              <a:latin typeface="Aharoni" panose="02010803020104030203" pitchFamily="2" charset="-79"/>
              <a:cs typeface="Aharoni" panose="02010803020104030203" pitchFamily="2" charset="-79"/>
            </a:endParaRPr>
          </a:p>
        </p:txBody>
      </p:sp>
      <p:sp>
        <p:nvSpPr>
          <p:cNvPr id="5129" name="Oval 512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5BCC17DE-480E-752D-2A1B-88DFC7DAA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 b="-3"/>
          <a:stretch>
            <a:fillRect/>
          </a:stretch>
        </p:blipFill>
        <p:spPr bwMode="auto">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extLst>
            <a:ext uri="{909E8E84-426E-40DD-AFC4-6F175D3DCCD1}">
              <a14:hiddenFill xmlns:a14="http://schemas.microsoft.com/office/drawing/2010/main">
                <a:solidFill>
                  <a:srgbClr val="FFFFFF"/>
                </a:solidFill>
              </a14:hiddenFill>
            </a:ext>
          </a:extLst>
        </p:spPr>
      </p:pic>
      <p:sp>
        <p:nvSpPr>
          <p:cNvPr id="5134"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513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p:cNvSpPr>
            <a:spLocks noGrp="1"/>
          </p:cNvSpPr>
          <p:nvPr>
            <p:ph idx="1"/>
          </p:nvPr>
        </p:nvSpPr>
        <p:spPr>
          <a:xfrm>
            <a:off x="6657714" y="1720241"/>
            <a:ext cx="4928447" cy="4184449"/>
          </a:xfrm>
        </p:spPr>
        <p:txBody>
          <a:bodyPr anchor="t">
            <a:normAutofit fontScale="92500" lnSpcReduction="20000"/>
          </a:bodyPr>
          <a:lstStyle/>
          <a:p>
            <a:r>
              <a:rPr lang="en-US" sz="3600" b="1" dirty="0">
                <a:solidFill>
                  <a:schemeClr val="tx1">
                    <a:alpha val="80000"/>
                  </a:schemeClr>
                </a:solidFill>
                <a:latin typeface="Amasis MT Pro Medium" panose="02040604050005020304" pitchFamily="18" charset="0"/>
                <a:cs typeface="AngsanaUPC" pitchFamily="18" charset="-34"/>
              </a:rPr>
              <a:t>0.9-1.1 g/dL</a:t>
            </a:r>
          </a:p>
          <a:p>
            <a:endParaRPr lang="en-US" sz="3600" b="1" dirty="0">
              <a:solidFill>
                <a:schemeClr val="tx1">
                  <a:alpha val="80000"/>
                </a:schemeClr>
              </a:solidFill>
              <a:latin typeface="Amasis MT Pro Medium" panose="02040604050005020304" pitchFamily="18" charset="0"/>
              <a:cs typeface="AngsanaUPC" pitchFamily="18" charset="-34"/>
            </a:endParaRPr>
          </a:p>
          <a:p>
            <a:r>
              <a:rPr lang="en-US" sz="3600" b="1" dirty="0">
                <a:solidFill>
                  <a:schemeClr val="tx1">
                    <a:alpha val="80000"/>
                  </a:schemeClr>
                </a:solidFill>
                <a:latin typeface="Amasis MT Pro Medium" panose="02040604050005020304" pitchFamily="18" charset="0"/>
                <a:cs typeface="AngsanaUPC" pitchFamily="18" charset="-34"/>
              </a:rPr>
              <a:t>Present in the form of Lactalbumin </a:t>
            </a:r>
          </a:p>
          <a:p>
            <a:pPr marL="0" indent="0">
              <a:buNone/>
            </a:pPr>
            <a:r>
              <a:rPr lang="en-US" sz="3600" b="1" dirty="0">
                <a:solidFill>
                  <a:schemeClr val="tx1">
                    <a:alpha val="80000"/>
                  </a:schemeClr>
                </a:solidFill>
                <a:latin typeface="Amasis MT Pro Medium" panose="02040604050005020304" pitchFamily="18" charset="0"/>
                <a:cs typeface="AngsanaUPC" pitchFamily="18" charset="-34"/>
              </a:rPr>
              <a:t>    and lactoglobulin</a:t>
            </a:r>
          </a:p>
          <a:p>
            <a:pPr marL="0" indent="0">
              <a:buNone/>
            </a:pPr>
            <a:endParaRPr lang="en-US" sz="3600" b="1" dirty="0">
              <a:solidFill>
                <a:schemeClr val="tx1">
                  <a:alpha val="80000"/>
                </a:schemeClr>
              </a:solidFill>
              <a:latin typeface="Amasis MT Pro Medium" panose="02040604050005020304" pitchFamily="18" charset="0"/>
              <a:cs typeface="AngsanaUPC" pitchFamily="18" charset="-34"/>
            </a:endParaRPr>
          </a:p>
          <a:p>
            <a:r>
              <a:rPr lang="en-US" sz="3600" b="1" dirty="0">
                <a:solidFill>
                  <a:schemeClr val="tx1">
                    <a:alpha val="80000"/>
                  </a:schemeClr>
                </a:solidFill>
                <a:latin typeface="Amasis MT Pro Medium" panose="02040604050005020304" pitchFamily="18" charset="0"/>
                <a:cs typeface="AngsanaUPC" pitchFamily="18" charset="-34"/>
              </a:rPr>
              <a:t>Amino acid – taurine and cysteine </a:t>
            </a:r>
          </a:p>
        </p:txBody>
      </p:sp>
      <p:sp>
        <p:nvSpPr>
          <p:cNvPr id="513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513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84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153" name="Arc 615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lang="en-US" dirty="0">
                <a:latin typeface="Aharoni" panose="02010803020104030203" pitchFamily="2" charset="-79"/>
                <a:cs typeface="Aharoni" panose="02010803020104030203" pitchFamily="2" charset="-79"/>
              </a:rPr>
              <a:t>Fats</a:t>
            </a:r>
            <a:br>
              <a:rPr lang="en-US" dirty="0">
                <a:latin typeface="Aharoni" panose="02010803020104030203" pitchFamily="2" charset="-79"/>
                <a:cs typeface="Aharoni" panose="02010803020104030203" pitchFamily="2" charset="-79"/>
              </a:rPr>
            </a:br>
            <a:endParaRPr lang="en-US">
              <a:latin typeface="Aharoni" panose="02010803020104030203" pitchFamily="2" charset="-79"/>
              <a:cs typeface="Aharoni" panose="02010803020104030203" pitchFamily="2" charset="-79"/>
            </a:endParaRPr>
          </a:p>
        </p:txBody>
      </p:sp>
      <p:sp>
        <p:nvSpPr>
          <p:cNvPr id="6155" name="Freeform: Shape 615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146" name="Picture 2" descr="Hand Drawn Doodle Fat Chemical Formula Stock Vector (Royalty Free)  728391757 | Shutterstock">
            <a:extLst>
              <a:ext uri="{FF2B5EF4-FFF2-40B4-BE49-F238E27FC236}">
                <a16:creationId xmlns:a16="http://schemas.microsoft.com/office/drawing/2014/main" id="{5E26A1C3-1636-1B9D-2A9C-ECF4599A2B05}"/>
              </a:ext>
            </a:extLst>
          </p:cNvPr>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9250" b="83688" l="10000" r="90000">
                        <a14:foregroundMark x1="41933" y1="18313" x2="44200" y2="25813"/>
                        <a14:foregroundMark x1="44200" y1="25813" x2="49400" y2="31188"/>
                        <a14:foregroundMark x1="49400" y1="31188" x2="52000" y2="41813"/>
                        <a14:foregroundMark x1="52000" y1="41813" x2="50600" y2="63563"/>
                        <a14:foregroundMark x1="44133" y1="37563" x2="55600" y2="36750"/>
                        <a14:foregroundMark x1="43800" y1="43500" x2="56067" y2="42125"/>
                        <a14:foregroundMark x1="44533" y1="48500" x2="55600" y2="48125"/>
                        <a14:foregroundMark x1="55600" y1="48125" x2="56467" y2="48188"/>
                        <a14:foregroundMark x1="45000" y1="54125" x2="58467" y2="54438"/>
                        <a14:foregroundMark x1="42533" y1="60625" x2="54467" y2="58813"/>
                        <a14:foregroundMark x1="54467" y1="58813" x2="55467" y2="59125"/>
                        <a14:foregroundMark x1="50133" y1="52250" x2="47867" y2="54125"/>
                        <a14:foregroundMark x1="45133" y1="73563" x2="56067" y2="72063"/>
                        <a14:foregroundMark x1="56067" y1="72063" x2="49600" y2="68125"/>
                        <a14:foregroundMark x1="49600" y1="68125" x2="41200" y2="70125"/>
                        <a14:foregroundMark x1="41200" y1="70125" x2="42133" y2="80875"/>
                        <a14:foregroundMark x1="42133" y1="80875" x2="49067" y2="83688"/>
                        <a14:foregroundMark x1="49067" y1="83688" x2="57733" y2="82375"/>
                        <a14:foregroundMark x1="57733" y1="82375" x2="56733" y2="68563"/>
                        <a14:foregroundMark x1="54000" y1="23688" x2="58600" y2="24125"/>
                        <a14:foregroundMark x1="52133" y1="27500" x2="53600" y2="29500"/>
                        <a14:foregroundMark x1="40200" y1="78375" x2="56867" y2="81375"/>
                        <a14:foregroundMark x1="56867" y1="81375" x2="38667" y2="78813"/>
                        <a14:foregroundMark x1="39933" y1="80125" x2="48867" y2="83375"/>
                        <a14:foregroundMark x1="48867" y1="83375" x2="52133" y2="83500"/>
                        <a14:foregroundMark x1="37933" y1="83125" x2="52867" y2="83625"/>
                        <a14:foregroundMark x1="46667" y1="68125" x2="57333" y2="69875"/>
                        <a14:foregroundMark x1="41667" y1="18063" x2="43133" y2="18563"/>
                        <a14:foregroundMark x1="41400" y1="17250" x2="41667" y2="19813"/>
                        <a14:foregroundMark x1="57467" y1="21438" x2="59800" y2="24000"/>
                        <a14:foregroundMark x1="40867" y1="18250" x2="40933" y2="19188"/>
                        <a14:foregroundMark x1="41800" y1="18063" x2="41400" y2="18063"/>
                      </a14:backgroundRemoval>
                    </a14:imgEffect>
                  </a14:imgLayer>
                </a14:imgProps>
              </a:ext>
              <a:ext uri="{28A0092B-C50C-407E-A947-70E740481C1C}">
                <a14:useLocalDpi xmlns:a14="http://schemas.microsoft.com/office/drawing/2010/main" val="0"/>
              </a:ext>
            </a:extLst>
          </a:blip>
          <a:srcRect b="7273"/>
          <a:stretch>
            <a:fillRect/>
          </a:stretch>
        </p:blipFill>
        <p:spPr bwMode="auto">
          <a:xfrm>
            <a:off x="703182" y="981504"/>
            <a:ext cx="4777381" cy="472524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894962" y="1984443"/>
            <a:ext cx="5458838" cy="4192520"/>
          </a:xfrm>
        </p:spPr>
        <p:txBody>
          <a:bodyPr>
            <a:normAutofit/>
          </a:bodyPr>
          <a:lstStyle/>
          <a:p>
            <a:r>
              <a:rPr lang="en-US" b="1" dirty="0">
                <a:latin typeface="Amasis MT Pro Medium" panose="02040604050005020304" pitchFamily="18" charset="0"/>
                <a:cs typeface="AngsanaUPC" pitchFamily="18" charset="-34"/>
              </a:rPr>
              <a:t>Polyunsaturated fatty acids help in myelination</a:t>
            </a:r>
          </a:p>
          <a:p>
            <a:endParaRPr lang="en-US" b="1" dirty="0">
              <a:latin typeface="Amasis MT Pro Medium" panose="02040604050005020304" pitchFamily="18" charset="0"/>
              <a:cs typeface="AngsanaUPC" pitchFamily="18" charset="-34"/>
            </a:endParaRPr>
          </a:p>
          <a:p>
            <a:r>
              <a:rPr lang="en-US" b="1" dirty="0">
                <a:latin typeface="Amasis MT Pro Medium" panose="02040604050005020304" pitchFamily="18" charset="0"/>
                <a:cs typeface="AngsanaUPC" pitchFamily="18" charset="-34"/>
              </a:rPr>
              <a:t> Omega-2 and omega-6 help in the formation of prostaglandins and cholesterol</a:t>
            </a:r>
          </a:p>
          <a:p>
            <a:endParaRPr lang="en-US" dirty="0">
              <a:latin typeface="Amasis MT Pro Medium" panose="02040604050005020304" pitchFamily="18" charset="0"/>
            </a:endParaRPr>
          </a:p>
        </p:txBody>
      </p:sp>
    </p:spTree>
    <p:extLst>
      <p:ext uri="{BB962C8B-B14F-4D97-AF65-F5344CB8AC3E}">
        <p14:creationId xmlns:p14="http://schemas.microsoft.com/office/powerpoint/2010/main" val="1603974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177" name="Arc 717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lang="en-US" sz="3700">
                <a:latin typeface="Aharoni" panose="02010803020104030203" pitchFamily="2" charset="-79"/>
                <a:cs typeface="Aharoni" panose="02010803020104030203" pitchFamily="2" charset="-79"/>
              </a:rPr>
              <a:t>Vitamins and Minerals</a:t>
            </a:r>
            <a:br>
              <a:rPr lang="en-US" sz="3700">
                <a:latin typeface="Aharoni" panose="02010803020104030203" pitchFamily="2" charset="-79"/>
                <a:cs typeface="Aharoni" panose="02010803020104030203" pitchFamily="2" charset="-79"/>
              </a:rPr>
            </a:br>
            <a:endParaRPr lang="en-US" sz="3700">
              <a:latin typeface="Aharoni" panose="02010803020104030203" pitchFamily="2" charset="-79"/>
              <a:cs typeface="Aharoni" panose="02010803020104030203" pitchFamily="2" charset="-79"/>
            </a:endParaRPr>
          </a:p>
        </p:txBody>
      </p:sp>
      <p:sp>
        <p:nvSpPr>
          <p:cNvPr id="7179" name="Freeform: Shape 717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170" name="Picture 2" descr="Supplements vitamins minerals red green pik and yellow molecules complex  for active and healthy | Premium Vector">
            <a:extLst>
              <a:ext uri="{FF2B5EF4-FFF2-40B4-BE49-F238E27FC236}">
                <a16:creationId xmlns:a16="http://schemas.microsoft.com/office/drawing/2014/main" id="{EE559704-8824-E837-F200-10F8CB0D6FA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1946744"/>
            <a:ext cx="4777381" cy="279476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894962" y="1984443"/>
            <a:ext cx="5458838" cy="4192520"/>
          </a:xfrm>
        </p:spPr>
        <p:txBody>
          <a:bodyPr>
            <a:normAutofit/>
          </a:bodyPr>
          <a:lstStyle/>
          <a:p>
            <a:r>
              <a:rPr lang="en-US" b="1" dirty="0">
                <a:latin typeface="Amasis MT Pro Medium" panose="02040604050005020304" pitchFamily="18" charset="0"/>
                <a:cs typeface="AngsanaUPC" pitchFamily="18" charset="-34"/>
              </a:rPr>
              <a:t>Bioavailability</a:t>
            </a:r>
          </a:p>
          <a:p>
            <a:endParaRPr lang="en-US" b="1" dirty="0">
              <a:latin typeface="Amasis MT Pro Medium" panose="02040604050005020304" pitchFamily="18" charset="0"/>
              <a:cs typeface="AngsanaUPC" pitchFamily="18" charset="-34"/>
            </a:endParaRPr>
          </a:p>
          <a:p>
            <a:r>
              <a:rPr lang="en-US" b="1" dirty="0">
                <a:latin typeface="Amasis MT Pro Medium" panose="02040604050005020304" pitchFamily="18" charset="0"/>
                <a:cs typeface="AngsanaUPC" pitchFamily="18" charset="-34"/>
              </a:rPr>
              <a:t>Amount sufficient for baby till 6 months </a:t>
            </a:r>
          </a:p>
        </p:txBody>
      </p:sp>
    </p:spTree>
    <p:extLst>
      <p:ext uri="{BB962C8B-B14F-4D97-AF65-F5344CB8AC3E}">
        <p14:creationId xmlns:p14="http://schemas.microsoft.com/office/powerpoint/2010/main" val="3656110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pPr>
              <a:lnSpc>
                <a:spcPct val="90000"/>
              </a:lnSpc>
            </a:pPr>
            <a:r>
              <a:rPr lang="en-US" sz="4200">
                <a:latin typeface="Aharoni" panose="02010803020104030203" pitchFamily="2" charset="-79"/>
                <a:cs typeface="Aharoni" panose="02010803020104030203" pitchFamily="2" charset="-79"/>
              </a:rPr>
              <a:t>Water and electrolytes</a:t>
            </a:r>
            <a:br>
              <a:rPr lang="en-US" sz="4200">
                <a:latin typeface="Aharoni" panose="02010803020104030203" pitchFamily="2" charset="-79"/>
                <a:cs typeface="Aharoni" panose="02010803020104030203" pitchFamily="2" charset="-79"/>
              </a:rPr>
            </a:br>
            <a:r>
              <a:rPr lang="en-US" sz="4200">
                <a:latin typeface="Aharoni" panose="02010803020104030203" pitchFamily="2" charset="-79"/>
                <a:cs typeface="Aharoni" panose="02010803020104030203" pitchFamily="2" charset="-79"/>
              </a:rPr>
              <a:t> </a:t>
            </a:r>
          </a:p>
        </p:txBody>
      </p:sp>
      <p:sp>
        <p:nvSpPr>
          <p:cNvPr id="820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4243589" cy="3320668"/>
          </a:xfrm>
        </p:spPr>
        <p:txBody>
          <a:bodyPr>
            <a:normAutofit/>
          </a:bodyPr>
          <a:lstStyle/>
          <a:p>
            <a:pPr marL="0" indent="0">
              <a:buNone/>
            </a:pPr>
            <a:endParaRPr lang="en-US" sz="2200" b="1">
              <a:latin typeface="Amasis MT Pro Medium" panose="02040604050005020304" pitchFamily="18" charset="0"/>
              <a:cs typeface="AngsanaUPC" pitchFamily="18" charset="-34"/>
              <a:sym typeface="Wingdings" pitchFamily="2" charset="2"/>
            </a:endParaRPr>
          </a:p>
          <a:p>
            <a:r>
              <a:rPr lang="en-US" sz="2200" b="1">
                <a:latin typeface="Amasis MT Pro Medium" panose="02040604050005020304" pitchFamily="18" charset="0"/>
                <a:cs typeface="AngsanaUPC" pitchFamily="18" charset="-34"/>
              </a:rPr>
              <a:t>88 %, does not require additional water</a:t>
            </a:r>
          </a:p>
          <a:p>
            <a:endParaRPr lang="en-US" sz="2200" b="1">
              <a:latin typeface="Amasis MT Pro Medium" panose="02040604050005020304" pitchFamily="18" charset="0"/>
              <a:cs typeface="AngsanaUPC" pitchFamily="18" charset="-34"/>
            </a:endParaRPr>
          </a:p>
          <a:p>
            <a:r>
              <a:rPr lang="en-US" sz="2200" b="1">
                <a:latin typeface="Amasis MT Pro Medium" panose="02040604050005020304" pitchFamily="18" charset="0"/>
                <a:cs typeface="AngsanaUPC" pitchFamily="18" charset="-34"/>
              </a:rPr>
              <a:t>Osmolality is low</a:t>
            </a:r>
          </a:p>
          <a:p>
            <a:endParaRPr lang="en-US" sz="2200" b="1">
              <a:latin typeface="Amasis MT Pro Medium" panose="02040604050005020304" pitchFamily="18" charset="0"/>
              <a:cs typeface="AngsanaUPC" pitchFamily="18" charset="-34"/>
            </a:endParaRPr>
          </a:p>
          <a:p>
            <a:r>
              <a:rPr lang="en-US" sz="2200" b="1">
                <a:latin typeface="Amasis MT Pro Medium" panose="02040604050005020304" pitchFamily="18" charset="0"/>
                <a:cs typeface="AngsanaUPC" pitchFamily="18" charset="-34"/>
              </a:rPr>
              <a:t>Low solute load  to kidneys</a:t>
            </a:r>
          </a:p>
        </p:txBody>
      </p:sp>
      <p:pic>
        <p:nvPicPr>
          <p:cNvPr id="8194" name="Picture 2" descr="Important Electrolyte Stock Illustrations – 27 Important Electrolyte Stock  Illustrations, Vectors &amp; Clipart - Dreamstime">
            <a:extLst>
              <a:ext uri="{FF2B5EF4-FFF2-40B4-BE49-F238E27FC236}">
                <a16:creationId xmlns:a16="http://schemas.microsoft.com/office/drawing/2014/main" id="{4DB7870B-A438-FE8B-3435-D69030567F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02"/>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0763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34" name="Rectangle 923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36" name="Arc 923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lang="en-US" sz="3100">
                <a:latin typeface="Aharoni" panose="02010803020104030203" pitchFamily="2" charset="-79"/>
                <a:cs typeface="Aharoni" panose="02010803020104030203" pitchFamily="2" charset="-79"/>
              </a:rPr>
              <a:t>Immunological superiority </a:t>
            </a:r>
            <a:br>
              <a:rPr lang="en-US" sz="3100">
                <a:latin typeface="Aharoni" panose="02010803020104030203" pitchFamily="2" charset="-79"/>
                <a:cs typeface="Aharoni" panose="02010803020104030203" pitchFamily="2" charset="-79"/>
              </a:rPr>
            </a:br>
            <a:r>
              <a:rPr lang="en-US" sz="3100">
                <a:latin typeface="Aharoni" panose="02010803020104030203" pitchFamily="2" charset="-79"/>
                <a:cs typeface="Aharoni" panose="02010803020104030203" pitchFamily="2" charset="-79"/>
              </a:rPr>
              <a:t> </a:t>
            </a:r>
          </a:p>
        </p:txBody>
      </p:sp>
      <p:sp>
        <p:nvSpPr>
          <p:cNvPr id="9238" name="Freeform: Shape 923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218" name="Picture 2" descr="5+ Thousand Immune Cell Cartoon Royalty-Free Images, Stock Photos &amp;  Pictures | Shutterstock">
            <a:extLst>
              <a:ext uri="{FF2B5EF4-FFF2-40B4-BE49-F238E27FC236}">
                <a16:creationId xmlns:a16="http://schemas.microsoft.com/office/drawing/2014/main" id="{6945DF0F-6D06-DA34-8474-AAB7F9E849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386"/>
          <a:stretch>
            <a:fillRect/>
          </a:stretch>
        </p:blipFill>
        <p:spPr bwMode="auto">
          <a:xfrm>
            <a:off x="703182" y="1038866"/>
            <a:ext cx="4777381" cy="461052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894962" y="1984443"/>
            <a:ext cx="5458838" cy="4192520"/>
          </a:xfrm>
        </p:spPr>
        <p:txBody>
          <a:bodyPr>
            <a:normAutofit/>
          </a:bodyPr>
          <a:lstStyle/>
          <a:p>
            <a:pPr>
              <a:lnSpc>
                <a:spcPct val="90000"/>
              </a:lnSpc>
            </a:pPr>
            <a:r>
              <a:rPr lang="en-US" sz="2500" b="1">
                <a:latin typeface="Amasis MT Pro Medium" panose="02040604050005020304" pitchFamily="18" charset="0"/>
                <a:cs typeface="AngsanaUPC" pitchFamily="18" charset="-34"/>
              </a:rPr>
              <a:t>IgA, Macrophages, lymphocytes</a:t>
            </a:r>
          </a:p>
          <a:p>
            <a:pPr>
              <a:lnSpc>
                <a:spcPct val="90000"/>
              </a:lnSpc>
            </a:pPr>
            <a:endParaRPr lang="en-US" sz="2500" b="1">
              <a:latin typeface="Amasis MT Pro Medium" panose="02040604050005020304" pitchFamily="18" charset="0"/>
              <a:cs typeface="AngsanaUPC" pitchFamily="18" charset="-34"/>
            </a:endParaRPr>
          </a:p>
          <a:p>
            <a:pPr>
              <a:lnSpc>
                <a:spcPct val="90000"/>
              </a:lnSpc>
            </a:pPr>
            <a:r>
              <a:rPr lang="en-US" sz="2500" b="1">
                <a:latin typeface="Amasis MT Pro Medium" panose="02040604050005020304" pitchFamily="18" charset="0"/>
                <a:cs typeface="AngsanaUPC" pitchFamily="18" charset="-34"/>
              </a:rPr>
              <a:t>Lactoferrin, Lysozyme, Bifidus factor</a:t>
            </a:r>
          </a:p>
          <a:p>
            <a:pPr>
              <a:lnSpc>
                <a:spcPct val="90000"/>
              </a:lnSpc>
            </a:pPr>
            <a:endParaRPr lang="en-US" sz="2500" b="1">
              <a:latin typeface="Amasis MT Pro Medium" panose="02040604050005020304" pitchFamily="18" charset="0"/>
              <a:cs typeface="AngsanaUPC" pitchFamily="18" charset="-34"/>
            </a:endParaRPr>
          </a:p>
          <a:p>
            <a:pPr>
              <a:lnSpc>
                <a:spcPct val="90000"/>
              </a:lnSpc>
            </a:pPr>
            <a:r>
              <a:rPr lang="en-US" sz="2500" b="1">
                <a:latin typeface="Amasis MT Pro Medium" panose="02040604050005020304" pitchFamily="18" charset="0"/>
                <a:cs typeface="AngsanaUPC" pitchFamily="18" charset="-34"/>
              </a:rPr>
              <a:t>Less likely to develop infections</a:t>
            </a:r>
          </a:p>
          <a:p>
            <a:pPr>
              <a:lnSpc>
                <a:spcPct val="90000"/>
              </a:lnSpc>
            </a:pPr>
            <a:endParaRPr lang="en-US" sz="2500" b="1">
              <a:latin typeface="Amasis MT Pro Medium" panose="02040604050005020304" pitchFamily="18" charset="0"/>
              <a:cs typeface="AngsanaUPC" pitchFamily="18" charset="-34"/>
            </a:endParaRPr>
          </a:p>
          <a:p>
            <a:pPr>
              <a:lnSpc>
                <a:spcPct val="90000"/>
              </a:lnSpc>
            </a:pPr>
            <a:r>
              <a:rPr lang="en-US" sz="2500" b="1">
                <a:latin typeface="Amasis MT Pro Medium" panose="02040604050005020304" pitchFamily="18" charset="0"/>
                <a:cs typeface="AngsanaUPC" pitchFamily="18" charset="-34"/>
              </a:rPr>
              <a:t>Less likely of morbidity due to diarrhoea</a:t>
            </a:r>
          </a:p>
        </p:txBody>
      </p:sp>
    </p:spTree>
    <p:extLst>
      <p:ext uri="{BB962C8B-B14F-4D97-AF65-F5344CB8AC3E}">
        <p14:creationId xmlns:p14="http://schemas.microsoft.com/office/powerpoint/2010/main" val="2453087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54" name="Rectangle 1025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56" name="Arc 1025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r>
              <a:rPr lang="en-US">
                <a:latin typeface="Aharoni" panose="02010803020104030203" pitchFamily="2" charset="-79"/>
                <a:cs typeface="Aharoni" panose="02010803020104030203" pitchFamily="2" charset="-79"/>
              </a:rPr>
              <a:t>Other benefits  </a:t>
            </a:r>
          </a:p>
        </p:txBody>
      </p:sp>
      <p:sp>
        <p:nvSpPr>
          <p:cNvPr id="10258" name="Freeform: Shape 1025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866" y="511293"/>
            <a:ext cx="4502013"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p:cNvSpPr>
            <a:spLocks noGrp="1"/>
          </p:cNvSpPr>
          <p:nvPr>
            <p:ph idx="1"/>
          </p:nvPr>
        </p:nvSpPr>
        <p:spPr>
          <a:xfrm>
            <a:off x="5894962" y="1984443"/>
            <a:ext cx="5458838" cy="4192520"/>
          </a:xfrm>
        </p:spPr>
        <p:txBody>
          <a:bodyPr>
            <a:normAutofit/>
          </a:bodyPr>
          <a:lstStyle/>
          <a:p>
            <a:pPr>
              <a:lnSpc>
                <a:spcPct val="90000"/>
              </a:lnSpc>
            </a:pPr>
            <a:r>
              <a:rPr lang="en-US" sz="2500" b="1" dirty="0">
                <a:latin typeface="Amasis MT Pro Medium" panose="02040604050005020304" pitchFamily="18" charset="0"/>
                <a:cs typeface="AngsanaUPC" pitchFamily="18" charset="-34"/>
              </a:rPr>
              <a:t>Growth factors, enzymes, and hormones</a:t>
            </a:r>
          </a:p>
          <a:p>
            <a:pPr>
              <a:lnSpc>
                <a:spcPct val="90000"/>
              </a:lnSpc>
            </a:pPr>
            <a:r>
              <a:rPr lang="en-US" sz="2500" b="1" dirty="0">
                <a:latin typeface="Amasis MT Pro Medium" panose="02040604050005020304" pitchFamily="18" charset="0"/>
                <a:cs typeface="AngsanaUPC" pitchFamily="18" charset="-34"/>
              </a:rPr>
              <a:t>Epidermal growth factors</a:t>
            </a:r>
          </a:p>
          <a:p>
            <a:pPr>
              <a:lnSpc>
                <a:spcPct val="90000"/>
              </a:lnSpc>
            </a:pPr>
            <a:r>
              <a:rPr lang="en-US" sz="2500" b="1" dirty="0">
                <a:latin typeface="Amasis MT Pro Medium" panose="02040604050005020304" pitchFamily="18" charset="0"/>
                <a:cs typeface="AngsanaUPC" pitchFamily="18" charset="-34"/>
              </a:rPr>
              <a:t> helps in maturation </a:t>
            </a:r>
          </a:p>
          <a:p>
            <a:pPr>
              <a:lnSpc>
                <a:spcPct val="90000"/>
              </a:lnSpc>
            </a:pPr>
            <a:r>
              <a:rPr lang="en-US" sz="2500" b="1" dirty="0">
                <a:latin typeface="Amasis MT Pro Medium" panose="02040604050005020304" pitchFamily="18" charset="0"/>
                <a:cs typeface="AngsanaUPC" pitchFamily="18" charset="-34"/>
              </a:rPr>
              <a:t>of intestinal cells</a:t>
            </a:r>
          </a:p>
          <a:p>
            <a:pPr>
              <a:lnSpc>
                <a:spcPct val="90000"/>
              </a:lnSpc>
            </a:pPr>
            <a:r>
              <a:rPr lang="en-US" sz="2500" b="1" dirty="0">
                <a:latin typeface="Amasis MT Pro Medium" panose="02040604050005020304" pitchFamily="18" charset="0"/>
                <a:cs typeface="AngsanaUPC" pitchFamily="18" charset="-34"/>
              </a:rPr>
              <a:t>Lipases – increase the digestion of fats</a:t>
            </a:r>
          </a:p>
          <a:p>
            <a:pPr>
              <a:lnSpc>
                <a:spcPct val="90000"/>
              </a:lnSpc>
            </a:pPr>
            <a:r>
              <a:rPr lang="en-US" sz="2500" b="1" dirty="0">
                <a:latin typeface="Amasis MT Pro Medium" panose="02040604050005020304" pitchFamily="18" charset="0"/>
              </a:rPr>
              <a:t>Protection against other illnesses</a:t>
            </a:r>
          </a:p>
          <a:p>
            <a:pPr>
              <a:lnSpc>
                <a:spcPct val="90000"/>
              </a:lnSpc>
            </a:pPr>
            <a:r>
              <a:rPr lang="en-US" sz="2500" b="1" dirty="0">
                <a:latin typeface="Amasis MT Pro Medium" panose="02040604050005020304" pitchFamily="18" charset="0"/>
              </a:rPr>
              <a:t>Mental growth</a:t>
            </a:r>
          </a:p>
        </p:txBody>
      </p:sp>
    </p:spTree>
    <p:extLst>
      <p:ext uri="{BB962C8B-B14F-4D97-AF65-F5344CB8AC3E}">
        <p14:creationId xmlns:p14="http://schemas.microsoft.com/office/powerpoint/2010/main" val="1745580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D46527-8963-4773-8769-07E6ACE08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6096000" y="365125"/>
            <a:ext cx="5257800" cy="1325563"/>
          </a:xfrm>
        </p:spPr>
        <p:txBody>
          <a:bodyPr>
            <a:normAutofit/>
          </a:bodyPr>
          <a:lstStyle/>
          <a:p>
            <a:pPr>
              <a:lnSpc>
                <a:spcPct val="90000"/>
              </a:lnSpc>
            </a:pPr>
            <a:r>
              <a:rPr lang="en-US" b="1">
                <a:latin typeface="Aharoni" panose="02010803020104030203" pitchFamily="2" charset="-79"/>
                <a:cs typeface="Aharoni" panose="02010803020104030203" pitchFamily="2" charset="-79"/>
              </a:rPr>
              <a:t>BENEFITS TO THE MOTHER</a:t>
            </a:r>
          </a:p>
        </p:txBody>
      </p:sp>
      <p:pic>
        <p:nvPicPr>
          <p:cNvPr id="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500" y="509852"/>
            <a:ext cx="4643496" cy="5594573"/>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3" name="Content Placeholder 2"/>
          <p:cNvSpPr>
            <a:spLocks noGrp="1"/>
          </p:cNvSpPr>
          <p:nvPr>
            <p:ph idx="1"/>
          </p:nvPr>
        </p:nvSpPr>
        <p:spPr>
          <a:xfrm>
            <a:off x="6096000" y="1825625"/>
            <a:ext cx="5257800" cy="4351338"/>
          </a:xfrm>
        </p:spPr>
        <p:txBody>
          <a:bodyPr>
            <a:normAutofit/>
          </a:bodyPr>
          <a:lstStyle/>
          <a:p>
            <a:pPr>
              <a:lnSpc>
                <a:spcPct val="90000"/>
              </a:lnSpc>
            </a:pPr>
            <a:r>
              <a:rPr lang="en-US" sz="2700" b="1">
                <a:latin typeface="Amasis MT Pro Medium" panose="02040604050005020304" pitchFamily="18" charset="0"/>
                <a:cs typeface="AngsanaUPC" pitchFamily="18" charset="-34"/>
              </a:rPr>
              <a:t>Uterine involution</a:t>
            </a:r>
          </a:p>
          <a:p>
            <a:pPr>
              <a:lnSpc>
                <a:spcPct val="90000"/>
              </a:lnSpc>
            </a:pPr>
            <a:endParaRPr lang="en-US" sz="2700" b="1">
              <a:latin typeface="Amasis MT Pro Medium" panose="02040604050005020304" pitchFamily="18" charset="0"/>
              <a:cs typeface="AngsanaUPC" pitchFamily="18" charset="-34"/>
            </a:endParaRPr>
          </a:p>
          <a:p>
            <a:pPr>
              <a:lnSpc>
                <a:spcPct val="90000"/>
              </a:lnSpc>
            </a:pPr>
            <a:r>
              <a:rPr lang="en-US" sz="2700" b="1">
                <a:latin typeface="Amasis MT Pro Medium" panose="02040604050005020304" pitchFamily="18" charset="0"/>
                <a:cs typeface="AngsanaUPC" pitchFamily="18" charset="-34"/>
              </a:rPr>
              <a:t>Lactational amenorrhea</a:t>
            </a:r>
          </a:p>
          <a:p>
            <a:pPr>
              <a:lnSpc>
                <a:spcPct val="90000"/>
              </a:lnSpc>
            </a:pPr>
            <a:endParaRPr lang="en-US" sz="2700" b="1">
              <a:latin typeface="Amasis MT Pro Medium" panose="02040604050005020304" pitchFamily="18" charset="0"/>
              <a:cs typeface="AngsanaUPC" pitchFamily="18" charset="-34"/>
            </a:endParaRPr>
          </a:p>
          <a:p>
            <a:pPr>
              <a:lnSpc>
                <a:spcPct val="90000"/>
              </a:lnSpc>
            </a:pPr>
            <a:r>
              <a:rPr lang="en-US" sz="2700" b="1">
                <a:latin typeface="Amasis MT Pro Medium" panose="02040604050005020304" pitchFamily="18" charset="0"/>
                <a:cs typeface="AngsanaUPC" pitchFamily="18" charset="-34"/>
              </a:rPr>
              <a:t>Reduces the risk of breast carcinoma and ovarian carcinoma</a:t>
            </a:r>
          </a:p>
          <a:p>
            <a:pPr>
              <a:lnSpc>
                <a:spcPct val="90000"/>
              </a:lnSpc>
            </a:pPr>
            <a:endParaRPr lang="en-US" sz="2700" b="1">
              <a:latin typeface="Amasis MT Pro Medium" panose="02040604050005020304" pitchFamily="18" charset="0"/>
              <a:cs typeface="AngsanaUPC" pitchFamily="18" charset="-34"/>
            </a:endParaRPr>
          </a:p>
          <a:p>
            <a:pPr>
              <a:lnSpc>
                <a:spcPct val="90000"/>
              </a:lnSpc>
            </a:pPr>
            <a:r>
              <a:rPr lang="en-US" sz="2700" b="1">
                <a:latin typeface="Amasis MT Pro Medium" panose="02040604050005020304" pitchFamily="18" charset="0"/>
                <a:cs typeface="AngsanaUPC" pitchFamily="18" charset="-34"/>
              </a:rPr>
              <a:t>Helps to shed extra weight gained during pregnancy</a:t>
            </a:r>
          </a:p>
        </p:txBody>
      </p:sp>
      <p:sp>
        <p:nvSpPr>
          <p:cNvPr id="12" name="Arc 11">
            <a:extLst>
              <a:ext uri="{FF2B5EF4-FFF2-40B4-BE49-F238E27FC236}">
                <a16:creationId xmlns:a16="http://schemas.microsoft.com/office/drawing/2014/main" id="{920E13D1-85D7-4BF3-9903-59216CB5A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365355" y="705367"/>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8281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2" name="Title 1"/>
          <p:cNvSpPr>
            <a:spLocks noGrp="1"/>
          </p:cNvSpPr>
          <p:nvPr>
            <p:ph type="title"/>
          </p:nvPr>
        </p:nvSpPr>
        <p:spPr>
          <a:xfrm>
            <a:off x="2558716" y="955309"/>
            <a:ext cx="7074568" cy="2898975"/>
          </a:xfrm>
        </p:spPr>
        <p:txBody>
          <a:bodyPr vert="horz" lIns="91440" tIns="45720" rIns="91440" bIns="45720" rtlCol="0" anchor="b">
            <a:normAutofit/>
          </a:bodyPr>
          <a:lstStyle/>
          <a:p>
            <a:pPr>
              <a:lnSpc>
                <a:spcPct val="90000"/>
              </a:lnSpc>
            </a:pPr>
            <a:r>
              <a:rPr lang="en-US" sz="6600" kern="1200" dirty="0">
                <a:solidFill>
                  <a:srgbClr val="FFFFFF"/>
                </a:solidFill>
                <a:latin typeface="+mj-lt"/>
                <a:ea typeface="+mj-ea"/>
                <a:cs typeface="+mj-cs"/>
              </a:rPr>
              <a:t>ANATOMY AND PHYSIOLOGY</a:t>
            </a:r>
            <a:br>
              <a:rPr lang="en-US" sz="6600" kern="1200" dirty="0">
                <a:solidFill>
                  <a:srgbClr val="FFFFFF"/>
                </a:solidFill>
                <a:latin typeface="+mj-lt"/>
                <a:ea typeface="+mj-ea"/>
                <a:cs typeface="+mj-cs"/>
              </a:rPr>
            </a:br>
            <a:endParaRPr lang="en-US" sz="6600" kern="1200" dirty="0">
              <a:solidFill>
                <a:srgbClr val="FFFFFF"/>
              </a:solidFill>
              <a:latin typeface="+mj-lt"/>
              <a:ea typeface="+mj-ea"/>
              <a:cs typeface="+mj-cs"/>
            </a:endParaRPr>
          </a:p>
        </p:txBody>
      </p:sp>
      <p:sp>
        <p:nvSpPr>
          <p:cNvPr id="11"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0520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739128" y="638089"/>
            <a:ext cx="4818888" cy="1476801"/>
          </a:xfrm>
        </p:spPr>
        <p:txBody>
          <a:bodyPr anchor="b">
            <a:normAutofit/>
          </a:bodyPr>
          <a:lstStyle/>
          <a:p>
            <a:pPr>
              <a:lnSpc>
                <a:spcPct val="90000"/>
              </a:lnSpc>
            </a:pPr>
            <a:r>
              <a:rPr lang="en-AU" sz="4600" b="1">
                <a:latin typeface="Aharoni" panose="02010803020104030203" pitchFamily="2" charset="-79"/>
                <a:cs typeface="Aharoni" panose="02010803020104030203" pitchFamily="2" charset="-79"/>
              </a:rPr>
              <a:t>BREAST ANATOMY</a:t>
            </a:r>
          </a:p>
        </p:txBody>
      </p:sp>
      <p:pic>
        <p:nvPicPr>
          <p:cNvPr id="1027" name="Picture 3" descr="C:\Users\savithi\Desktop\structure_of_breast-141A0BF49D20D6D15C5.png"/>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30936" y="1416006"/>
            <a:ext cx="5458968" cy="4025988"/>
          </a:xfrm>
          <a:prstGeom prst="rect">
            <a:avLst/>
          </a:prstGeom>
          <a:noFill/>
          <a:extLst>
            <a:ext uri="{909E8E84-426E-40DD-AFC4-6F175D3DCCD1}">
              <a14:hiddenFill xmlns:a14="http://schemas.microsoft.com/office/drawing/2010/main">
                <a:solidFill>
                  <a:srgbClr val="FFFFFF"/>
                </a:solidFill>
              </a14:hiddenFill>
            </a:ext>
          </a:extLst>
        </p:spPr>
      </p:pic>
      <p:sp>
        <p:nvSpPr>
          <p:cNvPr id="1037"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739128" y="2664886"/>
            <a:ext cx="4818888" cy="3550789"/>
          </a:xfrm>
        </p:spPr>
        <p:txBody>
          <a:bodyPr anchor="t">
            <a:normAutofit/>
          </a:bodyPr>
          <a:lstStyle/>
          <a:p>
            <a:r>
              <a:rPr lang="en-AU" sz="2200" b="1" dirty="0">
                <a:latin typeface="Amasis MT Pro Medium" panose="02040604050005020304" pitchFamily="18" charset="0"/>
              </a:rPr>
              <a:t>Glandular tissue    </a:t>
            </a:r>
          </a:p>
          <a:p>
            <a:pPr marL="0" indent="0">
              <a:buNone/>
            </a:pPr>
            <a:endParaRPr lang="en-AU" sz="2200" b="1" dirty="0">
              <a:latin typeface="Amasis MT Pro Medium" panose="02040604050005020304" pitchFamily="18" charset="0"/>
            </a:endParaRPr>
          </a:p>
          <a:p>
            <a:pPr marL="0" indent="0">
              <a:buNone/>
            </a:pPr>
            <a:r>
              <a:rPr lang="en-AU" sz="2200" b="1" dirty="0">
                <a:solidFill>
                  <a:schemeClr val="tx2">
                    <a:lumMod val="60000"/>
                    <a:lumOff val="40000"/>
                  </a:schemeClr>
                </a:solidFill>
                <a:latin typeface="Amasis MT Pro Medium" panose="02040604050005020304" pitchFamily="18" charset="0"/>
              </a:rPr>
              <a:t>LOCATION:</a:t>
            </a:r>
          </a:p>
          <a:p>
            <a:pPr marL="0" indent="0">
              <a:buNone/>
            </a:pPr>
            <a:r>
              <a:rPr lang="en-AU" sz="2200" b="1" dirty="0">
                <a:latin typeface="Amasis MT Pro Medium" panose="02040604050005020304" pitchFamily="18" charset="0"/>
              </a:rPr>
              <a:t>-pectoral region </a:t>
            </a:r>
          </a:p>
          <a:p>
            <a:pPr marL="0" indent="0">
              <a:buNone/>
            </a:pPr>
            <a:r>
              <a:rPr lang="en-AU" sz="2200" b="1" dirty="0">
                <a:latin typeface="Amasis MT Pro Medium" panose="02040604050005020304" pitchFamily="18" charset="0"/>
              </a:rPr>
              <a:t>-four quadrants  </a:t>
            </a:r>
          </a:p>
          <a:p>
            <a:pPr marL="0" indent="0">
              <a:buNone/>
            </a:pPr>
            <a:r>
              <a:rPr lang="en-AU" sz="2200" b="1" dirty="0">
                <a:solidFill>
                  <a:schemeClr val="tx2">
                    <a:lumMod val="60000"/>
                    <a:lumOff val="40000"/>
                  </a:schemeClr>
                </a:solidFill>
                <a:latin typeface="Amasis MT Pro Medium" panose="02040604050005020304" pitchFamily="18" charset="0"/>
              </a:rPr>
              <a:t> EXTENT :</a:t>
            </a:r>
          </a:p>
        </p:txBody>
      </p:sp>
    </p:spTree>
    <p:extLst>
      <p:ext uri="{BB962C8B-B14F-4D97-AF65-F5344CB8AC3E}">
        <p14:creationId xmlns:p14="http://schemas.microsoft.com/office/powerpoint/2010/main" val="2034025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838200" y="365125"/>
            <a:ext cx="5393361" cy="1325563"/>
          </a:xfrm>
        </p:spPr>
        <p:txBody>
          <a:bodyPr>
            <a:normAutofit/>
          </a:bodyPr>
          <a:lstStyle/>
          <a:p>
            <a:pPr>
              <a:lnSpc>
                <a:spcPct val="90000"/>
              </a:lnSpc>
            </a:pPr>
            <a:r>
              <a:rPr lang="en-AU" b="1">
                <a:latin typeface="Aharoni" panose="02010803020104030203" pitchFamily="2" charset="-79"/>
                <a:cs typeface="Aharoni" panose="02010803020104030203" pitchFamily="2" charset="-79"/>
              </a:rPr>
              <a:t>STRUCTURE OF THE BREAST </a:t>
            </a:r>
          </a:p>
        </p:txBody>
      </p:sp>
      <p:sp>
        <p:nvSpPr>
          <p:cNvPr id="3" name="Content Placeholder 2"/>
          <p:cNvSpPr>
            <a:spLocks noGrp="1"/>
          </p:cNvSpPr>
          <p:nvPr>
            <p:ph idx="1"/>
          </p:nvPr>
        </p:nvSpPr>
        <p:spPr>
          <a:xfrm>
            <a:off x="838200" y="1825625"/>
            <a:ext cx="5393361" cy="4351338"/>
          </a:xfrm>
        </p:spPr>
        <p:txBody>
          <a:bodyPr>
            <a:normAutofit/>
          </a:bodyPr>
          <a:lstStyle/>
          <a:p>
            <a:pPr marL="0" indent="0">
              <a:lnSpc>
                <a:spcPct val="90000"/>
              </a:lnSpc>
              <a:buNone/>
            </a:pPr>
            <a:r>
              <a:rPr lang="en-AU" sz="3000" b="1" u="sng" dirty="0">
                <a:latin typeface="Amasis MT Pro Medium" panose="02040604050005020304" pitchFamily="18" charset="0"/>
              </a:rPr>
              <a:t>The skin</a:t>
            </a:r>
          </a:p>
          <a:p>
            <a:pPr marL="0" indent="0">
              <a:lnSpc>
                <a:spcPct val="90000"/>
              </a:lnSpc>
              <a:buNone/>
            </a:pPr>
            <a:r>
              <a:rPr lang="en-AU" sz="3000" b="1" dirty="0">
                <a:latin typeface="Amasis MT Pro Medium" panose="02040604050005020304" pitchFamily="18" charset="0"/>
              </a:rPr>
              <a:t>-Nipple:</a:t>
            </a:r>
          </a:p>
          <a:p>
            <a:pPr marL="0" indent="0">
              <a:lnSpc>
                <a:spcPct val="90000"/>
              </a:lnSpc>
              <a:buNone/>
            </a:pPr>
            <a:r>
              <a:rPr lang="en-AU" sz="3000" b="1" dirty="0">
                <a:latin typeface="Amasis MT Pro Medium" panose="02040604050005020304" pitchFamily="18" charset="0"/>
              </a:rPr>
              <a:t>Rich in its nerve supply and has many sensory end organs </a:t>
            </a:r>
          </a:p>
          <a:p>
            <a:pPr marL="0" indent="0">
              <a:lnSpc>
                <a:spcPct val="90000"/>
              </a:lnSpc>
              <a:buNone/>
            </a:pPr>
            <a:r>
              <a:rPr lang="en-AU" sz="3000" b="1" dirty="0">
                <a:latin typeface="Amasis MT Pro Medium" panose="02040604050005020304" pitchFamily="18" charset="0"/>
              </a:rPr>
              <a:t>-Areola:</a:t>
            </a:r>
          </a:p>
          <a:p>
            <a:pPr marL="0" indent="0">
              <a:lnSpc>
                <a:spcPct val="90000"/>
              </a:lnSpc>
              <a:buNone/>
            </a:pPr>
            <a:r>
              <a:rPr lang="en-AU" sz="3000" b="1" dirty="0">
                <a:latin typeface="Amasis MT Pro Medium" panose="02040604050005020304" pitchFamily="18" charset="0"/>
              </a:rPr>
              <a:t>Rich in modified sweat glands, Oily secretions-Lubricate, preventing them from cracking</a:t>
            </a:r>
          </a:p>
          <a:p>
            <a:pPr marL="0" indent="0">
              <a:lnSpc>
                <a:spcPct val="90000"/>
              </a:lnSpc>
              <a:buNone/>
            </a:pPr>
            <a:endParaRPr lang="en-AU" sz="3000" dirty="0">
              <a:latin typeface="Amasis MT Pro Medium" panose="02040604050005020304" pitchFamily="18" charset="0"/>
            </a:endParaRPr>
          </a:p>
        </p:txBody>
      </p:sp>
      <p:pic>
        <p:nvPicPr>
          <p:cNvPr id="1026" name="Picture 2" descr="C:\Users\savithi\Desktop\download.jpg"/>
          <p:cNvPicPr>
            <a:picLocks noChangeAspect="1" noChangeArrowheads="1"/>
          </p:cNvPicPr>
          <p:nvPr/>
        </p:nvPicPr>
        <p:blipFill>
          <a:blip r:embed="rId3">
            <a:extLst>
              <a:ext uri="{28A0092B-C50C-407E-A947-70E740481C1C}">
                <a14:useLocalDpi xmlns:a14="http://schemas.microsoft.com/office/drawing/2010/main" val="0"/>
              </a:ext>
            </a:extLst>
          </a:blip>
          <a:srcRect l="26054"/>
          <a:stretch>
            <a:fillRect/>
          </a:stretch>
        </p:blipFill>
        <p:spPr bwMode="auto">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103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35"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2502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838200" y="365125"/>
            <a:ext cx="5393361" cy="1325563"/>
          </a:xfrm>
        </p:spPr>
        <p:txBody>
          <a:bodyPr>
            <a:normAutofit/>
          </a:bodyPr>
          <a:lstStyle/>
          <a:p>
            <a:pPr>
              <a:lnSpc>
                <a:spcPct val="90000"/>
              </a:lnSpc>
            </a:pPr>
            <a:br>
              <a:rPr lang="en-AU" dirty="0"/>
            </a:br>
            <a:endParaRPr lang="en-AU"/>
          </a:p>
        </p:txBody>
      </p:sp>
      <p:sp>
        <p:nvSpPr>
          <p:cNvPr id="3" name="Content Placeholder 2"/>
          <p:cNvSpPr>
            <a:spLocks noGrp="1"/>
          </p:cNvSpPr>
          <p:nvPr>
            <p:ph idx="1"/>
          </p:nvPr>
        </p:nvSpPr>
        <p:spPr>
          <a:xfrm>
            <a:off x="838200" y="1825625"/>
            <a:ext cx="5393361" cy="4351338"/>
          </a:xfrm>
        </p:spPr>
        <p:txBody>
          <a:bodyPr>
            <a:normAutofit/>
          </a:bodyPr>
          <a:lstStyle/>
          <a:p>
            <a:pPr marL="0" indent="0">
              <a:lnSpc>
                <a:spcPct val="90000"/>
              </a:lnSpc>
              <a:buNone/>
            </a:pPr>
            <a:r>
              <a:rPr lang="en-AU" b="1" u="sng" dirty="0">
                <a:latin typeface="Amasis MT Pro Medium" panose="02040604050005020304" pitchFamily="18" charset="0"/>
              </a:rPr>
              <a:t>The parenchyma </a:t>
            </a:r>
          </a:p>
          <a:p>
            <a:pPr marL="0" indent="0">
              <a:lnSpc>
                <a:spcPct val="90000"/>
              </a:lnSpc>
              <a:buNone/>
            </a:pPr>
            <a:r>
              <a:rPr lang="en-AU" dirty="0">
                <a:latin typeface="Amasis MT Pro Medium" panose="02040604050005020304" pitchFamily="18" charset="0"/>
              </a:rPr>
              <a:t>   -</a:t>
            </a:r>
            <a:r>
              <a:rPr lang="en-AU" b="1" dirty="0">
                <a:latin typeface="Amasis MT Pro Medium" panose="02040604050005020304" pitchFamily="18" charset="0"/>
              </a:rPr>
              <a:t>Glandular tissue </a:t>
            </a:r>
          </a:p>
          <a:p>
            <a:pPr marL="0" indent="0">
              <a:lnSpc>
                <a:spcPct val="90000"/>
              </a:lnSpc>
              <a:buNone/>
            </a:pPr>
            <a:r>
              <a:rPr lang="en-AU" b="1" dirty="0">
                <a:latin typeface="Amasis MT Pro Medium" panose="02040604050005020304" pitchFamily="18" charset="0"/>
              </a:rPr>
              <a:t>   -15-20 lobes</a:t>
            </a:r>
          </a:p>
          <a:p>
            <a:pPr marL="0" indent="0">
              <a:lnSpc>
                <a:spcPct val="90000"/>
              </a:lnSpc>
              <a:buNone/>
            </a:pPr>
            <a:r>
              <a:rPr lang="en-AU" b="1" dirty="0">
                <a:latin typeface="Amasis MT Pro Medium" panose="02040604050005020304" pitchFamily="18" charset="0"/>
              </a:rPr>
              <a:t>   -Each lobe-cluster of         alveoli</a:t>
            </a:r>
          </a:p>
          <a:p>
            <a:pPr marL="0" indent="0">
              <a:lnSpc>
                <a:spcPct val="90000"/>
              </a:lnSpc>
              <a:buNone/>
            </a:pPr>
            <a:r>
              <a:rPr lang="en-AU" b="1" dirty="0">
                <a:latin typeface="Amasis MT Pro Medium" panose="02040604050005020304" pitchFamily="18" charset="0"/>
              </a:rPr>
              <a:t>   -drained by a lactiferous duct </a:t>
            </a:r>
          </a:p>
          <a:p>
            <a:pPr marL="0" indent="0">
              <a:lnSpc>
                <a:spcPct val="90000"/>
              </a:lnSpc>
              <a:buNone/>
            </a:pPr>
            <a:r>
              <a:rPr lang="en-AU" b="1" dirty="0">
                <a:latin typeface="Amasis MT Pro Medium" panose="02040604050005020304" pitchFamily="18" charset="0"/>
              </a:rPr>
              <a:t>   -lactiferous sinus </a:t>
            </a:r>
          </a:p>
        </p:txBody>
      </p:sp>
      <p:pic>
        <p:nvPicPr>
          <p:cNvPr id="2050" name="Picture 2" descr="C:\Users\savithi\Desktop\163-ch-19lecturepresentation-62-638.jpg"/>
          <p:cNvPicPr>
            <a:picLocks noChangeAspect="1" noChangeArrowheads="1"/>
          </p:cNvPicPr>
          <p:nvPr/>
        </p:nvPicPr>
        <p:blipFill>
          <a:blip r:embed="rId2">
            <a:extLst>
              <a:ext uri="{28A0092B-C50C-407E-A947-70E740481C1C}">
                <a14:useLocalDpi xmlns:a14="http://schemas.microsoft.com/office/drawing/2010/main" val="0"/>
              </a:ext>
            </a:extLst>
          </a:blip>
          <a:srcRect l="6741" r="18258" b="-1"/>
          <a:stretch>
            <a:fillRect/>
          </a:stretch>
        </p:blipFill>
        <p:spPr bwMode="auto">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2057"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59"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8294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63991" y="2378137"/>
            <a:ext cx="5672667" cy="3823708"/>
          </a:xfrm>
        </p:spPr>
        <p:txBody>
          <a:bodyPr anchor="ctr">
            <a:normAutofit fontScale="92500" lnSpcReduction="20000"/>
          </a:bodyPr>
          <a:lstStyle/>
          <a:p>
            <a:pPr marL="0" indent="0">
              <a:buNone/>
            </a:pPr>
            <a:r>
              <a:rPr lang="en-AU" sz="2800" b="1" u="sng" dirty="0">
                <a:latin typeface="Amasis MT Pro Medium" panose="02040604050005020304" pitchFamily="18" charset="0"/>
              </a:rPr>
              <a:t>Alveolar epithelium: </a:t>
            </a:r>
          </a:p>
          <a:p>
            <a:pPr marL="0" indent="0">
              <a:buNone/>
            </a:pPr>
            <a:r>
              <a:rPr lang="en-AU" sz="2800" b="1" dirty="0">
                <a:latin typeface="Amasis MT Pro Medium" panose="02040604050005020304" pitchFamily="18" charset="0"/>
              </a:rPr>
              <a:t>Resting phase-cuboidal</a:t>
            </a:r>
          </a:p>
          <a:p>
            <a:pPr marL="0" indent="0">
              <a:buNone/>
            </a:pPr>
            <a:r>
              <a:rPr lang="en-AU" sz="2800" b="1" dirty="0">
                <a:latin typeface="Amasis MT Pro Medium" panose="02040604050005020304" pitchFamily="18" charset="0"/>
              </a:rPr>
              <a:t>Lactation        -columnar </a:t>
            </a:r>
          </a:p>
          <a:p>
            <a:r>
              <a:rPr lang="en-AU" sz="2800" b="1" dirty="0" err="1">
                <a:latin typeface="Amasis MT Pro Medium" panose="02040604050005020304" pitchFamily="18" charset="0"/>
              </a:rPr>
              <a:t>Myoepitheliocytes</a:t>
            </a:r>
            <a:r>
              <a:rPr lang="en-AU" sz="2800" b="1" dirty="0">
                <a:latin typeface="Amasis MT Pro Medium" panose="02040604050005020304" pitchFamily="18" charset="0"/>
              </a:rPr>
              <a:t>:</a:t>
            </a:r>
          </a:p>
          <a:p>
            <a:pPr marL="0" indent="0">
              <a:buNone/>
            </a:pPr>
            <a:r>
              <a:rPr lang="en-AU" sz="2800" b="1" dirty="0">
                <a:latin typeface="Amasis MT Pro Medium" panose="02040604050005020304" pitchFamily="18" charset="0"/>
              </a:rPr>
              <a:t>   </a:t>
            </a:r>
          </a:p>
          <a:p>
            <a:pPr marL="0" indent="0">
              <a:buNone/>
            </a:pPr>
            <a:r>
              <a:rPr lang="en-AU" sz="2800" b="1" u="sng" dirty="0">
                <a:latin typeface="Amasis MT Pro Medium" panose="02040604050005020304" pitchFamily="18" charset="0"/>
              </a:rPr>
              <a:t>The stroma </a:t>
            </a:r>
          </a:p>
          <a:p>
            <a:pPr marL="0" indent="0">
              <a:buNone/>
            </a:pPr>
            <a:r>
              <a:rPr lang="en-AU" sz="2800" b="1" dirty="0">
                <a:latin typeface="Amasis MT Pro Medium" panose="02040604050005020304" pitchFamily="18" charset="0"/>
              </a:rPr>
              <a:t>-fibrous, fatty</a:t>
            </a:r>
          </a:p>
          <a:p>
            <a:pPr marL="0" indent="0">
              <a:buNone/>
            </a:pPr>
            <a:r>
              <a:rPr lang="en-AU" sz="2800" b="1" dirty="0">
                <a:latin typeface="Amasis MT Pro Medium" panose="02040604050005020304" pitchFamily="18" charset="0"/>
              </a:rPr>
              <a:t>-fibrous-----suspensory ligaments of Cooper </a:t>
            </a:r>
          </a:p>
          <a:p>
            <a:pPr marL="0" indent="0">
              <a:buNone/>
            </a:pPr>
            <a:endParaRPr lang="en-AU" sz="2800" b="1" dirty="0">
              <a:latin typeface="Amasis MT Pro Medium" panose="02040604050005020304" pitchFamily="18" charset="0"/>
            </a:endParaRPr>
          </a:p>
        </p:txBody>
      </p:sp>
      <p:sp>
        <p:nvSpPr>
          <p:cNvPr id="18" name="Rectangle 1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C:\Users\savithi\Desktop\breast_anatomy - Copy.jp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0493" y="1999175"/>
            <a:ext cx="4223252" cy="2919933"/>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032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1" name="Rectangle 3090">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1336390"/>
            <a:ext cx="6155988" cy="1182927"/>
          </a:xfrm>
        </p:spPr>
        <p:txBody>
          <a:bodyPr anchor="b">
            <a:normAutofit/>
          </a:bodyPr>
          <a:lstStyle/>
          <a:p>
            <a:r>
              <a:rPr lang="en-AU" sz="5600" b="1">
                <a:latin typeface="Aharoni" panose="02010803020104030203" pitchFamily="2" charset="-79"/>
                <a:cs typeface="Aharoni" panose="02010803020104030203" pitchFamily="2" charset="-79"/>
              </a:rPr>
              <a:t>BLOOD SUPPLY </a:t>
            </a:r>
          </a:p>
        </p:txBody>
      </p:sp>
      <p:cxnSp>
        <p:nvCxnSpPr>
          <p:cNvPr id="3092" name="Straight Connector 309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803776" y="2829330"/>
            <a:ext cx="6190412" cy="3344459"/>
          </a:xfrm>
        </p:spPr>
        <p:txBody>
          <a:bodyPr anchor="t">
            <a:normAutofit/>
          </a:bodyPr>
          <a:lstStyle/>
          <a:p>
            <a:pPr marL="0" indent="0">
              <a:lnSpc>
                <a:spcPct val="90000"/>
              </a:lnSpc>
              <a:buNone/>
            </a:pPr>
            <a:r>
              <a:rPr lang="en-AU" sz="2000" b="1">
                <a:solidFill>
                  <a:schemeClr val="tx1">
                    <a:alpha val="80000"/>
                  </a:schemeClr>
                </a:solidFill>
                <a:latin typeface="Amasis MT Pro Medium" panose="02040604050005020304" pitchFamily="18" charset="0"/>
              </a:rPr>
              <a:t>ARTERIAL SUPPLY:</a:t>
            </a:r>
          </a:p>
          <a:p>
            <a:pPr marL="0" indent="0">
              <a:lnSpc>
                <a:spcPct val="90000"/>
              </a:lnSpc>
              <a:buNone/>
            </a:pPr>
            <a:r>
              <a:rPr lang="en-AU" sz="2000" b="1">
                <a:solidFill>
                  <a:schemeClr val="tx1">
                    <a:alpha val="80000"/>
                  </a:schemeClr>
                </a:solidFill>
                <a:latin typeface="Amasis MT Pro Medium" panose="02040604050005020304" pitchFamily="18" charset="0"/>
              </a:rPr>
              <a:t>1.Internal thoracic artery</a:t>
            </a:r>
          </a:p>
          <a:p>
            <a:pPr marL="0" indent="0">
              <a:lnSpc>
                <a:spcPct val="90000"/>
              </a:lnSpc>
              <a:buNone/>
            </a:pPr>
            <a:endParaRPr lang="en-AU" sz="2000" b="1">
              <a:solidFill>
                <a:schemeClr val="tx1">
                  <a:alpha val="80000"/>
                </a:schemeClr>
              </a:solidFill>
              <a:latin typeface="Amasis MT Pro Medium" panose="02040604050005020304" pitchFamily="18" charset="0"/>
            </a:endParaRPr>
          </a:p>
          <a:p>
            <a:pPr marL="0" indent="0">
              <a:lnSpc>
                <a:spcPct val="90000"/>
              </a:lnSpc>
              <a:buNone/>
            </a:pPr>
            <a:r>
              <a:rPr lang="en-AU" sz="2000" b="1">
                <a:solidFill>
                  <a:schemeClr val="tx1">
                    <a:alpha val="80000"/>
                  </a:schemeClr>
                </a:solidFill>
                <a:latin typeface="Amasis MT Pro Medium" panose="02040604050005020304" pitchFamily="18" charset="0"/>
              </a:rPr>
              <a:t>2.Lateral thoracic,superior thoracic,acromiothoracic arteries </a:t>
            </a:r>
          </a:p>
          <a:p>
            <a:pPr marL="0" indent="0">
              <a:lnSpc>
                <a:spcPct val="90000"/>
              </a:lnSpc>
              <a:buNone/>
            </a:pPr>
            <a:endParaRPr lang="en-AU" sz="2000" b="1">
              <a:solidFill>
                <a:schemeClr val="tx1">
                  <a:alpha val="80000"/>
                </a:schemeClr>
              </a:solidFill>
              <a:latin typeface="Amasis MT Pro Medium" panose="02040604050005020304" pitchFamily="18" charset="0"/>
            </a:endParaRPr>
          </a:p>
          <a:p>
            <a:pPr marL="0" indent="0">
              <a:lnSpc>
                <a:spcPct val="90000"/>
              </a:lnSpc>
              <a:buNone/>
            </a:pPr>
            <a:r>
              <a:rPr lang="en-AU" sz="2000" b="1">
                <a:solidFill>
                  <a:schemeClr val="tx1">
                    <a:alpha val="80000"/>
                  </a:schemeClr>
                </a:solidFill>
                <a:latin typeface="Amasis MT Pro Medium" panose="02040604050005020304" pitchFamily="18" charset="0"/>
              </a:rPr>
              <a:t>3.Lateral branches of posterior </a:t>
            </a:r>
          </a:p>
          <a:p>
            <a:pPr marL="0" indent="0">
              <a:lnSpc>
                <a:spcPct val="90000"/>
              </a:lnSpc>
              <a:buNone/>
            </a:pPr>
            <a:r>
              <a:rPr lang="en-AU" sz="2000" b="1">
                <a:solidFill>
                  <a:schemeClr val="tx1">
                    <a:alpha val="80000"/>
                  </a:schemeClr>
                </a:solidFill>
                <a:latin typeface="Amasis MT Pro Medium" panose="02040604050005020304" pitchFamily="18" charset="0"/>
              </a:rPr>
              <a:t>intercostal arteries </a:t>
            </a:r>
          </a:p>
          <a:p>
            <a:pPr marL="0" indent="0">
              <a:lnSpc>
                <a:spcPct val="90000"/>
              </a:lnSpc>
              <a:buNone/>
            </a:pPr>
            <a:endParaRPr lang="en-AU" sz="2000" b="1">
              <a:solidFill>
                <a:schemeClr val="tx1">
                  <a:alpha val="80000"/>
                </a:schemeClr>
              </a:solidFill>
              <a:latin typeface="Amasis MT Pro Medium" panose="02040604050005020304" pitchFamily="18" charset="0"/>
            </a:endParaRPr>
          </a:p>
          <a:p>
            <a:pPr marL="0" indent="0">
              <a:lnSpc>
                <a:spcPct val="90000"/>
              </a:lnSpc>
              <a:buNone/>
            </a:pPr>
            <a:r>
              <a:rPr lang="en-AU" sz="2000" b="1">
                <a:solidFill>
                  <a:schemeClr val="tx1">
                    <a:alpha val="80000"/>
                  </a:schemeClr>
                </a:solidFill>
                <a:latin typeface="Amasis MT Pro Medium" panose="02040604050005020304" pitchFamily="18" charset="0"/>
              </a:rPr>
              <a:t> </a:t>
            </a:r>
          </a:p>
        </p:txBody>
      </p:sp>
      <p:pic>
        <p:nvPicPr>
          <p:cNvPr id="3074" name="Picture 2" descr="C:\Users\savithi\Desktop\blood_supply_of_breast1344406124468-14050D95D775FDF4250.jp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72653" y="1349389"/>
            <a:ext cx="3548404" cy="4811395"/>
          </a:xfrm>
          <a:prstGeom prst="rect">
            <a:avLst/>
          </a:prstGeom>
          <a:noFill/>
          <a:extLst>
            <a:ext uri="{909E8E84-426E-40DD-AFC4-6F175D3DCCD1}">
              <a14:hiddenFill xmlns:a14="http://schemas.microsoft.com/office/drawing/2010/main">
                <a:solidFill>
                  <a:srgbClr val="FFFFFF"/>
                </a:solidFill>
              </a14:hiddenFill>
            </a:ext>
          </a:extLst>
        </p:spPr>
      </p:pic>
      <p:sp>
        <p:nvSpPr>
          <p:cNvPr id="309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309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598754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4" name="Rectangle 4123">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p:cNvSpPr>
            <a:spLocks noGrp="1"/>
          </p:cNvSpPr>
          <p:nvPr>
            <p:ph idx="1"/>
          </p:nvPr>
        </p:nvSpPr>
        <p:spPr>
          <a:xfrm>
            <a:off x="838200" y="1825625"/>
            <a:ext cx="5393361" cy="4351338"/>
          </a:xfrm>
        </p:spPr>
        <p:txBody>
          <a:bodyPr>
            <a:normAutofit/>
          </a:bodyPr>
          <a:lstStyle/>
          <a:p>
            <a:pPr marL="0" indent="0">
              <a:lnSpc>
                <a:spcPct val="90000"/>
              </a:lnSpc>
              <a:buNone/>
            </a:pPr>
            <a:r>
              <a:rPr lang="en-AU" sz="2200" b="1" u="sng">
                <a:latin typeface="Amasis MT Pro Medium" panose="02040604050005020304" pitchFamily="18" charset="0"/>
              </a:rPr>
              <a:t>Venous drainage:</a:t>
            </a:r>
          </a:p>
          <a:p>
            <a:pPr marL="0" indent="0">
              <a:lnSpc>
                <a:spcPct val="90000"/>
              </a:lnSpc>
              <a:buNone/>
            </a:pPr>
            <a:endParaRPr lang="en-AU" sz="2200" b="1" u="sng">
              <a:latin typeface="Amasis MT Pro Medium" panose="02040604050005020304" pitchFamily="18" charset="0"/>
            </a:endParaRPr>
          </a:p>
          <a:p>
            <a:pPr>
              <a:lnSpc>
                <a:spcPct val="90000"/>
              </a:lnSpc>
            </a:pPr>
            <a:r>
              <a:rPr lang="en-AU" sz="2200" b="1">
                <a:latin typeface="Amasis MT Pro Medium" panose="02040604050005020304" pitchFamily="18" charset="0"/>
              </a:rPr>
              <a:t>Anastomotic venous circle </a:t>
            </a:r>
          </a:p>
          <a:p>
            <a:pPr>
              <a:lnSpc>
                <a:spcPct val="90000"/>
              </a:lnSpc>
            </a:pPr>
            <a:endParaRPr lang="en-AU" sz="2200" b="1">
              <a:latin typeface="Amasis MT Pro Medium" panose="02040604050005020304" pitchFamily="18" charset="0"/>
            </a:endParaRPr>
          </a:p>
          <a:p>
            <a:pPr marL="0" indent="0">
              <a:lnSpc>
                <a:spcPct val="90000"/>
              </a:lnSpc>
              <a:buNone/>
            </a:pPr>
            <a:r>
              <a:rPr lang="en-AU" sz="2200" b="1" u="sng">
                <a:latin typeface="Amasis MT Pro Medium" panose="02040604050005020304" pitchFamily="18" charset="0"/>
              </a:rPr>
              <a:t>Nerve supply:</a:t>
            </a:r>
          </a:p>
          <a:p>
            <a:pPr>
              <a:lnSpc>
                <a:spcPct val="90000"/>
              </a:lnSpc>
            </a:pPr>
            <a:r>
              <a:rPr lang="en-AU" sz="2200" b="1">
                <a:latin typeface="Amasis MT Pro Medium" panose="02040604050005020304" pitchFamily="18" charset="0"/>
              </a:rPr>
              <a:t>Anterior and lateral cutaneous branches of 4</a:t>
            </a:r>
            <a:r>
              <a:rPr lang="en-AU" sz="2200" b="1" baseline="30000">
                <a:latin typeface="Amasis MT Pro Medium" panose="02040604050005020304" pitchFamily="18" charset="0"/>
              </a:rPr>
              <a:t>th</a:t>
            </a:r>
            <a:r>
              <a:rPr lang="en-AU" sz="2200" b="1">
                <a:latin typeface="Amasis MT Pro Medium" panose="02040604050005020304" pitchFamily="18" charset="0"/>
              </a:rPr>
              <a:t> to 6</a:t>
            </a:r>
            <a:r>
              <a:rPr lang="en-AU" sz="2200" b="1" baseline="30000">
                <a:latin typeface="Amasis MT Pro Medium" panose="02040604050005020304" pitchFamily="18" charset="0"/>
              </a:rPr>
              <a:t>th </a:t>
            </a:r>
            <a:r>
              <a:rPr lang="en-AU" sz="2200" b="1">
                <a:latin typeface="Amasis MT Pro Medium" panose="02040604050005020304" pitchFamily="18" charset="0"/>
              </a:rPr>
              <a:t>intercostal nerves </a:t>
            </a:r>
          </a:p>
          <a:p>
            <a:pPr>
              <a:lnSpc>
                <a:spcPct val="90000"/>
              </a:lnSpc>
            </a:pPr>
            <a:endParaRPr lang="en-AU" sz="2200" b="1">
              <a:latin typeface="Amasis MT Pro Medium" panose="02040604050005020304" pitchFamily="18" charset="0"/>
            </a:endParaRPr>
          </a:p>
          <a:p>
            <a:pPr>
              <a:lnSpc>
                <a:spcPct val="90000"/>
              </a:lnSpc>
            </a:pPr>
            <a:r>
              <a:rPr lang="en-AU" sz="2200" b="1">
                <a:latin typeface="Amasis MT Pro Medium" panose="02040604050005020304" pitchFamily="18" charset="0"/>
              </a:rPr>
              <a:t>Nerves do not control the secretion of milk </a:t>
            </a:r>
          </a:p>
          <a:p>
            <a:pPr marL="0" indent="0">
              <a:lnSpc>
                <a:spcPct val="90000"/>
              </a:lnSpc>
              <a:buNone/>
            </a:pPr>
            <a:endParaRPr lang="en-AU" sz="2200" b="1">
              <a:latin typeface="Amasis MT Pro Medium" panose="02040604050005020304" pitchFamily="18" charset="0"/>
            </a:endParaRPr>
          </a:p>
        </p:txBody>
      </p:sp>
      <p:pic>
        <p:nvPicPr>
          <p:cNvPr id="4098" name="Picture 2" descr="C:\Users\savithi\Desktop\breast_nerve_1.JPG"/>
          <p:cNvPicPr>
            <a:picLocks noChangeAspect="1" noChangeArrowheads="1"/>
          </p:cNvPicPr>
          <p:nvPr/>
        </p:nvPicPr>
        <p:blipFill>
          <a:blip r:embed="rId2">
            <a:extLst>
              <a:ext uri="{28A0092B-C50C-407E-A947-70E740481C1C}">
                <a14:useLocalDpi xmlns:a14="http://schemas.microsoft.com/office/drawing/2010/main" val="0"/>
              </a:ext>
            </a:extLst>
          </a:blip>
          <a:srcRect r="2" b="6668"/>
          <a:stretch>
            <a:fillRect/>
          </a:stretch>
        </p:blipFill>
        <p:spPr bwMode="auto">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4125"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126"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4547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9" name="Rectangle 6168">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838200" y="365125"/>
            <a:ext cx="10515599" cy="1325563"/>
          </a:xfrm>
        </p:spPr>
        <p:txBody>
          <a:bodyPr>
            <a:normAutofit/>
          </a:bodyPr>
          <a:lstStyle/>
          <a:p>
            <a:r>
              <a:rPr lang="en-AU" b="1" dirty="0">
                <a:latin typeface="Aharoni" panose="02010803020104030203" pitchFamily="2" charset="-79"/>
                <a:cs typeface="Aharoni" panose="02010803020104030203" pitchFamily="2" charset="-79"/>
              </a:rPr>
              <a:t>PHYSIOLOGY OF BREASTFEEDING</a:t>
            </a:r>
          </a:p>
        </p:txBody>
      </p:sp>
      <p:sp>
        <p:nvSpPr>
          <p:cNvPr id="3" name="Content Placeholder 2"/>
          <p:cNvSpPr>
            <a:spLocks noGrp="1"/>
          </p:cNvSpPr>
          <p:nvPr>
            <p:ph idx="1"/>
          </p:nvPr>
        </p:nvSpPr>
        <p:spPr>
          <a:xfrm>
            <a:off x="838200" y="1825625"/>
            <a:ext cx="5393361" cy="4351338"/>
          </a:xfrm>
        </p:spPr>
        <p:txBody>
          <a:bodyPr>
            <a:normAutofit/>
          </a:bodyPr>
          <a:lstStyle/>
          <a:p>
            <a:r>
              <a:rPr lang="en-AU" b="1" dirty="0">
                <a:latin typeface="Amasis MT Pro Medium" panose="02040604050005020304" pitchFamily="18" charset="0"/>
              </a:rPr>
              <a:t>Lactogenesis: complex phenomenon</a:t>
            </a:r>
          </a:p>
          <a:p>
            <a:endParaRPr lang="en-AU" b="1" dirty="0">
              <a:latin typeface="Amasis MT Pro Medium" panose="02040604050005020304" pitchFamily="18" charset="0"/>
            </a:endParaRPr>
          </a:p>
          <a:p>
            <a:r>
              <a:rPr lang="en-AU" b="1" dirty="0">
                <a:latin typeface="Amasis MT Pro Medium" panose="02040604050005020304" pitchFamily="18" charset="0"/>
              </a:rPr>
              <a:t>Prolactin reflex</a:t>
            </a:r>
          </a:p>
          <a:p>
            <a:endParaRPr lang="en-AU" b="1" dirty="0">
              <a:latin typeface="Amasis MT Pro Medium" panose="02040604050005020304" pitchFamily="18" charset="0"/>
            </a:endParaRPr>
          </a:p>
          <a:p>
            <a:r>
              <a:rPr lang="en-AU" b="1" dirty="0">
                <a:latin typeface="Amasis MT Pro Medium" panose="02040604050005020304" pitchFamily="18" charset="0"/>
              </a:rPr>
              <a:t>Oxytocin reflex</a:t>
            </a:r>
          </a:p>
        </p:txBody>
      </p:sp>
      <p:pic>
        <p:nvPicPr>
          <p:cNvPr id="6146" name="Picture 2" descr="C:\Users\savithi\Desktop\MassNurse_Oct_Nov_img_19.jpg"/>
          <p:cNvPicPr>
            <a:picLocks noChangeAspect="1" noChangeArrowheads="1"/>
          </p:cNvPicPr>
          <p:nvPr/>
        </p:nvPicPr>
        <p:blipFill>
          <a:blip r:embed="rId2">
            <a:extLst>
              <a:ext uri="{28A0092B-C50C-407E-A947-70E740481C1C}">
                <a14:useLocalDpi xmlns:a14="http://schemas.microsoft.com/office/drawing/2010/main" val="0"/>
              </a:ext>
            </a:extLst>
          </a:blip>
          <a:srcRect t="2344" r="3" b="3"/>
          <a:stretch>
            <a:fillRect/>
          </a:stretch>
        </p:blipFill>
        <p:spPr bwMode="auto">
          <a:xfrm>
            <a:off x="6848918" y="1771078"/>
            <a:ext cx="4504881" cy="450488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6171"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173"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1574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0"/>
            <a:ext cx="8229600" cy="980728"/>
          </a:xfrm>
        </p:spPr>
        <p:txBody>
          <a:bodyPr/>
          <a:lstStyle/>
          <a:p>
            <a:r>
              <a:rPr lang="en-AU" b="1" dirty="0">
                <a:solidFill>
                  <a:schemeClr val="tx2">
                    <a:lumMod val="60000"/>
                    <a:lumOff val="40000"/>
                  </a:schemeClr>
                </a:solidFill>
                <a:latin typeface="Aharoni" panose="02010803020104030203" pitchFamily="2" charset="-79"/>
                <a:cs typeface="Aharoni" panose="02010803020104030203" pitchFamily="2" charset="-79"/>
              </a:rPr>
              <a:t>PROLACTIN REFLEX</a:t>
            </a:r>
          </a:p>
        </p:txBody>
      </p:sp>
      <p:pic>
        <p:nvPicPr>
          <p:cNvPr id="4098" name="Picture 2" descr="C:\Users\savithi\Desktop\Prolactin.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5560" y="853406"/>
            <a:ext cx="7920880"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980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solidFill>
                  <a:schemeClr val="tx2">
                    <a:lumMod val="60000"/>
                    <a:lumOff val="40000"/>
                  </a:schemeClr>
                </a:solidFill>
                <a:latin typeface="Aharoni" panose="02010803020104030203" pitchFamily="2" charset="-79"/>
                <a:cs typeface="Aharoni" panose="02010803020104030203" pitchFamily="2" charset="-79"/>
              </a:rPr>
              <a:t>OXYTOCIN REFLEX</a:t>
            </a:r>
          </a:p>
        </p:txBody>
      </p:sp>
      <p:pic>
        <p:nvPicPr>
          <p:cNvPr id="1026" name="Picture 2" descr="C:\Users\savithi\Desktop\Oxytocin reflex.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83532" y="1417638"/>
            <a:ext cx="8424936" cy="5062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051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478" y="1683756"/>
            <a:ext cx="3115265" cy="2396359"/>
          </a:xfrm>
        </p:spPr>
        <p:txBody>
          <a:bodyPr anchor="b">
            <a:normAutofit/>
          </a:bodyPr>
          <a:lstStyle/>
          <a:p>
            <a:pPr algn="r">
              <a:lnSpc>
                <a:spcPct val="90000"/>
              </a:lnSpc>
            </a:pPr>
            <a:r>
              <a:rPr lang="en-AU" sz="3400" b="1">
                <a:solidFill>
                  <a:srgbClr val="FFFFFF"/>
                </a:solidFill>
                <a:latin typeface="Aharoni" panose="02010803020104030203" pitchFamily="2" charset="-79"/>
                <a:cs typeface="Aharoni" panose="02010803020104030203" pitchFamily="2" charset="-79"/>
              </a:rPr>
              <a:t>FACTORS WHICH REDUCE MILK PRODUCTION </a:t>
            </a:r>
          </a:p>
        </p:txBody>
      </p:sp>
      <p:graphicFrame>
        <p:nvGraphicFramePr>
          <p:cNvPr id="5" name="Content Placeholder 2">
            <a:extLst>
              <a:ext uri="{FF2B5EF4-FFF2-40B4-BE49-F238E27FC236}">
                <a16:creationId xmlns:a16="http://schemas.microsoft.com/office/drawing/2014/main" id="{0F85D034-BDFE-E52E-6E08-3E8572F97C95}"/>
              </a:ext>
            </a:extLst>
          </p:cNvPr>
          <p:cNvGraphicFramePr>
            <a:graphicFrameLocks noGrp="1"/>
          </p:cNvGraphicFramePr>
          <p:nvPr>
            <p:ph idx="1"/>
            <p:extLst>
              <p:ext uri="{D42A27DB-BD31-4B8C-83A1-F6EECF244321}">
                <p14:modId xmlns:p14="http://schemas.microsoft.com/office/powerpoint/2010/main" val="89030431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0981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C:\Users\savithi\Desktop\Untitled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6914" b="5248"/>
          <a:stretch>
            <a:fillRect/>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256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anchor="b">
            <a:normAutofit/>
          </a:bodyPr>
          <a:lstStyle/>
          <a:p>
            <a:pPr>
              <a:lnSpc>
                <a:spcPct val="90000"/>
              </a:lnSpc>
            </a:pPr>
            <a:r>
              <a:rPr lang="en-AU" sz="4200" b="1">
                <a:latin typeface="Aharoni" panose="02010803020104030203" pitchFamily="2" charset="-79"/>
                <a:cs typeface="Aharoni" panose="02010803020104030203" pitchFamily="2" charset="-79"/>
              </a:rPr>
              <a:t>REFLEXES IN THE BABY</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anchor="t">
            <a:normAutofit/>
          </a:bodyPr>
          <a:lstStyle/>
          <a:p>
            <a:pPr marL="514350" indent="-514350">
              <a:buAutoNum type="arabicPeriod"/>
            </a:pPr>
            <a:r>
              <a:rPr lang="en-AU" sz="2200" b="1" dirty="0">
                <a:latin typeface="Amasis MT Pro Medium" panose="02040604050005020304" pitchFamily="18" charset="0"/>
              </a:rPr>
              <a:t>The rooting reflex</a:t>
            </a:r>
          </a:p>
          <a:p>
            <a:pPr marL="514350" indent="-514350">
              <a:buAutoNum type="arabicPeriod"/>
            </a:pPr>
            <a:endParaRPr lang="en-AU" sz="2200" b="1" dirty="0">
              <a:latin typeface="Amasis MT Pro Medium" panose="02040604050005020304" pitchFamily="18" charset="0"/>
            </a:endParaRPr>
          </a:p>
          <a:p>
            <a:pPr marL="0" indent="0">
              <a:buNone/>
            </a:pPr>
            <a:r>
              <a:rPr lang="en-AU" sz="2200" b="1" dirty="0">
                <a:latin typeface="Amasis MT Pro Medium" panose="02040604050005020304" pitchFamily="18" charset="0"/>
              </a:rPr>
              <a:t>2. The suckling reflex</a:t>
            </a:r>
          </a:p>
          <a:p>
            <a:pPr marL="0" indent="0">
              <a:buNone/>
            </a:pPr>
            <a:endParaRPr lang="en-AU" sz="2200" b="1" dirty="0">
              <a:latin typeface="Amasis MT Pro Medium" panose="02040604050005020304" pitchFamily="18" charset="0"/>
            </a:endParaRPr>
          </a:p>
          <a:p>
            <a:pPr marL="0" indent="0">
              <a:buNone/>
            </a:pPr>
            <a:r>
              <a:rPr lang="en-AU" sz="2200" b="1" dirty="0">
                <a:latin typeface="Amasis MT Pro Medium" panose="02040604050005020304" pitchFamily="18" charset="0"/>
              </a:rPr>
              <a:t>3. The swallowing reflex</a:t>
            </a:r>
          </a:p>
        </p:txBody>
      </p:sp>
      <p:pic>
        <p:nvPicPr>
          <p:cNvPr id="5" name="Picture 2" descr="C:\Users\savithi\Desktop\Reflexes in the baby.JPG"/>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54296" y="831476"/>
            <a:ext cx="6903720" cy="5195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367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avithi\Desktop\immediate-care-lamiaa-slide-share-41-638.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t="12500" b="12500"/>
          <a:stretch>
            <a:fillRect/>
          </a:stretch>
        </p:blipFill>
        <p:spPr bwMode="auto">
          <a:xfrm>
            <a:off x="0" y="0"/>
            <a:ext cx="12192000" cy="6858000"/>
          </a:xfrm>
          <a:prstGeom prst="rect">
            <a:avLst/>
          </a:prstGeom>
          <a:solidFill>
            <a:srgbClr val="FFFFFF"/>
          </a:solidFill>
        </p:spPr>
      </p:pic>
      <p:sp>
        <p:nvSpPr>
          <p:cNvPr id="3" name="TextBox 2"/>
          <p:cNvSpPr txBox="1"/>
          <p:nvPr/>
        </p:nvSpPr>
        <p:spPr>
          <a:xfrm>
            <a:off x="1" y="5440100"/>
            <a:ext cx="12192000" cy="1417899"/>
          </a:xfrm>
          <a:prstGeom prst="rect">
            <a:avLst/>
          </a:prstGeom>
          <a:solidFill>
            <a:schemeClr val="bg1"/>
          </a:solidFill>
        </p:spPr>
        <p:txBody>
          <a:bodyPr vert="horz" lIns="91440" tIns="45720" rIns="91440" bIns="45720" rtlCol="0">
            <a:normAutofit lnSpcReduction="10000"/>
          </a:bodyPr>
          <a:lstStyle/>
          <a:p>
            <a:pPr marL="342900" indent="-342900">
              <a:spcBef>
                <a:spcPct val="20000"/>
              </a:spcBef>
              <a:buFont typeface="Arial" pitchFamily="34" charset="0"/>
              <a:buChar char="•"/>
            </a:pPr>
            <a:r>
              <a:rPr lang="en-US" sz="2800" b="1" dirty="0">
                <a:latin typeface="Amasis MT Pro Medium" panose="02040604050005020304" pitchFamily="18" charset="0"/>
              </a:rPr>
              <a:t>ONSET-28 WEEKS OF IU </a:t>
            </a:r>
          </a:p>
          <a:p>
            <a:pPr marL="342900" indent="-342900">
              <a:spcBef>
                <a:spcPct val="20000"/>
              </a:spcBef>
              <a:buFont typeface="Arial" pitchFamily="34" charset="0"/>
              <a:buChar char="•"/>
            </a:pPr>
            <a:r>
              <a:rPr lang="en-US" sz="2800" b="1" dirty="0">
                <a:latin typeface="Amasis MT Pro Medium" panose="02040604050005020304" pitchFamily="18" charset="0"/>
              </a:rPr>
              <a:t>WELL, ESTABLISHED-32-34 WEEKS OF IU</a:t>
            </a:r>
          </a:p>
          <a:p>
            <a:pPr marL="342900" indent="-342900">
              <a:spcBef>
                <a:spcPct val="20000"/>
              </a:spcBef>
              <a:buFont typeface="Arial" pitchFamily="34" charset="0"/>
              <a:buChar char="•"/>
            </a:pPr>
            <a:r>
              <a:rPr lang="en-US" sz="2800" b="1" dirty="0">
                <a:latin typeface="Amasis MT Pro Medium" panose="02040604050005020304" pitchFamily="18" charset="0"/>
              </a:rPr>
              <a:t>DISAPPEARS -3-4 MONTHS</a:t>
            </a:r>
          </a:p>
        </p:txBody>
      </p:sp>
    </p:spTree>
    <p:extLst>
      <p:ext uri="{BB962C8B-B14F-4D97-AF65-F5344CB8AC3E}">
        <p14:creationId xmlns:p14="http://schemas.microsoft.com/office/powerpoint/2010/main" val="2768874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vert="horz" lIns="91440" tIns="45720" rIns="91440" bIns="45720" rtlCol="0" anchor="ctr">
            <a:normAutofit/>
          </a:bodyPr>
          <a:lstStyle/>
          <a:p>
            <a:r>
              <a:rPr lang="en-AU" b="1"/>
              <a:t>Suckling reflex</a:t>
            </a:r>
          </a:p>
        </p:txBody>
      </p:sp>
      <p:sp>
        <p:nvSpPr>
          <p:cNvPr id="4" name="TextBox 3"/>
          <p:cNvSpPr txBox="1"/>
          <p:nvPr/>
        </p:nvSpPr>
        <p:spPr>
          <a:xfrm>
            <a:off x="609600" y="1600201"/>
            <a:ext cx="5384800" cy="4525963"/>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2800" b="1" dirty="0"/>
              <a:t>APPEAR AT 28 IU </a:t>
            </a:r>
          </a:p>
          <a:p>
            <a:pPr marL="342900" indent="-342900">
              <a:spcBef>
                <a:spcPct val="20000"/>
              </a:spcBef>
              <a:buFont typeface="Arial" pitchFamily="34" charset="0"/>
              <a:buChar char="•"/>
            </a:pPr>
            <a:endParaRPr lang="en-US" sz="2800" b="1" dirty="0"/>
          </a:p>
          <a:p>
            <a:pPr marL="342900" indent="-342900">
              <a:spcBef>
                <a:spcPct val="20000"/>
              </a:spcBef>
              <a:buFont typeface="Arial" pitchFamily="34" charset="0"/>
              <a:buChar char="•"/>
            </a:pPr>
            <a:r>
              <a:rPr lang="en-US" sz="2800" b="1" dirty="0"/>
              <a:t>WELL, ESTABLISHED 32-34 WEEKS</a:t>
            </a:r>
          </a:p>
          <a:p>
            <a:pPr marL="342900" indent="-342900">
              <a:spcBef>
                <a:spcPct val="20000"/>
              </a:spcBef>
              <a:buFont typeface="Arial" pitchFamily="34" charset="0"/>
              <a:buChar char="•"/>
            </a:pPr>
            <a:endParaRPr lang="en-US" sz="2800" b="1" dirty="0"/>
          </a:p>
          <a:p>
            <a:pPr marL="342900" indent="-342900">
              <a:spcBef>
                <a:spcPct val="20000"/>
              </a:spcBef>
              <a:buFont typeface="Arial" pitchFamily="34" charset="0"/>
              <a:buChar char="•"/>
            </a:pPr>
            <a:r>
              <a:rPr lang="en-US" sz="2800" b="1" dirty="0"/>
              <a:t>DISAPPEARS AT 12 MONTHS</a:t>
            </a:r>
          </a:p>
        </p:txBody>
      </p:sp>
      <p:pic>
        <p:nvPicPr>
          <p:cNvPr id="5" name="Picture 3" descr="C:\Users\savithi\Desktop\2013_06_29_juniper_homecoming_119.jpg"/>
          <p:cNvPicPr>
            <a:picLocks noChangeAspect="1" noChangeArrowheads="1"/>
          </p:cNvPicPr>
          <p:nvPr/>
        </p:nvPicPr>
        <p:blipFill>
          <a:blip r:embed="rId2">
            <a:extLst>
              <a:ext uri="{28A0092B-C50C-407E-A947-70E740481C1C}">
                <a14:useLocalDpi xmlns:a14="http://schemas.microsoft.com/office/drawing/2010/main" val="0"/>
              </a:ext>
            </a:extLst>
          </a:blip>
          <a:srcRect l="14667" r="5916" b="-1"/>
          <a:stretch>
            <a:fillRect/>
          </a:stretch>
        </p:blipFill>
        <p:spPr bwMode="auto">
          <a:xfrm>
            <a:off x="6197600" y="1600201"/>
            <a:ext cx="5384800"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874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vert="horz" lIns="91440" tIns="45720" rIns="91440" bIns="45720" rtlCol="0" anchor="ctr">
            <a:normAutofit/>
          </a:bodyPr>
          <a:lstStyle/>
          <a:p>
            <a:r>
              <a:rPr lang="en-AU" b="1" dirty="0">
                <a:latin typeface="Aharoni" panose="02010803020104030203" pitchFamily="2" charset="-79"/>
                <a:cs typeface="Aharoni" panose="02010803020104030203" pitchFamily="2" charset="-79"/>
              </a:rPr>
              <a:t>Swallowing reflex</a:t>
            </a:r>
          </a:p>
        </p:txBody>
      </p:sp>
      <p:sp>
        <p:nvSpPr>
          <p:cNvPr id="3" name="TextBox 2"/>
          <p:cNvSpPr txBox="1"/>
          <p:nvPr/>
        </p:nvSpPr>
        <p:spPr>
          <a:xfrm>
            <a:off x="609600" y="1600201"/>
            <a:ext cx="5384800" cy="4525963"/>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2800" b="1" dirty="0">
                <a:latin typeface="Amasis MT Pro Medium" panose="02040604050005020304" pitchFamily="18" charset="0"/>
              </a:rPr>
              <a:t>APPEARS AT 12 WEEKS OF IUL</a:t>
            </a:r>
          </a:p>
          <a:p>
            <a:pPr marL="342900" indent="-342900">
              <a:spcBef>
                <a:spcPct val="20000"/>
              </a:spcBef>
              <a:buFont typeface="Arial" pitchFamily="34" charset="0"/>
              <a:buChar char="•"/>
            </a:pPr>
            <a:endParaRPr lang="en-US" sz="2800" b="1" dirty="0">
              <a:latin typeface="Amasis MT Pro Medium" panose="02040604050005020304" pitchFamily="18" charset="0"/>
            </a:endParaRPr>
          </a:p>
          <a:p>
            <a:pPr marL="342900" indent="-342900">
              <a:spcBef>
                <a:spcPct val="20000"/>
              </a:spcBef>
              <a:buFont typeface="Arial" pitchFamily="34" charset="0"/>
              <a:buChar char="•"/>
            </a:pPr>
            <a:r>
              <a:rPr lang="en-US" sz="2800" b="1" dirty="0">
                <a:latin typeface="Amasis MT Pro Medium" panose="02040604050005020304" pitchFamily="18" charset="0"/>
              </a:rPr>
              <a:t>ESTABLISHED AT 32-36 WEEKS OF IU</a:t>
            </a:r>
          </a:p>
        </p:txBody>
      </p:sp>
      <p:pic>
        <p:nvPicPr>
          <p:cNvPr id="10" name="Picture 2" descr="C:\Users\savithi\Desktop\an-infant-breastfeeding.jp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7025371" y="1600201"/>
            <a:ext cx="3729257" cy="4525963"/>
          </a:xfrm>
          <a:prstGeom prst="rect">
            <a:avLst/>
          </a:prstGeom>
          <a:solidFill>
            <a:srgbClr val="FFFFFF"/>
          </a:solidFill>
        </p:spPr>
      </p:pic>
    </p:spTree>
    <p:extLst>
      <p:ext uri="{BB962C8B-B14F-4D97-AF65-F5344CB8AC3E}">
        <p14:creationId xmlns:p14="http://schemas.microsoft.com/office/powerpoint/2010/main" val="585869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6032"/>
            <a:ext cx="10506456" cy="1014984"/>
          </a:xfrm>
        </p:spPr>
        <p:txBody>
          <a:bodyPr anchor="b">
            <a:normAutofit/>
          </a:bodyPr>
          <a:lstStyle/>
          <a:p>
            <a:r>
              <a:rPr lang="en-US" sz="3400" b="1">
                <a:latin typeface="Aharoni" panose="02010803020104030203" pitchFamily="2" charset="-79"/>
                <a:cs typeface="Aharoni" panose="02010803020104030203" pitchFamily="2" charset="-79"/>
              </a:rPr>
              <a:t>COMPOSITION OF BREAST MILK (TERM INFANTS)</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01756998"/>
              </p:ext>
            </p:extLst>
          </p:nvPr>
        </p:nvGraphicFramePr>
        <p:xfrm>
          <a:off x="2222953" y="1926266"/>
          <a:ext cx="7746095" cy="4357535"/>
        </p:xfrm>
        <a:graphic>
          <a:graphicData uri="http://schemas.openxmlformats.org/drawingml/2006/table">
            <a:tbl>
              <a:tblPr firstRow="1" bandRow="1">
                <a:tableStyleId>{073A0DAA-6AF3-43AB-8588-CEC1D06C72B9}</a:tableStyleId>
              </a:tblPr>
              <a:tblGrid>
                <a:gridCol w="4007827">
                  <a:extLst>
                    <a:ext uri="{9D8B030D-6E8A-4147-A177-3AD203B41FA5}">
                      <a16:colId xmlns:a16="http://schemas.microsoft.com/office/drawing/2014/main" val="20000"/>
                    </a:ext>
                  </a:extLst>
                </a:gridCol>
                <a:gridCol w="3738268">
                  <a:extLst>
                    <a:ext uri="{9D8B030D-6E8A-4147-A177-3AD203B41FA5}">
                      <a16:colId xmlns:a16="http://schemas.microsoft.com/office/drawing/2014/main" val="20001"/>
                    </a:ext>
                  </a:extLst>
                </a:gridCol>
              </a:tblGrid>
              <a:tr h="335195">
                <a:tc>
                  <a:txBody>
                    <a:bodyPr/>
                    <a:lstStyle/>
                    <a:p>
                      <a:pPr algn="ctr"/>
                      <a:r>
                        <a:rPr lang="en-US" sz="1500" dirty="0"/>
                        <a:t>Components </a:t>
                      </a:r>
                    </a:p>
                  </a:txBody>
                  <a:tcPr marL="74805" marR="74805" marT="37402" marB="37402"/>
                </a:tc>
                <a:tc>
                  <a:txBody>
                    <a:bodyPr/>
                    <a:lstStyle/>
                    <a:p>
                      <a:pPr algn="ctr"/>
                      <a:r>
                        <a:rPr lang="en-US" sz="1500"/>
                        <a:t>Mean value (per 100ml)</a:t>
                      </a:r>
                    </a:p>
                  </a:txBody>
                  <a:tcPr marL="74805" marR="74805" marT="37402" marB="37402"/>
                </a:tc>
                <a:extLst>
                  <a:ext uri="{0D108BD9-81ED-4DB2-BD59-A6C34878D82A}">
                    <a16:rowId xmlns:a16="http://schemas.microsoft.com/office/drawing/2014/main" val="10000"/>
                  </a:ext>
                </a:extLst>
              </a:tr>
              <a:tr h="335195">
                <a:tc>
                  <a:txBody>
                    <a:bodyPr/>
                    <a:lstStyle/>
                    <a:p>
                      <a:pPr algn="ctr"/>
                      <a:r>
                        <a:rPr lang="en-US" sz="1500" dirty="0">
                          <a:effectLst/>
                        </a:rPr>
                        <a:t>Energy</a:t>
                      </a:r>
                      <a:r>
                        <a:rPr lang="en-US" sz="1500" baseline="0" dirty="0">
                          <a:effectLst/>
                        </a:rPr>
                        <a:t> (KJ)</a:t>
                      </a:r>
                    </a:p>
                  </a:txBody>
                  <a:tcPr marL="74805" marR="74805" marT="37402" marB="37402" anchor="ctr"/>
                </a:tc>
                <a:tc>
                  <a:txBody>
                    <a:bodyPr/>
                    <a:lstStyle/>
                    <a:p>
                      <a:pPr algn="ctr"/>
                      <a:r>
                        <a:rPr lang="en-US" sz="1500"/>
                        <a:t>280</a:t>
                      </a:r>
                    </a:p>
                  </a:txBody>
                  <a:tcPr marL="74805" marR="74805" marT="37402" marB="37402"/>
                </a:tc>
                <a:extLst>
                  <a:ext uri="{0D108BD9-81ED-4DB2-BD59-A6C34878D82A}">
                    <a16:rowId xmlns:a16="http://schemas.microsoft.com/office/drawing/2014/main" val="10001"/>
                  </a:ext>
                </a:extLst>
              </a:tr>
              <a:tr h="335195">
                <a:tc>
                  <a:txBody>
                    <a:bodyPr/>
                    <a:lstStyle/>
                    <a:p>
                      <a:pPr algn="ctr"/>
                      <a:r>
                        <a:rPr lang="en-US" sz="1500">
                          <a:effectLst/>
                        </a:rPr>
                        <a:t>Energy (kcal)</a:t>
                      </a:r>
                    </a:p>
                  </a:txBody>
                  <a:tcPr marL="74805" marR="74805" marT="37402" marB="37402" anchor="ctr"/>
                </a:tc>
                <a:tc>
                  <a:txBody>
                    <a:bodyPr/>
                    <a:lstStyle/>
                    <a:p>
                      <a:pPr algn="ctr"/>
                      <a:r>
                        <a:rPr lang="en-US" sz="1500">
                          <a:effectLst/>
                        </a:rPr>
                        <a:t>67</a:t>
                      </a:r>
                    </a:p>
                  </a:txBody>
                  <a:tcPr marL="74805" marR="74805" marT="37402" marB="37402" anchor="ctr"/>
                </a:tc>
                <a:extLst>
                  <a:ext uri="{0D108BD9-81ED-4DB2-BD59-A6C34878D82A}">
                    <a16:rowId xmlns:a16="http://schemas.microsoft.com/office/drawing/2014/main" val="10002"/>
                  </a:ext>
                </a:extLst>
              </a:tr>
              <a:tr h="335195">
                <a:tc>
                  <a:txBody>
                    <a:bodyPr/>
                    <a:lstStyle/>
                    <a:p>
                      <a:pPr algn="ctr"/>
                      <a:r>
                        <a:rPr lang="en-US" sz="1500">
                          <a:effectLst/>
                        </a:rPr>
                        <a:t>Protein (g)</a:t>
                      </a:r>
                    </a:p>
                  </a:txBody>
                  <a:tcPr marL="74805" marR="74805" marT="37402" marB="37402" anchor="ctr"/>
                </a:tc>
                <a:tc>
                  <a:txBody>
                    <a:bodyPr/>
                    <a:lstStyle/>
                    <a:p>
                      <a:pPr algn="ctr"/>
                      <a:r>
                        <a:rPr lang="en-US" sz="1500" dirty="0">
                          <a:effectLst/>
                        </a:rPr>
                        <a:t>1.3</a:t>
                      </a:r>
                    </a:p>
                  </a:txBody>
                  <a:tcPr marL="74805" marR="74805" marT="37402" marB="37402" anchor="ctr"/>
                </a:tc>
                <a:extLst>
                  <a:ext uri="{0D108BD9-81ED-4DB2-BD59-A6C34878D82A}">
                    <a16:rowId xmlns:a16="http://schemas.microsoft.com/office/drawing/2014/main" val="10003"/>
                  </a:ext>
                </a:extLst>
              </a:tr>
              <a:tr h="335195">
                <a:tc>
                  <a:txBody>
                    <a:bodyPr/>
                    <a:lstStyle/>
                    <a:p>
                      <a:pPr algn="ctr"/>
                      <a:r>
                        <a:rPr lang="en-US" sz="1500">
                          <a:effectLst/>
                        </a:rPr>
                        <a:t>Fat (g)</a:t>
                      </a:r>
                    </a:p>
                  </a:txBody>
                  <a:tcPr marL="74805" marR="74805" marT="37402" marB="37402" anchor="ctr"/>
                </a:tc>
                <a:tc>
                  <a:txBody>
                    <a:bodyPr/>
                    <a:lstStyle/>
                    <a:p>
                      <a:pPr algn="ctr"/>
                      <a:r>
                        <a:rPr lang="en-US" sz="1500" dirty="0">
                          <a:effectLst/>
                        </a:rPr>
                        <a:t>4.2</a:t>
                      </a:r>
                    </a:p>
                  </a:txBody>
                  <a:tcPr marL="74805" marR="74805" marT="37402" marB="37402" anchor="ctr"/>
                </a:tc>
                <a:extLst>
                  <a:ext uri="{0D108BD9-81ED-4DB2-BD59-A6C34878D82A}">
                    <a16:rowId xmlns:a16="http://schemas.microsoft.com/office/drawing/2014/main" val="10004"/>
                  </a:ext>
                </a:extLst>
              </a:tr>
              <a:tr h="335195">
                <a:tc>
                  <a:txBody>
                    <a:bodyPr/>
                    <a:lstStyle/>
                    <a:p>
                      <a:pPr algn="ctr"/>
                      <a:r>
                        <a:rPr lang="en-US" sz="1500">
                          <a:effectLst/>
                        </a:rPr>
                        <a:t>Carbohydrate (g)</a:t>
                      </a:r>
                    </a:p>
                  </a:txBody>
                  <a:tcPr marL="74805" marR="74805" marT="37402" marB="37402" anchor="ctr"/>
                </a:tc>
                <a:tc>
                  <a:txBody>
                    <a:bodyPr/>
                    <a:lstStyle/>
                    <a:p>
                      <a:pPr algn="ctr"/>
                      <a:r>
                        <a:rPr lang="en-US" sz="1500" dirty="0">
                          <a:effectLst/>
                        </a:rPr>
                        <a:t>7.0</a:t>
                      </a:r>
                    </a:p>
                  </a:txBody>
                  <a:tcPr marL="74805" marR="74805" marT="37402" marB="37402" anchor="ctr"/>
                </a:tc>
                <a:extLst>
                  <a:ext uri="{0D108BD9-81ED-4DB2-BD59-A6C34878D82A}">
                    <a16:rowId xmlns:a16="http://schemas.microsoft.com/office/drawing/2014/main" val="10005"/>
                  </a:ext>
                </a:extLst>
              </a:tr>
              <a:tr h="335195">
                <a:tc>
                  <a:txBody>
                    <a:bodyPr/>
                    <a:lstStyle/>
                    <a:p>
                      <a:pPr algn="ctr"/>
                      <a:r>
                        <a:rPr lang="en-US" sz="1500">
                          <a:effectLst/>
                        </a:rPr>
                        <a:t>Sodium (mg)</a:t>
                      </a:r>
                    </a:p>
                  </a:txBody>
                  <a:tcPr marL="74805" marR="74805" marT="37402" marB="37402" anchor="ctr"/>
                </a:tc>
                <a:tc>
                  <a:txBody>
                    <a:bodyPr/>
                    <a:lstStyle/>
                    <a:p>
                      <a:pPr algn="ctr"/>
                      <a:r>
                        <a:rPr lang="en-US" sz="1500" dirty="0">
                          <a:effectLst/>
                        </a:rPr>
                        <a:t>15</a:t>
                      </a:r>
                    </a:p>
                  </a:txBody>
                  <a:tcPr marL="74805" marR="74805" marT="37402" marB="37402" anchor="ctr"/>
                </a:tc>
                <a:extLst>
                  <a:ext uri="{0D108BD9-81ED-4DB2-BD59-A6C34878D82A}">
                    <a16:rowId xmlns:a16="http://schemas.microsoft.com/office/drawing/2014/main" val="10006"/>
                  </a:ext>
                </a:extLst>
              </a:tr>
              <a:tr h="335195">
                <a:tc>
                  <a:txBody>
                    <a:bodyPr/>
                    <a:lstStyle/>
                    <a:p>
                      <a:pPr algn="ctr"/>
                      <a:r>
                        <a:rPr lang="en-US" sz="1500">
                          <a:effectLst/>
                        </a:rPr>
                        <a:t>Calcium (mg)</a:t>
                      </a:r>
                    </a:p>
                  </a:txBody>
                  <a:tcPr marL="74805" marR="74805" marT="37402" marB="37402" anchor="ctr"/>
                </a:tc>
                <a:tc>
                  <a:txBody>
                    <a:bodyPr/>
                    <a:lstStyle/>
                    <a:p>
                      <a:pPr algn="ctr"/>
                      <a:r>
                        <a:rPr lang="en-US" sz="1500" dirty="0">
                          <a:effectLst/>
                        </a:rPr>
                        <a:t>35</a:t>
                      </a:r>
                    </a:p>
                  </a:txBody>
                  <a:tcPr marL="74805" marR="74805" marT="37402" marB="37402" anchor="ctr"/>
                </a:tc>
                <a:extLst>
                  <a:ext uri="{0D108BD9-81ED-4DB2-BD59-A6C34878D82A}">
                    <a16:rowId xmlns:a16="http://schemas.microsoft.com/office/drawing/2014/main" val="10007"/>
                  </a:ext>
                </a:extLst>
              </a:tr>
              <a:tr h="335195">
                <a:tc>
                  <a:txBody>
                    <a:bodyPr/>
                    <a:lstStyle/>
                    <a:p>
                      <a:pPr algn="ctr"/>
                      <a:r>
                        <a:rPr lang="en-US" sz="1500">
                          <a:effectLst/>
                        </a:rPr>
                        <a:t>Phosphorus (mg)</a:t>
                      </a:r>
                    </a:p>
                  </a:txBody>
                  <a:tcPr marL="74805" marR="74805" marT="37402" marB="37402" anchor="ctr"/>
                </a:tc>
                <a:tc>
                  <a:txBody>
                    <a:bodyPr/>
                    <a:lstStyle/>
                    <a:p>
                      <a:pPr algn="ctr"/>
                      <a:r>
                        <a:rPr lang="en-US" sz="1500" dirty="0">
                          <a:effectLst/>
                        </a:rPr>
                        <a:t>15</a:t>
                      </a:r>
                    </a:p>
                  </a:txBody>
                  <a:tcPr marL="74805" marR="74805" marT="37402" marB="37402" anchor="ctr"/>
                </a:tc>
                <a:extLst>
                  <a:ext uri="{0D108BD9-81ED-4DB2-BD59-A6C34878D82A}">
                    <a16:rowId xmlns:a16="http://schemas.microsoft.com/office/drawing/2014/main" val="10008"/>
                  </a:ext>
                </a:extLst>
              </a:tr>
              <a:tr h="335195">
                <a:tc>
                  <a:txBody>
                    <a:bodyPr/>
                    <a:lstStyle/>
                    <a:p>
                      <a:pPr algn="ctr"/>
                      <a:r>
                        <a:rPr lang="en-US" sz="1500">
                          <a:effectLst/>
                        </a:rPr>
                        <a:t>Iron (mcg)</a:t>
                      </a:r>
                    </a:p>
                  </a:txBody>
                  <a:tcPr marL="74805" marR="74805" marT="37402" marB="37402" anchor="ctr"/>
                </a:tc>
                <a:tc>
                  <a:txBody>
                    <a:bodyPr/>
                    <a:lstStyle/>
                    <a:p>
                      <a:pPr algn="ctr"/>
                      <a:r>
                        <a:rPr lang="en-US" sz="1500" dirty="0">
                          <a:effectLst/>
                        </a:rPr>
                        <a:t>76</a:t>
                      </a:r>
                    </a:p>
                  </a:txBody>
                  <a:tcPr marL="74805" marR="74805" marT="37402" marB="37402" anchor="ctr"/>
                </a:tc>
                <a:extLst>
                  <a:ext uri="{0D108BD9-81ED-4DB2-BD59-A6C34878D82A}">
                    <a16:rowId xmlns:a16="http://schemas.microsoft.com/office/drawing/2014/main" val="10009"/>
                  </a:ext>
                </a:extLst>
              </a:tr>
              <a:tr h="335195">
                <a:tc>
                  <a:txBody>
                    <a:bodyPr/>
                    <a:lstStyle/>
                    <a:p>
                      <a:pPr algn="ctr"/>
                      <a:r>
                        <a:rPr lang="en-US" sz="1500">
                          <a:effectLst/>
                        </a:rPr>
                        <a:t>Vitamin A (mcg)</a:t>
                      </a:r>
                    </a:p>
                  </a:txBody>
                  <a:tcPr marL="74805" marR="74805" marT="37402" marB="37402" anchor="ctr"/>
                </a:tc>
                <a:tc>
                  <a:txBody>
                    <a:bodyPr/>
                    <a:lstStyle/>
                    <a:p>
                      <a:pPr algn="ctr"/>
                      <a:r>
                        <a:rPr lang="en-US" sz="1500" dirty="0">
                          <a:effectLst/>
                        </a:rPr>
                        <a:t>60</a:t>
                      </a:r>
                    </a:p>
                  </a:txBody>
                  <a:tcPr marL="74805" marR="74805" marT="37402" marB="37402" anchor="ctr"/>
                </a:tc>
                <a:extLst>
                  <a:ext uri="{0D108BD9-81ED-4DB2-BD59-A6C34878D82A}">
                    <a16:rowId xmlns:a16="http://schemas.microsoft.com/office/drawing/2014/main" val="10010"/>
                  </a:ext>
                </a:extLst>
              </a:tr>
              <a:tr h="335195">
                <a:tc>
                  <a:txBody>
                    <a:bodyPr/>
                    <a:lstStyle/>
                    <a:p>
                      <a:pPr algn="ctr"/>
                      <a:r>
                        <a:rPr lang="en-US" sz="1500">
                          <a:effectLst/>
                        </a:rPr>
                        <a:t>Vitamin C (mg)</a:t>
                      </a:r>
                    </a:p>
                  </a:txBody>
                  <a:tcPr marL="74805" marR="74805" marT="37402" marB="37402" anchor="ctr"/>
                </a:tc>
                <a:tc>
                  <a:txBody>
                    <a:bodyPr/>
                    <a:lstStyle/>
                    <a:p>
                      <a:pPr algn="ctr"/>
                      <a:r>
                        <a:rPr lang="en-US" sz="1500" dirty="0">
                          <a:effectLst/>
                        </a:rPr>
                        <a:t>3.8</a:t>
                      </a:r>
                    </a:p>
                  </a:txBody>
                  <a:tcPr marL="74805" marR="74805" marT="37402" marB="37402" anchor="ctr"/>
                </a:tc>
                <a:extLst>
                  <a:ext uri="{0D108BD9-81ED-4DB2-BD59-A6C34878D82A}">
                    <a16:rowId xmlns:a16="http://schemas.microsoft.com/office/drawing/2014/main" val="10011"/>
                  </a:ext>
                </a:extLst>
              </a:tr>
              <a:tr h="335195">
                <a:tc>
                  <a:txBody>
                    <a:bodyPr/>
                    <a:lstStyle/>
                    <a:p>
                      <a:pPr algn="ctr"/>
                      <a:r>
                        <a:rPr lang="en-US" sz="1500">
                          <a:effectLst/>
                        </a:rPr>
                        <a:t>Vitamin D (mcg)</a:t>
                      </a:r>
                    </a:p>
                  </a:txBody>
                  <a:tcPr marL="74805" marR="74805" marT="37402" marB="37402" anchor="ctr"/>
                </a:tc>
                <a:tc>
                  <a:txBody>
                    <a:bodyPr/>
                    <a:lstStyle/>
                    <a:p>
                      <a:pPr algn="ctr"/>
                      <a:r>
                        <a:rPr lang="en-US" sz="1500" dirty="0">
                          <a:effectLst/>
                        </a:rPr>
                        <a:t>0.01</a:t>
                      </a:r>
                    </a:p>
                  </a:txBody>
                  <a:tcPr marL="74805" marR="74805" marT="37402" marB="37402" anchor="ct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499112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Variation in composition during different Stages of lactation</a:t>
            </a:r>
          </a:p>
        </p:txBody>
      </p:sp>
      <p:sp>
        <p:nvSpPr>
          <p:cNvPr id="3" name="Content Placeholder 2"/>
          <p:cNvSpPr>
            <a:spLocks noGrp="1"/>
          </p:cNvSpPr>
          <p:nvPr>
            <p:ph idx="1"/>
          </p:nvPr>
        </p:nvSpPr>
        <p:spPr/>
        <p:txBody>
          <a:bodyPr>
            <a:noAutofit/>
          </a:bodyPr>
          <a:lstStyle/>
          <a:p>
            <a:pPr marL="0" indent="0">
              <a:buNone/>
            </a:pPr>
            <a:r>
              <a:rPr lang="en-US" sz="2400" b="1" dirty="0">
                <a:latin typeface="Amasis MT Pro" panose="020F0502020204030204" pitchFamily="18" charset="0"/>
              </a:rPr>
              <a:t>The composition of milk changes after the birth of the baby according to the needs</a:t>
            </a:r>
          </a:p>
          <a:p>
            <a:r>
              <a:rPr lang="en-US" sz="2400" b="1" dirty="0">
                <a:latin typeface="Amasis MT Pro" panose="020F0502020204030204" pitchFamily="18" charset="0"/>
              </a:rPr>
              <a:t>Colostrum </a:t>
            </a:r>
          </a:p>
          <a:p>
            <a:pPr marL="0" indent="0">
              <a:buNone/>
            </a:pPr>
            <a:r>
              <a:rPr lang="en-US" sz="2400" b="1" dirty="0">
                <a:latin typeface="Amasis MT Pro" panose="020F0502020204030204" pitchFamily="18" charset="0"/>
              </a:rPr>
              <a:t>Secreted during the </a:t>
            </a:r>
            <a:r>
              <a:rPr lang="en-US" sz="2400" b="1" dirty="0" err="1">
                <a:latin typeface="Amasis MT Pro" panose="020F0502020204030204" pitchFamily="18" charset="0"/>
              </a:rPr>
              <a:t>intial</a:t>
            </a:r>
            <a:r>
              <a:rPr lang="en-US" sz="2400" b="1" dirty="0">
                <a:latin typeface="Amasis MT Pro" panose="020F0502020204030204" pitchFamily="18" charset="0"/>
              </a:rPr>
              <a:t> 3-4 days after delivery containing more </a:t>
            </a:r>
            <a:br>
              <a:rPr lang="en-US" sz="2400" b="1" dirty="0">
                <a:latin typeface="Amasis MT Pro" panose="020F0502020204030204" pitchFamily="18" charset="0"/>
              </a:rPr>
            </a:br>
            <a:r>
              <a:rPr lang="en-US" sz="2400" b="1" dirty="0">
                <a:solidFill>
                  <a:schemeClr val="accent1">
                    <a:lumMod val="75000"/>
                  </a:schemeClr>
                </a:solidFill>
                <a:latin typeface="Amasis MT Pro" panose="020F0502020204030204" pitchFamily="18" charset="0"/>
              </a:rPr>
              <a:t>antibodies proteins and vitamins</a:t>
            </a:r>
          </a:p>
          <a:p>
            <a:r>
              <a:rPr lang="en-US" sz="2400" b="1" dirty="0">
                <a:latin typeface="Amasis MT Pro" panose="020F0502020204030204" pitchFamily="18" charset="0"/>
              </a:rPr>
              <a:t>Transitional milk </a:t>
            </a:r>
          </a:p>
          <a:p>
            <a:pPr marL="0" indent="0">
              <a:buNone/>
            </a:pPr>
            <a:r>
              <a:rPr lang="en-US" sz="2400" b="1" dirty="0">
                <a:latin typeface="Amasis MT Pro" panose="020F0502020204030204" pitchFamily="18" charset="0"/>
              </a:rPr>
              <a:t>Secreted after 3-4 days until 2 weeks containing more </a:t>
            </a:r>
            <a:r>
              <a:rPr lang="en-US" sz="2400" b="1" dirty="0">
                <a:solidFill>
                  <a:schemeClr val="accent1">
                    <a:lumMod val="75000"/>
                  </a:schemeClr>
                </a:solidFill>
                <a:latin typeface="Amasis MT Pro" panose="020F0502020204030204" pitchFamily="18" charset="0"/>
              </a:rPr>
              <a:t>fats and sugar content</a:t>
            </a:r>
          </a:p>
          <a:p>
            <a:r>
              <a:rPr lang="en-US" sz="2400" b="1" dirty="0">
                <a:latin typeface="Amasis MT Pro" panose="020F0502020204030204" pitchFamily="18" charset="0"/>
              </a:rPr>
              <a:t>Mature milk </a:t>
            </a:r>
          </a:p>
          <a:p>
            <a:pPr marL="0" indent="0">
              <a:buNone/>
            </a:pPr>
            <a:r>
              <a:rPr lang="en-US" sz="2400" b="1" dirty="0">
                <a:latin typeface="Amasis MT Pro" panose="020F0502020204030204" pitchFamily="18" charset="0"/>
              </a:rPr>
              <a:t>Which is thinner and watery</a:t>
            </a:r>
          </a:p>
          <a:p>
            <a:pPr marL="0" indent="0">
              <a:buNone/>
            </a:pPr>
            <a:endParaRPr lang="en-US" sz="2400" b="1" dirty="0">
              <a:latin typeface="Amasis MT Pro" panose="020F0502020204030204" pitchFamily="18" charset="0"/>
            </a:endParaRPr>
          </a:p>
          <a:p>
            <a:pPr marL="0" indent="0" algn="ctr">
              <a:buNone/>
            </a:pPr>
            <a:r>
              <a:rPr lang="en-US" sz="2400" b="1" dirty="0">
                <a:latin typeface="Amasis MT Pro" panose="020F0502020204030204" pitchFamily="18" charset="0"/>
              </a:rPr>
              <a:t>What about preterm babies?????</a:t>
            </a:r>
          </a:p>
          <a:p>
            <a:pPr marL="0" indent="0">
              <a:buNone/>
            </a:pPr>
            <a:endParaRPr lang="en-US" sz="2400" b="1" dirty="0">
              <a:latin typeface="Amasis MT Pro" panose="020F0502020204030204" pitchFamily="18" charset="0"/>
            </a:endParaRPr>
          </a:p>
          <a:p>
            <a:endParaRPr lang="en-US" sz="2400" b="1" dirty="0">
              <a:latin typeface="Amasis MT Pro" panose="020F0502020204030204" pitchFamily="18" charset="0"/>
            </a:endParaRPr>
          </a:p>
          <a:p>
            <a:endParaRPr lang="en-US" sz="2400" b="1" dirty="0">
              <a:latin typeface="Amasis MT Pro" panose="020F0502020204030204" pitchFamily="18" charset="0"/>
            </a:endParaRPr>
          </a:p>
        </p:txBody>
      </p:sp>
    </p:spTree>
    <p:extLst>
      <p:ext uri="{BB962C8B-B14F-4D97-AF65-F5344CB8AC3E}">
        <p14:creationId xmlns:p14="http://schemas.microsoft.com/office/powerpoint/2010/main" val="1219262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haroni" panose="02010803020104030203" pitchFamily="2" charset="-79"/>
                <a:cs typeface="Aharoni" panose="02010803020104030203" pitchFamily="2" charset="-79"/>
              </a:rPr>
              <a:t>TYPES OF BREAST MILK</a:t>
            </a:r>
          </a:p>
        </p:txBody>
      </p:sp>
      <p:sp>
        <p:nvSpPr>
          <p:cNvPr id="3" name="Content Placeholder 2"/>
          <p:cNvSpPr>
            <a:spLocks noGrp="1"/>
          </p:cNvSpPr>
          <p:nvPr>
            <p:ph idx="1"/>
          </p:nvPr>
        </p:nvSpPr>
        <p:spPr/>
        <p:txBody>
          <a:bodyPr/>
          <a:lstStyle/>
          <a:p>
            <a:r>
              <a:rPr lang="en-US" b="1" dirty="0">
                <a:latin typeface="Amasis MT Pro" panose="02040504050005020304" pitchFamily="18" charset="0"/>
              </a:rPr>
              <a:t>Fore milk </a:t>
            </a:r>
          </a:p>
          <a:p>
            <a:pPr>
              <a:buFont typeface="Wingdings" panose="05000000000000000000" pitchFamily="2" charset="2"/>
              <a:buChar char="ü"/>
            </a:pPr>
            <a:r>
              <a:rPr lang="en-US" b="1" dirty="0">
                <a:latin typeface="Amasis MT Pro" panose="02040504050005020304" pitchFamily="18" charset="0"/>
              </a:rPr>
              <a:t>secreted at the </a:t>
            </a:r>
            <a:r>
              <a:rPr lang="en-US" b="1" dirty="0">
                <a:solidFill>
                  <a:schemeClr val="accent1">
                    <a:lumMod val="75000"/>
                  </a:schemeClr>
                </a:solidFill>
                <a:latin typeface="Amasis MT Pro" panose="02040504050005020304" pitchFamily="18" charset="0"/>
              </a:rPr>
              <a:t>start of the feed</a:t>
            </a:r>
            <a:r>
              <a:rPr lang="en-US" b="1" dirty="0">
                <a:latin typeface="Amasis MT Pro" panose="02040504050005020304" pitchFamily="18" charset="0"/>
              </a:rPr>
              <a:t>. </a:t>
            </a:r>
          </a:p>
          <a:p>
            <a:pPr>
              <a:buFont typeface="Wingdings" panose="05000000000000000000" pitchFamily="2" charset="2"/>
              <a:buChar char="ü"/>
            </a:pPr>
            <a:r>
              <a:rPr lang="en-US" b="1" dirty="0">
                <a:latin typeface="Amasis MT Pro" panose="02040504050005020304" pitchFamily="18" charset="0"/>
              </a:rPr>
              <a:t>is watery and rich in </a:t>
            </a:r>
            <a:r>
              <a:rPr lang="en-US" b="1" dirty="0">
                <a:solidFill>
                  <a:schemeClr val="accent1">
                    <a:lumMod val="75000"/>
                  </a:schemeClr>
                </a:solidFill>
                <a:latin typeface="Amasis MT Pro" panose="02040504050005020304" pitchFamily="18" charset="0"/>
              </a:rPr>
              <a:t>proteins, sugar, vitamins, minerals and water</a:t>
            </a:r>
          </a:p>
          <a:p>
            <a:r>
              <a:rPr lang="en-US" b="1" dirty="0">
                <a:latin typeface="Amasis MT Pro" panose="02040504050005020304" pitchFamily="18" charset="0"/>
              </a:rPr>
              <a:t>Hind milk </a:t>
            </a:r>
          </a:p>
          <a:p>
            <a:pPr>
              <a:buFont typeface="Wingdings" panose="05000000000000000000" pitchFamily="2" charset="2"/>
              <a:buChar char="ü"/>
            </a:pPr>
            <a:r>
              <a:rPr lang="en-US" b="1" dirty="0">
                <a:latin typeface="Amasis MT Pro" panose="02040504050005020304" pitchFamily="18" charset="0"/>
              </a:rPr>
              <a:t>comes towards the </a:t>
            </a:r>
            <a:r>
              <a:rPr lang="en-US" b="1" dirty="0">
                <a:solidFill>
                  <a:schemeClr val="accent1">
                    <a:lumMod val="75000"/>
                  </a:schemeClr>
                </a:solidFill>
                <a:latin typeface="Amasis MT Pro" panose="02040504050005020304" pitchFamily="18" charset="0"/>
              </a:rPr>
              <a:t>end of feed.</a:t>
            </a:r>
          </a:p>
          <a:p>
            <a:pPr>
              <a:buFont typeface="Wingdings" panose="05000000000000000000" pitchFamily="2" charset="2"/>
              <a:buChar char="ü"/>
            </a:pPr>
            <a:r>
              <a:rPr lang="en-US" b="1" dirty="0">
                <a:latin typeface="Amasis MT Pro" panose="02040504050005020304" pitchFamily="18" charset="0"/>
              </a:rPr>
              <a:t>richer in </a:t>
            </a:r>
            <a:r>
              <a:rPr lang="en-US" b="1" dirty="0">
                <a:solidFill>
                  <a:schemeClr val="accent1">
                    <a:lumMod val="75000"/>
                  </a:schemeClr>
                </a:solidFill>
                <a:latin typeface="Amasis MT Pro" panose="02040504050005020304" pitchFamily="18" charset="0"/>
              </a:rPr>
              <a:t>fat</a:t>
            </a:r>
            <a:r>
              <a:rPr lang="en-US" b="1" dirty="0">
                <a:latin typeface="Amasis MT Pro" panose="02040504050005020304" pitchFamily="18" charset="0"/>
              </a:rPr>
              <a:t> content and provides more </a:t>
            </a:r>
            <a:r>
              <a:rPr lang="en-US" b="1" dirty="0">
                <a:solidFill>
                  <a:schemeClr val="accent1">
                    <a:lumMod val="75000"/>
                  </a:schemeClr>
                </a:solidFill>
                <a:latin typeface="Amasis MT Pro" panose="02040504050005020304" pitchFamily="18" charset="0"/>
              </a:rPr>
              <a:t>energy</a:t>
            </a:r>
          </a:p>
          <a:p>
            <a:pPr marL="0" indent="0">
              <a:buNone/>
            </a:pPr>
            <a:endParaRPr lang="en-US" b="1" dirty="0">
              <a:latin typeface="Amasis MT Pro" panose="02040504050005020304" pitchFamily="18" charset="0"/>
            </a:endParaRPr>
          </a:p>
          <a:p>
            <a:endParaRPr lang="en-US" b="1" dirty="0">
              <a:latin typeface="Amasis MT Pro" panose="02040504050005020304" pitchFamily="18" charset="0"/>
            </a:endParaRPr>
          </a:p>
          <a:p>
            <a:endParaRPr lang="en-US" b="1" dirty="0">
              <a:latin typeface="Amasis MT Pro" panose="02040504050005020304" pitchFamily="18" charset="0"/>
            </a:endParaRPr>
          </a:p>
        </p:txBody>
      </p:sp>
    </p:spTree>
    <p:extLst>
      <p:ext uri="{BB962C8B-B14F-4D97-AF65-F5344CB8AC3E}">
        <p14:creationId xmlns:p14="http://schemas.microsoft.com/office/powerpoint/2010/main" val="1057071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38881" y="417576"/>
            <a:ext cx="10909640" cy="1249394"/>
          </a:xfrm>
        </p:spPr>
        <p:txBody>
          <a:bodyPr anchor="ctr">
            <a:normAutofit/>
          </a:bodyPr>
          <a:lstStyle/>
          <a:p>
            <a:r>
              <a:rPr lang="en-US" sz="5100" b="1">
                <a:latin typeface="Aharoni" panose="02010803020104030203" pitchFamily="2" charset="-79"/>
                <a:cs typeface="Aharoni" panose="02010803020104030203" pitchFamily="2" charset="-79"/>
              </a:rPr>
              <a:t>TECHNIQUES OF BREAST FEEDING</a:t>
            </a:r>
          </a:p>
        </p:txBody>
      </p:sp>
      <p:sp>
        <p:nvSpPr>
          <p:cNvPr id="1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2796" y="2633472"/>
            <a:ext cx="9783360" cy="3586353"/>
          </a:xfrm>
          <a:prstGeom prst="rect">
            <a:avLst/>
          </a:prstGeom>
        </p:spPr>
      </p:pic>
    </p:spTree>
    <p:extLst>
      <p:ext uri="{BB962C8B-B14F-4D97-AF65-F5344CB8AC3E}">
        <p14:creationId xmlns:p14="http://schemas.microsoft.com/office/powerpoint/2010/main" val="576553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b="1"/>
              <a:t>TRADITIONAL OR CRADLE HOLD</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sz="half" idx="1"/>
          </p:nvPr>
        </p:nvSpPr>
        <p:spPr>
          <a:xfrm>
            <a:off x="590719" y="2330505"/>
            <a:ext cx="4559425" cy="3979585"/>
          </a:xfrm>
        </p:spPr>
        <p:txBody>
          <a:bodyPr vert="horz" lIns="91440" tIns="45720" rIns="91440" bIns="45720" rtlCol="0" anchor="ctr">
            <a:normAutofit/>
          </a:bodyPr>
          <a:lstStyle/>
          <a:p>
            <a:r>
              <a:rPr lang="en-US" sz="2000" b="1"/>
              <a:t>Sit as straight as possible </a:t>
            </a:r>
          </a:p>
          <a:p>
            <a:r>
              <a:rPr lang="en-US" sz="2000" b="1"/>
              <a:t>Cradle the baby in the arm</a:t>
            </a:r>
          </a:p>
          <a:p>
            <a:r>
              <a:rPr lang="en-US" sz="2000" b="1"/>
              <a:t>The ear, shoulders and hip should be in a straight line.</a:t>
            </a:r>
          </a:p>
          <a:p>
            <a:r>
              <a:rPr lang="en-US" sz="2000" b="1"/>
              <a:t>Tuck the baby's lower arm out of the way, with her mouth close to the breast.</a:t>
            </a:r>
          </a:p>
          <a:p>
            <a:r>
              <a:rPr lang="en-US" sz="2000" b="1"/>
              <a:t>Support the breast with the free hand</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rcRect l="9739" r="1016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4233911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F81F8D5-515A-45DC-B296-30AB11F2C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581646" y="349664"/>
            <a:ext cx="5845571" cy="1638377"/>
          </a:xfrm>
        </p:spPr>
        <p:txBody>
          <a:bodyPr vert="horz" lIns="91440" tIns="45720" rIns="91440" bIns="45720" rtlCol="0" anchor="b">
            <a:normAutofit/>
          </a:bodyPr>
          <a:lstStyle/>
          <a:p>
            <a:r>
              <a:rPr lang="en-US" sz="4800" b="1"/>
              <a:t>CROSS CRADLE HOLD</a:t>
            </a:r>
          </a:p>
        </p:txBody>
      </p:sp>
      <p:sp>
        <p:nvSpPr>
          <p:cNvPr id="5" name="Content Placeholder 4"/>
          <p:cNvSpPr>
            <a:spLocks noGrp="1"/>
          </p:cNvSpPr>
          <p:nvPr>
            <p:ph sz="half" idx="1"/>
          </p:nvPr>
        </p:nvSpPr>
        <p:spPr>
          <a:xfrm>
            <a:off x="587988" y="2620641"/>
            <a:ext cx="5837750" cy="3023702"/>
          </a:xfrm>
        </p:spPr>
        <p:txBody>
          <a:bodyPr vert="horz" lIns="91440" tIns="45720" rIns="91440" bIns="45720" rtlCol="0" anchor="ctr">
            <a:normAutofit/>
          </a:bodyPr>
          <a:lstStyle/>
          <a:p>
            <a:pPr marL="0"/>
            <a:r>
              <a:rPr lang="en-US" sz="2000" b="1"/>
              <a:t>This is similar to the previous method except that the baby is cradled with the arm, the baby’s tummy against the mother’s tummy and the hand behind the baby’s head. </a:t>
            </a:r>
          </a:p>
          <a:p>
            <a:pPr marL="0"/>
            <a:r>
              <a:rPr lang="en-US" sz="2000" b="1"/>
              <a:t>The ear, shoulders and hips should be in a straight line.</a:t>
            </a:r>
          </a:p>
        </p:txBody>
      </p:sp>
      <p:sp>
        <p:nvSpPr>
          <p:cNvPr id="29" name="Rectangle 2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447" y="399675"/>
            <a:ext cx="4647368" cy="5809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ontent Placeholder 1"/>
          <p:cNvPicPr>
            <a:picLocks noGrp="1" noChangeAspect="1"/>
          </p:cNvPicPr>
          <p:nvPr>
            <p:ph sz="half" idx="2"/>
          </p:nvPr>
        </p:nvPicPr>
        <p:blipFill>
          <a:blip r:embed="rId2">
            <a:extLst>
              <a:ext uri="{28A0092B-C50C-407E-A947-70E740481C1C}">
                <a14:useLocalDpi xmlns:a14="http://schemas.microsoft.com/office/drawing/2010/main" val="0"/>
              </a:ext>
            </a:extLst>
          </a:blip>
          <a:srcRect r="1" b="14351"/>
          <a:stretch>
            <a:fillRect/>
          </a:stretch>
        </p:blipFill>
        <p:spPr>
          <a:xfrm>
            <a:off x="7421373" y="627954"/>
            <a:ext cx="4235516" cy="5353373"/>
          </a:xfrm>
          <a:prstGeom prst="rect">
            <a:avLst/>
          </a:prstGeom>
        </p:spPr>
      </p:pic>
      <p:sp>
        <p:nvSpPr>
          <p:cNvPr id="33" name="Rectangle 32">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774185"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8155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Aharoni" panose="02010803020104030203" pitchFamily="2" charset="-79"/>
                <a:cs typeface="Aharoni" panose="02010803020104030203" pitchFamily="2" charset="-79"/>
              </a:rPr>
              <a:t>FOOTBALL OR CLUTCH HOLD</a:t>
            </a:r>
            <a:endParaRPr lang="en-US" sz="4800" b="1" kern="1200" dirty="0">
              <a:solidFill>
                <a:schemeClr val="tx1"/>
              </a:solidFill>
              <a:latin typeface="Aharoni" panose="02010803020104030203" pitchFamily="2" charset="-79"/>
              <a:cs typeface="Aharoni" panose="02010803020104030203" pitchFamily="2" charset="-79"/>
            </a:endParaRPr>
          </a:p>
        </p:txBody>
      </p:sp>
      <p:sp>
        <p:nvSpPr>
          <p:cNvPr id="21" name="Rectangle 2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793661" y="2599509"/>
            <a:ext cx="4530898" cy="3639450"/>
          </a:xfrm>
        </p:spPr>
        <p:txBody>
          <a:bodyPr vert="horz" lIns="91440" tIns="45720" rIns="91440" bIns="45720" rtlCol="0" anchor="ctr">
            <a:normAutofit/>
          </a:bodyPr>
          <a:lstStyle/>
          <a:p>
            <a:r>
              <a:rPr lang="en-US" sz="2000" b="1">
                <a:latin typeface="Amasis MT Pro" panose="02040504050005020304" pitchFamily="18" charset="0"/>
              </a:rPr>
              <a:t>Position the baby so her legs and body are under the arm, with the hand holding her head </a:t>
            </a:r>
          </a:p>
          <a:p>
            <a:r>
              <a:rPr lang="en-US" sz="2000" b="1">
                <a:latin typeface="Amasis MT Pro" panose="02040504050005020304" pitchFamily="18" charset="0"/>
              </a:rPr>
              <a:t>Allow the baby to latch-on while pulling  the baby close, holding the head tightly against the breast.</a:t>
            </a:r>
          </a:p>
          <a:p>
            <a:r>
              <a:rPr lang="en-US" sz="2000" b="1">
                <a:latin typeface="Amasis MT Pro" panose="02040504050005020304" pitchFamily="18" charset="0"/>
              </a:rPr>
              <a:t>Keep the baby's body flexed at the hip with the legs tucked under the arm.</a:t>
            </a:r>
          </a:p>
          <a:p>
            <a:endParaRPr lang="en-US" sz="2000" b="1" dirty="0">
              <a:latin typeface="Amasis MT Pro" panose="02040504050005020304" pitchFamily="18" charset="0"/>
            </a:endParaRPr>
          </a:p>
        </p:txBody>
      </p:sp>
      <p:pic>
        <p:nvPicPr>
          <p:cNvPr id="7" name="Content Placeholder 6"/>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34447" t="343" r="33420" b="680"/>
          <a:stretch/>
        </p:blipFill>
        <p:spPr>
          <a:xfrm>
            <a:off x="6841949" y="2484255"/>
            <a:ext cx="3289443" cy="3714244"/>
          </a:xfrm>
          <a:prstGeom prst="rect">
            <a:avLst/>
          </a:prstGeom>
        </p:spPr>
      </p:pic>
      <p:sp>
        <p:nvSpPr>
          <p:cNvPr id="23" name="Rectangle 2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8981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9" name="Rectangle 1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b="1">
                <a:latin typeface="Aharoni" panose="02010803020104030203" pitchFamily="2" charset="-79"/>
                <a:cs typeface="Aharoni" panose="02010803020104030203" pitchFamily="2" charset="-79"/>
              </a:rPr>
              <a:t>The football hold is a good position when:</a:t>
            </a:r>
            <a:endParaRPr lang="en-US" sz="4800">
              <a:latin typeface="Aharoni" panose="02010803020104030203" pitchFamily="2" charset="-79"/>
              <a:cs typeface="Aharoni" panose="02010803020104030203" pitchFamily="2" charset="-79"/>
            </a:endParaRPr>
          </a:p>
        </p:txBody>
      </p:sp>
      <p:sp>
        <p:nvSpPr>
          <p:cNvPr id="3" name="Content Placeholder 2"/>
          <p:cNvSpPr>
            <a:spLocks noGrp="1"/>
          </p:cNvSpPr>
          <p:nvPr>
            <p:ph idx="1"/>
          </p:nvPr>
        </p:nvSpPr>
        <p:spPr>
          <a:xfrm>
            <a:off x="1045028" y="2560322"/>
            <a:ext cx="9941319" cy="3581858"/>
          </a:xfrm>
        </p:spPr>
        <p:txBody>
          <a:bodyPr anchor="ctr">
            <a:normAutofit fontScale="92500" lnSpcReduction="10000"/>
          </a:bodyPr>
          <a:lstStyle/>
          <a:p>
            <a:r>
              <a:rPr lang="en-US" b="1">
                <a:latin typeface="Amasis MT Pro" panose="02040504050005020304" pitchFamily="18" charset="0"/>
              </a:rPr>
              <a:t>There is a caesarean birth</a:t>
            </a:r>
          </a:p>
          <a:p>
            <a:r>
              <a:rPr lang="en-US" b="1">
                <a:latin typeface="Amasis MT Pro" panose="02040504050005020304" pitchFamily="18" charset="0"/>
              </a:rPr>
              <a:t>The need for more visibility in getting the baby to latch-on.</a:t>
            </a:r>
          </a:p>
          <a:p>
            <a:r>
              <a:rPr lang="en-US" b="1">
                <a:latin typeface="Amasis MT Pro" panose="02040504050005020304" pitchFamily="18" charset="0"/>
              </a:rPr>
              <a:t>The breasts are large.</a:t>
            </a:r>
          </a:p>
          <a:p>
            <a:r>
              <a:rPr lang="en-US" b="1">
                <a:latin typeface="Amasis MT Pro" panose="02040504050005020304" pitchFamily="18" charset="0"/>
              </a:rPr>
              <a:t>The baby is very small, especially if premature.</a:t>
            </a:r>
          </a:p>
          <a:p>
            <a:r>
              <a:rPr lang="en-US" b="1">
                <a:latin typeface="Amasis MT Pro" panose="02040504050005020304" pitchFamily="18" charset="0"/>
              </a:rPr>
              <a:t>the baby tends to slide down the areola onto the nipple.</a:t>
            </a:r>
          </a:p>
          <a:p>
            <a:r>
              <a:rPr lang="en-US" b="1">
                <a:latin typeface="Amasis MT Pro" panose="02040504050005020304" pitchFamily="18" charset="0"/>
              </a:rPr>
              <a:t>the baby is fussy, restless and hard to latch-on.</a:t>
            </a:r>
          </a:p>
          <a:p>
            <a:r>
              <a:rPr lang="en-US" b="1">
                <a:latin typeface="Amasis MT Pro" panose="02040504050005020304" pitchFamily="18" charset="0"/>
              </a:rPr>
              <a:t>The baby is sleepy</a:t>
            </a:r>
          </a:p>
          <a:p>
            <a:r>
              <a:rPr lang="en-US" b="1">
                <a:latin typeface="Amasis MT Pro" panose="02040504050005020304" pitchFamily="18" charset="0"/>
              </a:rPr>
              <a:t>The mother has inverted nipples.</a:t>
            </a:r>
            <a:endParaRPr lang="en-US" b="1" dirty="0">
              <a:latin typeface="Amasis MT Pro" panose="02040504050005020304" pitchFamily="18" charset="0"/>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615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kern="1200" dirty="0">
                <a:solidFill>
                  <a:schemeClr val="tx1"/>
                </a:solidFill>
                <a:latin typeface="Aharoni" panose="02010803020104030203" pitchFamily="2" charset="-79"/>
                <a:cs typeface="Aharoni" panose="02010803020104030203" pitchFamily="2" charset="-79"/>
              </a:rPr>
              <a:t>SIDE-LYING POSITION</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793661" y="2599509"/>
            <a:ext cx="4530898" cy="3639450"/>
          </a:xfrm>
        </p:spPr>
        <p:txBody>
          <a:bodyPr vert="horz" lIns="91440" tIns="45720" rIns="91440" bIns="45720" rtlCol="0" anchor="ctr">
            <a:normAutofit lnSpcReduction="10000"/>
          </a:bodyPr>
          <a:lstStyle/>
          <a:p>
            <a:r>
              <a:rPr lang="en-US" sz="2000" b="1" dirty="0">
                <a:latin typeface="Amasis MT Pro" panose="02040504050005020304" pitchFamily="18" charset="0"/>
              </a:rPr>
              <a:t>First, the mother has to position herself and the baby on her sides tummy-to-tummy.</a:t>
            </a:r>
          </a:p>
          <a:p>
            <a:r>
              <a:rPr lang="en-US" sz="2000" b="1" dirty="0">
                <a:latin typeface="Amasis MT Pro" panose="02040504050005020304" pitchFamily="18" charset="0"/>
              </a:rPr>
              <a:t>Bend the top leg and position with pillows.</a:t>
            </a:r>
          </a:p>
          <a:p>
            <a:r>
              <a:rPr lang="en-US" sz="2000" b="1" dirty="0">
                <a:latin typeface="Amasis MT Pro" panose="02040504050005020304" pitchFamily="18" charset="0"/>
              </a:rPr>
              <a:t>Place the fingers beneath the breast and lift upward, then pull the baby in close as he/she latches-on.</a:t>
            </a:r>
          </a:p>
          <a:p>
            <a:pPr marL="0"/>
            <a:br>
              <a:rPr lang="en-US" sz="2000" b="1" dirty="0">
                <a:latin typeface="Amasis MT Pro" panose="02040504050005020304" pitchFamily="18" charset="0"/>
              </a:rPr>
            </a:br>
            <a:br>
              <a:rPr lang="en-US" sz="2000" b="1" dirty="0">
                <a:latin typeface="Amasis MT Pro" panose="02040504050005020304" pitchFamily="18" charset="0"/>
              </a:rPr>
            </a:br>
            <a:endParaRPr lang="en-US" sz="2000" b="1" dirty="0">
              <a:latin typeface="Amasis MT Pro" panose="02040504050005020304" pitchFamily="18" charset="0"/>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11532" y="3113234"/>
            <a:ext cx="5150277" cy="2456285"/>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9318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808638" y="386930"/>
            <a:ext cx="9236700" cy="1188950"/>
          </a:xfrm>
        </p:spPr>
        <p:txBody>
          <a:bodyPr anchor="b">
            <a:normAutofit/>
          </a:bodyPr>
          <a:lstStyle/>
          <a:p>
            <a:r>
              <a:rPr lang="en-US" sz="5400" b="1" dirty="0">
                <a:latin typeface="Aharoni" panose="02010803020104030203" pitchFamily="2" charset="-79"/>
                <a:cs typeface="Aharoni" panose="02010803020104030203" pitchFamily="2" charset="-79"/>
              </a:rPr>
              <a:t>LATCHING ON</a:t>
            </a:r>
          </a:p>
        </p:txBody>
      </p:sp>
      <p:grpSp>
        <p:nvGrpSpPr>
          <p:cNvPr id="12" name="Group 1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3" name="Rectangle 1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793660" y="2599509"/>
            <a:ext cx="10143668" cy="3435531"/>
          </a:xfrm>
        </p:spPr>
        <p:txBody>
          <a:bodyPr anchor="ctr">
            <a:normAutofit/>
          </a:bodyPr>
          <a:lstStyle/>
          <a:p>
            <a:pPr marL="514350" lvl="0" indent="-514350">
              <a:buFont typeface="+mj-lt"/>
              <a:buAutoNum type="arabicPeriod"/>
            </a:pPr>
            <a:r>
              <a:rPr lang="en-US" sz="2400" b="1" dirty="0">
                <a:latin typeface="Amasis MT Pro" panose="02040504050005020304" pitchFamily="18" charset="0"/>
              </a:rPr>
              <a:t>Sit or lie tummy-to-tummy with the baby. </a:t>
            </a:r>
          </a:p>
          <a:p>
            <a:pPr marL="514350" indent="-514350">
              <a:buFont typeface="+mj-lt"/>
              <a:buAutoNum type="arabicPeriod"/>
            </a:pPr>
            <a:r>
              <a:rPr lang="en-US" sz="2400" b="1" dirty="0">
                <a:latin typeface="Amasis MT Pro" panose="02040504050005020304" pitchFamily="18" charset="0"/>
              </a:rPr>
              <a:t>Bring the baby close to the breast.</a:t>
            </a:r>
          </a:p>
          <a:p>
            <a:pPr marL="514350" indent="-514350">
              <a:buFont typeface="+mj-lt"/>
              <a:buAutoNum type="arabicPeriod"/>
            </a:pPr>
            <a:r>
              <a:rPr lang="en-US" sz="2400" b="1" dirty="0">
                <a:latin typeface="Amasis MT Pro" panose="02040504050005020304" pitchFamily="18" charset="0"/>
              </a:rPr>
              <a:t>Touch the nipple to the baby's lower lip.</a:t>
            </a:r>
          </a:p>
          <a:p>
            <a:pPr marL="514350" lvl="0" indent="-514350">
              <a:buFont typeface="+mj-lt"/>
              <a:buAutoNum type="arabicPeriod"/>
            </a:pPr>
            <a:r>
              <a:rPr lang="en-US" sz="2400" b="1" dirty="0">
                <a:latin typeface="Amasis MT Pro" panose="02040504050005020304" pitchFamily="18" charset="0"/>
              </a:rPr>
              <a:t>When his/her mouth opens wide, quickly pull your baby in to latch on. Bring the baby towards the breast, not the breast to his/her head.</a:t>
            </a:r>
          </a:p>
          <a:p>
            <a:pPr marL="514350" lvl="0" indent="-514350">
              <a:buFont typeface="+mj-lt"/>
              <a:buAutoNum type="arabicPeriod"/>
            </a:pPr>
            <a:r>
              <a:rPr lang="en-US" sz="2400" b="1" dirty="0">
                <a:latin typeface="Amasis MT Pro" panose="02040504050005020304" pitchFamily="18" charset="0"/>
              </a:rPr>
              <a:t>The baby will be able to breathe even though his/her nose may press against the breast. </a:t>
            </a:r>
          </a:p>
        </p:txBody>
      </p:sp>
    </p:spTree>
    <p:extLst>
      <p:ext uri="{BB962C8B-B14F-4D97-AF65-F5344CB8AC3E}">
        <p14:creationId xmlns:p14="http://schemas.microsoft.com/office/powerpoint/2010/main" val="388932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4" name="Rectangle 2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5052369" cy="1035781"/>
          </a:xfrm>
        </p:spPr>
        <p:txBody>
          <a:bodyPr vert="horz" lIns="91440" tIns="45720" rIns="91440" bIns="45720" rtlCol="0" anchor="ctr">
            <a:normAutofit fontScale="90000"/>
          </a:bodyPr>
          <a:lstStyle/>
          <a:p>
            <a:pPr lvl="0"/>
            <a:r>
              <a:rPr lang="en-US" sz="3100" b="1" kern="1200" dirty="0">
                <a:solidFill>
                  <a:schemeClr val="tx1"/>
                </a:solidFill>
                <a:latin typeface="Aharoni" panose="02010803020104030203" pitchFamily="2" charset="-79"/>
                <a:cs typeface="Aharoni" panose="02010803020104030203" pitchFamily="2" charset="-79"/>
              </a:rPr>
              <a:t>SIGNS OF CORRECT LATCH ON</a:t>
            </a:r>
            <a:br>
              <a:rPr lang="en-US" sz="3100" b="1" kern="1200" dirty="0">
                <a:solidFill>
                  <a:schemeClr val="tx1"/>
                </a:solidFill>
                <a:latin typeface="Aharoni" panose="02010803020104030203" pitchFamily="2" charset="-79"/>
                <a:cs typeface="Aharoni" panose="02010803020104030203" pitchFamily="2" charset="-79"/>
              </a:rPr>
            </a:br>
            <a:endParaRPr lang="en-US" sz="3100" b="1" kern="1200" dirty="0">
              <a:solidFill>
                <a:schemeClr val="tx1"/>
              </a:solidFill>
              <a:latin typeface="Aharoni" panose="02010803020104030203" pitchFamily="2" charset="-79"/>
              <a:cs typeface="Aharoni" panose="02010803020104030203" pitchFamily="2" charset="-79"/>
            </a:endParaRPr>
          </a:p>
        </p:txBody>
      </p:sp>
      <p:sp>
        <p:nvSpPr>
          <p:cNvPr id="3" name="Content Placeholder 2"/>
          <p:cNvSpPr>
            <a:spLocks noGrp="1"/>
          </p:cNvSpPr>
          <p:nvPr>
            <p:ph sz="half" idx="1"/>
          </p:nvPr>
        </p:nvSpPr>
        <p:spPr>
          <a:xfrm>
            <a:off x="535671" y="2524721"/>
            <a:ext cx="5500988" cy="3677123"/>
          </a:xfrm>
        </p:spPr>
        <p:txBody>
          <a:bodyPr vert="horz" lIns="91440" tIns="45720" rIns="91440" bIns="45720" rtlCol="0" anchor="ctr">
            <a:normAutofit lnSpcReduction="10000"/>
          </a:bodyPr>
          <a:lstStyle/>
          <a:p>
            <a:pPr marL="514350" lvl="0"/>
            <a:r>
              <a:rPr lang="en-US" b="1" dirty="0">
                <a:latin typeface="Amasis MT Pro" panose="02040504050005020304" pitchFamily="18" charset="0"/>
              </a:rPr>
              <a:t>The baby's mouth should surround the tip of the nipple and about one inch of the areola.</a:t>
            </a:r>
          </a:p>
          <a:p>
            <a:pPr marL="514350" lvl="0"/>
            <a:r>
              <a:rPr lang="en-US" b="1" dirty="0">
                <a:latin typeface="Amasis MT Pro" panose="02040504050005020304" pitchFamily="18" charset="0"/>
              </a:rPr>
              <a:t>The lips should be turned outward against the breast.</a:t>
            </a:r>
          </a:p>
          <a:p>
            <a:pPr marL="514350" lvl="0"/>
            <a:r>
              <a:rPr lang="en-US" b="1" dirty="0">
                <a:latin typeface="Amasis MT Pro" panose="02040504050005020304" pitchFamily="18" charset="0"/>
              </a:rPr>
              <a:t>The motion of the suck is along the jaw, not in the cheeks.</a:t>
            </a:r>
          </a:p>
          <a:p>
            <a:endParaRPr lang="en-US" b="1" dirty="0">
              <a:latin typeface="Amasis MT Pro" panose="02040504050005020304" pitchFamily="18" charset="0"/>
            </a:endParaRPr>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30493" y="1347516"/>
            <a:ext cx="4223252" cy="4223252"/>
          </a:xfrm>
          <a:prstGeom prst="rect">
            <a:avLst/>
          </a:prstGeom>
        </p:spPr>
      </p:pic>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589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1043631" y="809898"/>
            <a:ext cx="9942716" cy="1554480"/>
          </a:xfrm>
        </p:spPr>
        <p:txBody>
          <a:bodyPr anchor="ctr">
            <a:normAutofit/>
          </a:bodyPr>
          <a:lstStyle/>
          <a:p>
            <a:r>
              <a:rPr lang="en-US" sz="4800" b="1">
                <a:latin typeface="Aharoni" panose="02010803020104030203" pitchFamily="2" charset="-79"/>
                <a:cs typeface="Aharoni" panose="02010803020104030203" pitchFamily="2" charset="-79"/>
              </a:rPr>
              <a:t>SIGNS OF CORRECT LATCH ON</a:t>
            </a:r>
          </a:p>
        </p:txBody>
      </p:sp>
      <p:sp>
        <p:nvSpPr>
          <p:cNvPr id="3" name="Content Placeholder 2"/>
          <p:cNvSpPr>
            <a:spLocks noGrp="1"/>
          </p:cNvSpPr>
          <p:nvPr>
            <p:ph idx="1"/>
          </p:nvPr>
        </p:nvSpPr>
        <p:spPr>
          <a:xfrm>
            <a:off x="1045028" y="3017522"/>
            <a:ext cx="9941319" cy="3124658"/>
          </a:xfrm>
        </p:spPr>
        <p:txBody>
          <a:bodyPr anchor="ctr">
            <a:normAutofit/>
          </a:bodyPr>
          <a:lstStyle/>
          <a:p>
            <a:pPr marL="0" lvl="0" indent="0">
              <a:buNone/>
            </a:pPr>
            <a:r>
              <a:rPr lang="en-US" sz="2400" b="1">
                <a:latin typeface="Amasis MT Pro" panose="02040504050005020304" pitchFamily="18" charset="0"/>
              </a:rPr>
              <a:t>4. Baby's ears, shoulder and hip should be in a straight line.</a:t>
            </a:r>
          </a:p>
          <a:p>
            <a:pPr marL="0" lvl="0" indent="0">
              <a:buNone/>
            </a:pPr>
            <a:r>
              <a:rPr lang="en-US" sz="2400" b="1">
                <a:latin typeface="Amasis MT Pro" panose="02040504050005020304" pitchFamily="18" charset="0"/>
              </a:rPr>
              <a:t>5. Breastfeeding should not hurt.</a:t>
            </a:r>
          </a:p>
          <a:p>
            <a:pPr marL="0" lvl="0" indent="0">
              <a:buNone/>
            </a:pPr>
            <a:r>
              <a:rPr lang="en-US" sz="2400" b="1">
                <a:latin typeface="Amasis MT Pro" panose="02040504050005020304" pitchFamily="18" charset="0"/>
              </a:rPr>
              <a:t>6. There should be feel of a rhythmic tug on your breast, and a little bit of   nipple tenderness is normal during the learning period. </a:t>
            </a:r>
          </a:p>
          <a:p>
            <a:endParaRPr lang="en-US" sz="2400" b="1">
              <a:latin typeface="Amasis MT Pro" panose="02040504050005020304" pitchFamily="18" charset="0"/>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52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anchor="b">
            <a:normAutofit/>
          </a:bodyPr>
          <a:lstStyle/>
          <a:p>
            <a:r>
              <a:rPr lang="en-US" sz="3800" b="1">
                <a:latin typeface="Aharoni" panose="02010803020104030203" pitchFamily="2" charset="-79"/>
                <a:cs typeface="Aharoni" panose="02010803020104030203" pitchFamily="2" charset="-79"/>
              </a:rPr>
              <a:t>How to take the baby off your breast after breastfeeding??</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660" y="2599509"/>
            <a:ext cx="10143668" cy="3435531"/>
          </a:xfrm>
        </p:spPr>
        <p:txBody>
          <a:bodyPr anchor="ctr">
            <a:normAutofit/>
          </a:bodyPr>
          <a:lstStyle/>
          <a:p>
            <a:r>
              <a:rPr lang="en-US" sz="2400" b="1" dirty="0">
                <a:latin typeface="Amasis MT Pro" panose="02040504050005020304" pitchFamily="18" charset="0"/>
              </a:rPr>
              <a:t>Break the suction by slipping the little finger in the corner of the baby's mouth between her gums.</a:t>
            </a:r>
          </a:p>
          <a:p>
            <a:r>
              <a:rPr lang="en-US" sz="2400" b="1" dirty="0">
                <a:latin typeface="Amasis MT Pro" panose="02040504050005020304" pitchFamily="18" charset="0"/>
              </a:rPr>
              <a:t> Don't remove the baby from the breast until the suction is released, or sore nipples may result. </a:t>
            </a:r>
          </a:p>
          <a:p>
            <a:r>
              <a:rPr lang="en-US" sz="2400" b="1" dirty="0">
                <a:latin typeface="Amasis MT Pro" panose="02040504050005020304" pitchFamily="18" charset="0"/>
              </a:rPr>
              <a:t>The suction is usually quite strong</a:t>
            </a:r>
          </a:p>
        </p:txBody>
      </p:sp>
    </p:spTree>
    <p:extLst>
      <p:ext uri="{BB962C8B-B14F-4D97-AF65-F5344CB8AC3E}">
        <p14:creationId xmlns:p14="http://schemas.microsoft.com/office/powerpoint/2010/main" val="509291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4928291" cy="1035781"/>
          </a:xfrm>
        </p:spPr>
        <p:txBody>
          <a:bodyPr anchor="ctr">
            <a:normAutofit/>
          </a:bodyPr>
          <a:lstStyle/>
          <a:p>
            <a:r>
              <a:rPr lang="en-US" sz="3600" b="1">
                <a:latin typeface="Aharoni" panose="02010803020104030203" pitchFamily="2" charset="-79"/>
                <a:cs typeface="Aharoni" panose="02010803020104030203" pitchFamily="2" charset="-79"/>
              </a:rPr>
              <a:t>BURPING</a:t>
            </a:r>
            <a:r>
              <a:rPr lang="en-US" sz="3600" b="1"/>
              <a:t> </a:t>
            </a:r>
          </a:p>
        </p:txBody>
      </p:sp>
      <p:sp>
        <p:nvSpPr>
          <p:cNvPr id="3" name="Content Placeholder 2"/>
          <p:cNvSpPr>
            <a:spLocks noGrp="1"/>
          </p:cNvSpPr>
          <p:nvPr>
            <p:ph idx="1"/>
          </p:nvPr>
        </p:nvSpPr>
        <p:spPr>
          <a:xfrm>
            <a:off x="1045029" y="2524721"/>
            <a:ext cx="4991629" cy="3677123"/>
          </a:xfrm>
        </p:spPr>
        <p:txBody>
          <a:bodyPr anchor="ctr">
            <a:normAutofit/>
          </a:bodyPr>
          <a:lstStyle/>
          <a:p>
            <a:r>
              <a:rPr lang="en-US" sz="1700" b="1">
                <a:latin typeface="Amasis MT Pro" panose="02040504050005020304" pitchFamily="18" charset="0"/>
              </a:rPr>
              <a:t>Burp the baby after feeding at each breast and at the end of the feeding</a:t>
            </a:r>
          </a:p>
          <a:p>
            <a:r>
              <a:rPr lang="en-US" sz="1700" b="1">
                <a:latin typeface="Amasis MT Pro" panose="02040504050005020304" pitchFamily="18" charset="0"/>
              </a:rPr>
              <a:t>When burping the baby, remember to apply some gentle but firm pressure on the abdomen.</a:t>
            </a:r>
          </a:p>
          <a:p>
            <a:r>
              <a:rPr lang="en-US" sz="1700" b="1">
                <a:latin typeface="Amasis MT Pro" panose="02040504050005020304" pitchFamily="18" charset="0"/>
              </a:rPr>
              <a:t>Helpful positions to burp include: </a:t>
            </a:r>
          </a:p>
          <a:p>
            <a:pPr marL="514350" indent="-514350">
              <a:buFont typeface="+mj-lt"/>
              <a:buAutoNum type="arabicPeriod"/>
            </a:pPr>
            <a:r>
              <a:rPr lang="en-US" sz="1700" b="1">
                <a:latin typeface="Amasis MT Pro" panose="02040504050005020304" pitchFamily="18" charset="0"/>
              </a:rPr>
              <a:t>Propped up with baby's tummy against the shoulder.</a:t>
            </a:r>
          </a:p>
          <a:p>
            <a:pPr marL="514350" indent="-514350">
              <a:buFont typeface="+mj-lt"/>
              <a:buAutoNum type="arabicPeriod"/>
            </a:pPr>
            <a:r>
              <a:rPr lang="en-US" sz="1700" b="1">
                <a:latin typeface="Amasis MT Pro" panose="02040504050005020304" pitchFamily="18" charset="0"/>
              </a:rPr>
              <a:t>Lying tummy-down across the lap.</a:t>
            </a:r>
          </a:p>
          <a:p>
            <a:pPr marL="514350" indent="-514350">
              <a:buFont typeface="+mj-lt"/>
              <a:buAutoNum type="arabicPeriod"/>
            </a:pPr>
            <a:r>
              <a:rPr lang="en-US" sz="1700" b="1">
                <a:latin typeface="Amasis MT Pro" panose="02040504050005020304" pitchFamily="18" charset="0"/>
              </a:rPr>
              <a:t>Sitting up, leaning over with the supportive hand under baby's arm.</a:t>
            </a:r>
            <a:br>
              <a:rPr lang="en-US" sz="1700" b="1">
                <a:latin typeface="Amasis MT Pro" panose="02040504050005020304" pitchFamily="18" charset="0"/>
              </a:rPr>
            </a:br>
            <a:endParaRPr lang="en-US" sz="1700" b="1">
              <a:latin typeface="Amasis MT Pro" panose="02040504050005020304" pitchFamily="18" charset="0"/>
            </a:endParaRPr>
          </a:p>
        </p:txBody>
      </p:sp>
      <p:sp>
        <p:nvSpPr>
          <p:cNvPr id="20" name="Rectangle 19">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a:stretch>
            <a:fillRect/>
          </a:stretch>
        </p:blipFill>
        <p:spPr>
          <a:xfrm>
            <a:off x="7146101" y="873941"/>
            <a:ext cx="1535294" cy="1986852"/>
          </a:xfrm>
          <a:prstGeom prst="rect">
            <a:avLst/>
          </a:prstGeom>
        </p:spPr>
      </p:pic>
      <p:pic>
        <p:nvPicPr>
          <p:cNvPr id="4" name="Picture 3"/>
          <p:cNvPicPr>
            <a:picLocks noChangeAspect="1"/>
          </p:cNvPicPr>
          <p:nvPr/>
        </p:nvPicPr>
        <p:blipFill>
          <a:blip r:embed="rId3"/>
          <a:stretch>
            <a:fillRect/>
          </a:stretch>
        </p:blipFill>
        <p:spPr>
          <a:xfrm>
            <a:off x="9329526" y="873940"/>
            <a:ext cx="1557262" cy="1986852"/>
          </a:xfrm>
          <a:prstGeom prst="rect">
            <a:avLst/>
          </a:prstGeom>
        </p:spPr>
      </p:pic>
      <p:pic>
        <p:nvPicPr>
          <p:cNvPr id="5" name="Picture 4"/>
          <p:cNvPicPr>
            <a:picLocks noChangeAspect="1"/>
          </p:cNvPicPr>
          <p:nvPr/>
        </p:nvPicPr>
        <p:blipFill>
          <a:blip r:embed="rId4"/>
          <a:stretch>
            <a:fillRect/>
          </a:stretch>
        </p:blipFill>
        <p:spPr>
          <a:xfrm>
            <a:off x="7561997" y="2992610"/>
            <a:ext cx="2897910" cy="3055978"/>
          </a:xfrm>
          <a:prstGeom prst="rect">
            <a:avLst/>
          </a:prstGeom>
        </p:spPr>
      </p:pic>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223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200" y="451381"/>
            <a:ext cx="10512552" cy="4066540"/>
          </a:xfrm>
        </p:spPr>
        <p:txBody>
          <a:bodyPr anchor="b">
            <a:normAutofit/>
          </a:bodyPr>
          <a:lstStyle/>
          <a:p>
            <a:pPr algn="l"/>
            <a:r>
              <a:rPr lang="en-US" sz="6600" b="1">
                <a:effectLst/>
                <a:latin typeface="Aharoni" panose="02010803020104030203" pitchFamily="2" charset="-79"/>
                <a:cs typeface="Aharoni" panose="02010803020104030203" pitchFamily="2" charset="-79"/>
              </a:rPr>
              <a:t>CONTRAINDICATIONS &amp; ALTERNATIVES OF BREAST FEEDING</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72349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anchor="b">
            <a:normAutofit/>
          </a:bodyPr>
          <a:lstStyle/>
          <a:p>
            <a:pPr>
              <a:lnSpc>
                <a:spcPct val="90000"/>
              </a:lnSpc>
            </a:pPr>
            <a:r>
              <a:rPr lang="en-US" sz="3400" b="1">
                <a:effectLst/>
                <a:latin typeface="Aharoni" panose="02010803020104030203" pitchFamily="2" charset="-79"/>
                <a:cs typeface="Aharoni" panose="02010803020104030203" pitchFamily="2" charset="-79"/>
              </a:rPr>
              <a:t>Breast Feeding may not be the best interest of the baby in following conditons:</a:t>
            </a:r>
            <a:endParaRPr lang="en-US" sz="3400">
              <a:effectLst/>
              <a:latin typeface="Aharoni" panose="02010803020104030203" pitchFamily="2" charset="-79"/>
              <a:cs typeface="Aharoni" panose="02010803020104030203" pitchFamily="2" charset="-79"/>
            </a:endParaRP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660" y="2599509"/>
            <a:ext cx="10143668" cy="3435531"/>
          </a:xfrm>
        </p:spPr>
        <p:txBody>
          <a:bodyPr anchor="ctr">
            <a:normAutofit/>
          </a:bodyPr>
          <a:lstStyle/>
          <a:p>
            <a:pPr>
              <a:lnSpc>
                <a:spcPct val="90000"/>
              </a:lnSpc>
              <a:buNone/>
            </a:pPr>
            <a:r>
              <a:rPr lang="en-US" sz="2400" b="1">
                <a:latin typeface="Amasis MT Pro" panose="02040504050005020304" pitchFamily="18" charset="0"/>
                <a:cs typeface="Aharoni" panose="02010803020104030203" pitchFamily="2" charset="-79"/>
              </a:rPr>
              <a:t>   Fetal Factors:</a:t>
            </a:r>
          </a:p>
          <a:p>
            <a:pPr>
              <a:lnSpc>
                <a:spcPct val="90000"/>
              </a:lnSpc>
              <a:buNone/>
            </a:pPr>
            <a:r>
              <a:rPr lang="en-US" sz="2400" b="1">
                <a:latin typeface="Amasis MT Pro" panose="02040504050005020304" pitchFamily="18" charset="0"/>
                <a:cs typeface="Aharoni" panose="02010803020104030203" pitchFamily="2" charset="-79"/>
              </a:rPr>
              <a:t>            Galactosemia.</a:t>
            </a:r>
          </a:p>
          <a:p>
            <a:pPr>
              <a:lnSpc>
                <a:spcPct val="90000"/>
              </a:lnSpc>
              <a:buNone/>
            </a:pPr>
            <a:endParaRPr lang="en-US" sz="2400" b="1">
              <a:latin typeface="Amasis MT Pro" panose="02040504050005020304" pitchFamily="18" charset="0"/>
              <a:cs typeface="Aharoni" panose="02010803020104030203" pitchFamily="2" charset="-79"/>
            </a:endParaRPr>
          </a:p>
          <a:p>
            <a:pPr>
              <a:lnSpc>
                <a:spcPct val="90000"/>
              </a:lnSpc>
              <a:buNone/>
            </a:pPr>
            <a:r>
              <a:rPr lang="en-US" sz="2400" b="1">
                <a:latin typeface="Amasis MT Pro" panose="02040504050005020304" pitchFamily="18" charset="0"/>
                <a:cs typeface="Aharoni" panose="02010803020104030203" pitchFamily="2" charset="-79"/>
              </a:rPr>
              <a:t>    Maternal Factors:</a:t>
            </a:r>
          </a:p>
          <a:p>
            <a:pPr>
              <a:lnSpc>
                <a:spcPct val="90000"/>
              </a:lnSpc>
              <a:buNone/>
            </a:pPr>
            <a:r>
              <a:rPr lang="en-US" sz="2400" b="1">
                <a:latin typeface="Amasis MT Pro" panose="02040504050005020304" pitchFamily="18" charset="0"/>
                <a:cs typeface="Aharoni" panose="02010803020104030203" pitchFamily="2" charset="-79"/>
              </a:rPr>
              <a:t>           -active untreated T.B. &amp; H.I.V positive</a:t>
            </a:r>
          </a:p>
          <a:p>
            <a:pPr>
              <a:lnSpc>
                <a:spcPct val="90000"/>
              </a:lnSpc>
              <a:buNone/>
            </a:pPr>
            <a:r>
              <a:rPr lang="en-US" sz="2400" b="1">
                <a:latin typeface="Amasis MT Pro" panose="02040504050005020304" pitchFamily="18" charset="0"/>
                <a:cs typeface="Aharoni" panose="02010803020104030203" pitchFamily="2" charset="-79"/>
              </a:rPr>
              <a:t>            -T lymphotrophic virus  type 1 &amp; 2</a:t>
            </a:r>
          </a:p>
          <a:p>
            <a:pPr>
              <a:lnSpc>
                <a:spcPct val="90000"/>
              </a:lnSpc>
              <a:buNone/>
            </a:pPr>
            <a:r>
              <a:rPr lang="en-US" sz="2400" b="1">
                <a:latin typeface="Amasis MT Pro" panose="02040504050005020304" pitchFamily="18" charset="0"/>
                <a:cs typeface="Aharoni" panose="02010803020104030203" pitchFamily="2" charset="-79"/>
              </a:rPr>
              <a:t>            -Herpes lesion on breast</a:t>
            </a:r>
          </a:p>
          <a:p>
            <a:pPr>
              <a:lnSpc>
                <a:spcPct val="90000"/>
              </a:lnSpc>
              <a:buNone/>
            </a:pPr>
            <a:r>
              <a:rPr lang="en-US" sz="2400" b="1">
                <a:latin typeface="Amasis MT Pro" panose="02040504050005020304" pitchFamily="18" charset="0"/>
                <a:cs typeface="Aharoni" panose="02010803020104030203" pitchFamily="2" charset="-79"/>
              </a:rPr>
              <a:t>      </a:t>
            </a:r>
          </a:p>
          <a:p>
            <a:pPr>
              <a:lnSpc>
                <a:spcPct val="90000"/>
              </a:lnSpc>
              <a:buNone/>
            </a:pPr>
            <a:endParaRPr lang="en-US" sz="2400" b="1">
              <a:latin typeface="Amasis MT Pro" panose="02040504050005020304" pitchFamily="18" charset="0"/>
              <a:cs typeface="Aharoni" panose="02010803020104030203" pitchFamily="2" charset="-79"/>
            </a:endParaRPr>
          </a:p>
        </p:txBody>
      </p:sp>
    </p:spTree>
    <p:extLst>
      <p:ext uri="{BB962C8B-B14F-4D97-AF65-F5344CB8AC3E}">
        <p14:creationId xmlns:p14="http://schemas.microsoft.com/office/powerpoint/2010/main" val="34102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45028" y="613954"/>
            <a:ext cx="9941319" cy="5528226"/>
          </a:xfrm>
        </p:spPr>
        <p:txBody>
          <a:bodyPr anchor="ctr">
            <a:normAutofit/>
          </a:bodyPr>
          <a:lstStyle/>
          <a:p>
            <a:pPr lvl="0" fontAlgn="base"/>
            <a:r>
              <a:rPr lang="en-US" sz="2400" b="1" dirty="0">
                <a:latin typeface="Amasis MT Pro" panose="02040504050005020304" pitchFamily="18" charset="0"/>
              </a:rPr>
              <a:t>Maternal Drugs </a:t>
            </a:r>
          </a:p>
          <a:p>
            <a:pPr lvl="1" fontAlgn="base"/>
            <a:r>
              <a:rPr lang="en-US" b="1" dirty="0">
                <a:latin typeface="Amasis MT Pro" panose="02040504050005020304" pitchFamily="18" charset="0"/>
              </a:rPr>
              <a:t>Chemotherapy agents &amp; antimetabolites</a:t>
            </a:r>
          </a:p>
          <a:p>
            <a:pPr lvl="1" fontAlgn="base"/>
            <a:endParaRPr lang="en-US" b="1" dirty="0">
              <a:latin typeface="Amasis MT Pro" panose="02040504050005020304" pitchFamily="18" charset="0"/>
            </a:endParaRPr>
          </a:p>
          <a:p>
            <a:pPr lvl="1" fontAlgn="base"/>
            <a:r>
              <a:rPr lang="en-US" b="1" dirty="0">
                <a:latin typeface="Amasis MT Pro" panose="02040504050005020304" pitchFamily="18" charset="0"/>
              </a:rPr>
              <a:t>Drugs of abuse – discontinue breastfeeding until drugs are out of maternal system</a:t>
            </a:r>
          </a:p>
          <a:p>
            <a:pPr lvl="1" fontAlgn="base"/>
            <a:endParaRPr lang="en-US" b="1" dirty="0">
              <a:latin typeface="Amasis MT Pro" panose="02040504050005020304" pitchFamily="18" charset="0"/>
            </a:endParaRPr>
          </a:p>
          <a:p>
            <a:pPr lvl="1" fontAlgn="base"/>
            <a:r>
              <a:rPr lang="en-US" b="1" dirty="0">
                <a:latin typeface="Amasis MT Pro" panose="02040504050005020304" pitchFamily="18" charset="0"/>
              </a:rPr>
              <a:t>Primaquine and Quinine – contraindicated if  infant  has G6PD</a:t>
            </a:r>
          </a:p>
          <a:p>
            <a:endParaRPr lang="en-US" sz="2400" b="1" dirty="0">
              <a:latin typeface="Amasis MT Pro" panose="02040504050005020304" pitchFamily="18" charset="0"/>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1928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45028" y="613954"/>
            <a:ext cx="9941319" cy="5528226"/>
          </a:xfrm>
        </p:spPr>
        <p:txBody>
          <a:bodyPr anchor="ctr">
            <a:normAutofit/>
          </a:bodyPr>
          <a:lstStyle/>
          <a:p>
            <a:pPr fontAlgn="base">
              <a:lnSpc>
                <a:spcPct val="90000"/>
              </a:lnSpc>
              <a:buNone/>
            </a:pPr>
            <a:r>
              <a:rPr lang="en-US" sz="2400" b="1" dirty="0">
                <a:latin typeface="Amasis MT Pro" panose="02040504050005020304" pitchFamily="18" charset="0"/>
              </a:rPr>
              <a:t>    Metronidazole – discontinue breastfeeding  until at least 12-24 hours after medication</a:t>
            </a:r>
          </a:p>
          <a:p>
            <a:pPr fontAlgn="base">
              <a:lnSpc>
                <a:spcPct val="90000"/>
              </a:lnSpc>
              <a:buNone/>
            </a:pPr>
            <a:endParaRPr lang="en-US" sz="2400" b="1" dirty="0">
              <a:latin typeface="Amasis MT Pro" panose="02040504050005020304" pitchFamily="18" charset="0"/>
            </a:endParaRPr>
          </a:p>
          <a:p>
            <a:pPr lvl="1" fontAlgn="base">
              <a:lnSpc>
                <a:spcPct val="90000"/>
              </a:lnSpc>
              <a:buNone/>
            </a:pPr>
            <a:r>
              <a:rPr lang="en-US" b="1" dirty="0">
                <a:latin typeface="Amasis MT Pro" panose="02040504050005020304" pitchFamily="18" charset="0"/>
              </a:rPr>
              <a:t>Sulfa drugs – may be a problem in infants</a:t>
            </a:r>
          </a:p>
          <a:p>
            <a:pPr lvl="1" fontAlgn="base">
              <a:lnSpc>
                <a:spcPct val="90000"/>
              </a:lnSpc>
              <a:buNone/>
            </a:pPr>
            <a:r>
              <a:rPr lang="en-US" b="1" dirty="0">
                <a:latin typeface="Amasis MT Pro" panose="02040504050005020304" pitchFamily="18" charset="0"/>
              </a:rPr>
              <a:t>with jaundice or G6PD, stressed or premature</a:t>
            </a:r>
          </a:p>
          <a:p>
            <a:pPr lvl="1" fontAlgn="base">
              <a:lnSpc>
                <a:spcPct val="90000"/>
              </a:lnSpc>
              <a:buNone/>
            </a:pPr>
            <a:r>
              <a:rPr lang="en-US" b="1" dirty="0">
                <a:latin typeface="Amasis MT Pro" panose="02040504050005020304" pitchFamily="18" charset="0"/>
              </a:rPr>
              <a:t>(can cause kernicterus)</a:t>
            </a:r>
          </a:p>
          <a:p>
            <a:pPr lvl="1" fontAlgn="base">
              <a:lnSpc>
                <a:spcPct val="90000"/>
              </a:lnSpc>
              <a:buNone/>
            </a:pPr>
            <a:r>
              <a:rPr lang="en-US" b="1" dirty="0">
                <a:latin typeface="Amasis MT Pro" panose="02040504050005020304" pitchFamily="18" charset="0"/>
              </a:rPr>
              <a:t>Radioactive isotope – discontinue   BF for as long as the radioactivity is in the milk</a:t>
            </a:r>
          </a:p>
          <a:p>
            <a:pPr>
              <a:lnSpc>
                <a:spcPct val="90000"/>
              </a:lnSpc>
            </a:pPr>
            <a:endParaRPr lang="en-US" sz="2400" b="1" dirty="0">
              <a:latin typeface="Amasis MT Pro" panose="02040504050005020304" pitchFamily="18" charset="0"/>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81926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b="1" dirty="0">
                <a:effectLst/>
                <a:latin typeface="Aharoni" panose="02010803020104030203" pitchFamily="2" charset="-79"/>
                <a:cs typeface="Aharoni" panose="02010803020104030203" pitchFamily="2" charset="-79"/>
              </a:rPr>
              <a:t>BENEFITS OUTWEIGHING THE RISKS</a:t>
            </a:r>
          </a:p>
        </p:txBody>
      </p:sp>
      <p:sp>
        <p:nvSpPr>
          <p:cNvPr id="3" name="Content Placeholder 2"/>
          <p:cNvSpPr>
            <a:spLocks noGrp="1"/>
          </p:cNvSpPr>
          <p:nvPr>
            <p:ph idx="1"/>
          </p:nvPr>
        </p:nvSpPr>
        <p:spPr>
          <a:xfrm>
            <a:off x="1045028" y="2364378"/>
            <a:ext cx="9941319" cy="3777802"/>
          </a:xfrm>
        </p:spPr>
        <p:txBody>
          <a:bodyPr anchor="ctr">
            <a:normAutofit/>
          </a:bodyPr>
          <a:lstStyle/>
          <a:p>
            <a:pPr>
              <a:lnSpc>
                <a:spcPct val="90000"/>
              </a:lnSpc>
              <a:buNone/>
            </a:pPr>
            <a:r>
              <a:rPr lang="en-US" sz="2400" b="1" dirty="0">
                <a:latin typeface="Amasis MT Pro" panose="02040504050005020304" pitchFamily="18" charset="0"/>
              </a:rPr>
              <a:t>• Mother is –</a:t>
            </a:r>
          </a:p>
          <a:p>
            <a:pPr>
              <a:lnSpc>
                <a:spcPct val="90000"/>
              </a:lnSpc>
              <a:buNone/>
            </a:pPr>
            <a:r>
              <a:rPr lang="en-US" sz="2400" b="1" dirty="0">
                <a:latin typeface="Amasis MT Pro" panose="02040504050005020304" pitchFamily="18" charset="0"/>
              </a:rPr>
              <a:t>        - Hepatitis B surface antigen positive</a:t>
            </a:r>
          </a:p>
          <a:p>
            <a:pPr>
              <a:lnSpc>
                <a:spcPct val="90000"/>
              </a:lnSpc>
              <a:buNone/>
            </a:pPr>
            <a:r>
              <a:rPr lang="en-US" sz="2400" b="1" dirty="0">
                <a:latin typeface="Amasis MT Pro" panose="02040504050005020304" pitchFamily="18" charset="0"/>
              </a:rPr>
              <a:t>        - infected with Hepatitis C virus</a:t>
            </a:r>
          </a:p>
          <a:p>
            <a:pPr>
              <a:lnSpc>
                <a:spcPct val="90000"/>
              </a:lnSpc>
              <a:buNone/>
            </a:pPr>
            <a:r>
              <a:rPr lang="en-US" sz="2400" b="1" dirty="0">
                <a:latin typeface="Amasis MT Pro" panose="02040504050005020304" pitchFamily="18" charset="0"/>
              </a:rPr>
              <a:t>        -carrier of cytomegalovirus (except for   possibly very low birth weight babies)</a:t>
            </a:r>
          </a:p>
          <a:p>
            <a:pPr>
              <a:lnSpc>
                <a:spcPct val="90000"/>
              </a:lnSpc>
              <a:buNone/>
            </a:pPr>
            <a:endParaRPr lang="en-US" sz="2400" b="1" dirty="0">
              <a:latin typeface="Amasis MT Pro" panose="02040504050005020304" pitchFamily="18" charset="0"/>
            </a:endParaRPr>
          </a:p>
          <a:p>
            <a:pPr>
              <a:lnSpc>
                <a:spcPct val="90000"/>
              </a:lnSpc>
              <a:buNone/>
            </a:pPr>
            <a:r>
              <a:rPr lang="en-US" sz="2400" b="1" dirty="0">
                <a:latin typeface="Amasis MT Pro" panose="02040504050005020304" pitchFamily="18" charset="0"/>
              </a:rPr>
              <a:t>• Mother smokes – advise her to give up smoking and not smoke in the home.</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314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0719" y="2330505"/>
            <a:ext cx="4559425" cy="3979585"/>
          </a:xfrm>
        </p:spPr>
        <p:txBody>
          <a:bodyPr anchor="ctr">
            <a:normAutofit/>
          </a:bodyPr>
          <a:lstStyle/>
          <a:p>
            <a:r>
              <a:rPr lang="en-US" sz="2000" b="1" dirty="0">
                <a:latin typeface="Amasis MT Pro" panose="02040504050005020304" pitchFamily="18" charset="0"/>
              </a:rPr>
              <a:t>Alcoholic Mother–    </a:t>
            </a:r>
          </a:p>
          <a:p>
            <a:pPr>
              <a:buNone/>
            </a:pPr>
            <a:r>
              <a:rPr lang="en-US" sz="2000" b="1" dirty="0">
                <a:latin typeface="Amasis MT Pro" panose="02040504050005020304" pitchFamily="18" charset="0"/>
              </a:rPr>
              <a:t>    Occasional drinking –not    harmful .</a:t>
            </a:r>
          </a:p>
          <a:p>
            <a:pPr>
              <a:buNone/>
            </a:pPr>
            <a:r>
              <a:rPr lang="en-US" sz="2000" b="1" dirty="0">
                <a:latin typeface="Amasis MT Pro" panose="02040504050005020304" pitchFamily="18" charset="0"/>
              </a:rPr>
              <a:t>     Can breastfeed after 2 </a:t>
            </a:r>
            <a:r>
              <a:rPr lang="en-US" sz="2000" b="1" dirty="0" err="1">
                <a:latin typeface="Amasis MT Pro" panose="02040504050005020304" pitchFamily="18" charset="0"/>
              </a:rPr>
              <a:t>hrs</a:t>
            </a:r>
            <a:r>
              <a:rPr lang="en-US" sz="2000" b="1" dirty="0">
                <a:latin typeface="Amasis MT Pro" panose="02040504050005020304" pitchFamily="18" charset="0"/>
              </a:rPr>
              <a:t> of drinking.                                                                         </a:t>
            </a:r>
          </a:p>
          <a:p>
            <a:pPr marL="0" indent="0">
              <a:buNone/>
            </a:pPr>
            <a:endParaRPr lang="en-US" sz="2000" b="1" dirty="0">
              <a:latin typeface="Amasis MT Pro" panose="02040504050005020304" pitchFamily="18" charset="0"/>
            </a:endParaRPr>
          </a:p>
          <a:p>
            <a:r>
              <a:rPr lang="en-US" sz="2000" b="1" dirty="0">
                <a:latin typeface="Amasis MT Pro" panose="02040504050005020304" pitchFamily="18" charset="0"/>
              </a:rPr>
              <a:t> Occasionally, in rare cases of </a:t>
            </a:r>
            <a:r>
              <a:rPr lang="en-US" sz="2000" b="1" dirty="0" err="1">
                <a:latin typeface="Amasis MT Pro" panose="02040504050005020304" pitchFamily="18" charset="0"/>
              </a:rPr>
              <a:t>hyperbilirubinaemia</a:t>
            </a:r>
            <a:r>
              <a:rPr lang="en-US" sz="2000" b="1" dirty="0">
                <a:latin typeface="Amasis MT Pro" panose="02040504050005020304" pitchFamily="18" charset="0"/>
              </a:rPr>
              <a:t>(breastmilk jaundice) breastfeeding may need to be interrupted temporarily.</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r="4" b="3065"/>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21772315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4" name="Rectangle 8203">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5" name="Right Triangle 8204">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03" name="Rectangle 820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23356" y="1188637"/>
            <a:ext cx="9984615" cy="1597228"/>
          </a:xfrm>
        </p:spPr>
        <p:txBody>
          <a:bodyPr>
            <a:normAutofit/>
          </a:bodyPr>
          <a:lstStyle/>
          <a:p>
            <a:pPr>
              <a:lnSpc>
                <a:spcPct val="90000"/>
              </a:lnSpc>
            </a:pPr>
            <a:r>
              <a:rPr lang="en-US" sz="5100" dirty="0">
                <a:effectLst/>
                <a:latin typeface="Aharoni" panose="02010803020104030203" pitchFamily="2" charset="-79"/>
                <a:cs typeface="Aharoni" panose="02010803020104030203" pitchFamily="2" charset="-79"/>
              </a:rPr>
              <a:t>ALTERNATIVES</a:t>
            </a:r>
            <a:r>
              <a:rPr lang="en-US" sz="5100" dirty="0"/>
              <a:t> OF BREAST FEEDING</a:t>
            </a:r>
          </a:p>
        </p:txBody>
      </p:sp>
      <p:pic>
        <p:nvPicPr>
          <p:cNvPr id="8194" name="Picture 2" descr="E:\th (8).jpg"/>
          <p:cNvPicPr>
            <a:picLocks noChangeAspect="1" noChangeArrowheads="1"/>
          </p:cNvPicPr>
          <p:nvPr/>
        </p:nvPicPr>
        <p:blipFill>
          <a:blip r:embed="rId2" cstate="print"/>
          <a:stretch>
            <a:fillRect/>
          </a:stretch>
        </p:blipFill>
        <p:spPr bwMode="auto">
          <a:xfrm>
            <a:off x="1123357" y="3388493"/>
            <a:ext cx="3533985" cy="1987866"/>
          </a:xfrm>
          <a:prstGeom prst="rect">
            <a:avLst/>
          </a:prstGeom>
          <a:noFill/>
        </p:spPr>
      </p:pic>
      <p:sp>
        <p:nvSpPr>
          <p:cNvPr id="3" name="Content Placeholder 2"/>
          <p:cNvSpPr>
            <a:spLocks noGrp="1"/>
          </p:cNvSpPr>
          <p:nvPr>
            <p:ph idx="1"/>
          </p:nvPr>
        </p:nvSpPr>
        <p:spPr>
          <a:xfrm>
            <a:off x="5255260" y="2998278"/>
            <a:ext cx="4238257" cy="2728198"/>
          </a:xfrm>
        </p:spPr>
        <p:txBody>
          <a:bodyPr anchor="t">
            <a:normAutofit/>
          </a:bodyPr>
          <a:lstStyle/>
          <a:p>
            <a:pPr lvl="1">
              <a:buNone/>
            </a:pPr>
            <a:r>
              <a:rPr lang="en-US" sz="2000" b="1" dirty="0">
                <a:latin typeface="Amasis MT Pro" panose="02040504050005020304" pitchFamily="18" charset="0"/>
              </a:rPr>
              <a:t>   </a:t>
            </a:r>
            <a:r>
              <a:rPr lang="en-US" sz="2000" b="1" dirty="0" err="1">
                <a:latin typeface="Amasis MT Pro" panose="02040504050005020304" pitchFamily="18" charset="0"/>
              </a:rPr>
              <a:t>i</a:t>
            </a:r>
            <a:r>
              <a:rPr lang="en-US" sz="2000" b="1" dirty="0">
                <a:latin typeface="Amasis MT Pro" panose="02040504050005020304" pitchFamily="18" charset="0"/>
              </a:rPr>
              <a:t> . )</a:t>
            </a:r>
            <a:r>
              <a:rPr lang="en-US" sz="2000" dirty="0">
                <a:latin typeface="Amasis MT Pro" panose="02040504050005020304" pitchFamily="18" charset="0"/>
              </a:rPr>
              <a:t>   </a:t>
            </a:r>
            <a:r>
              <a:rPr lang="en-US" sz="2000" b="1" dirty="0">
                <a:latin typeface="Amasis MT Pro" panose="02040504050005020304" pitchFamily="18" charset="0"/>
              </a:rPr>
              <a:t>Expressed Breastmilk </a:t>
            </a:r>
          </a:p>
          <a:p>
            <a:pPr lvl="1">
              <a:buNone/>
            </a:pPr>
            <a:endParaRPr lang="en-US" sz="2000" b="1" dirty="0">
              <a:latin typeface="Amasis MT Pro" panose="02040504050005020304" pitchFamily="18" charset="0"/>
            </a:endParaRPr>
          </a:p>
          <a:p>
            <a:pPr lvl="1">
              <a:buNone/>
            </a:pPr>
            <a:r>
              <a:rPr lang="en-US" sz="2000" b="1" dirty="0">
                <a:latin typeface="Amasis MT Pro" panose="02040504050005020304" pitchFamily="18" charset="0"/>
              </a:rPr>
              <a:t>    ii . )   Wet Nurse </a:t>
            </a:r>
          </a:p>
          <a:p>
            <a:pPr lvl="1">
              <a:buNone/>
            </a:pPr>
            <a:endParaRPr lang="en-US" sz="2000" dirty="0">
              <a:latin typeface="Amasis MT Pro" panose="02040504050005020304" pitchFamily="18" charset="0"/>
            </a:endParaRPr>
          </a:p>
          <a:p>
            <a:pPr lvl="1">
              <a:buNone/>
            </a:pPr>
            <a:r>
              <a:rPr lang="en-US" sz="2000" dirty="0">
                <a:latin typeface="Amasis MT Pro" panose="02040504050005020304" pitchFamily="18" charset="0"/>
              </a:rPr>
              <a:t>    </a:t>
            </a:r>
            <a:r>
              <a:rPr lang="en-US" sz="2000" b="1" dirty="0">
                <a:latin typeface="Amasis MT Pro" panose="02040504050005020304" pitchFamily="18" charset="0"/>
              </a:rPr>
              <a:t>iii . )   Formula </a:t>
            </a:r>
          </a:p>
          <a:p>
            <a:pPr lvl="1">
              <a:buNone/>
            </a:pPr>
            <a:r>
              <a:rPr lang="en-US" sz="2000" b="1" dirty="0">
                <a:latin typeface="Amasis MT Pro" panose="02040504050005020304" pitchFamily="18" charset="0"/>
              </a:rPr>
              <a:t>                Feeding</a:t>
            </a:r>
          </a:p>
          <a:p>
            <a:pPr lvl="1">
              <a:buNone/>
            </a:pPr>
            <a:endParaRPr lang="en-US" sz="2000" dirty="0">
              <a:latin typeface="Amasis MT Pro" panose="02040504050005020304" pitchFamily="18" charset="0"/>
            </a:endParaRPr>
          </a:p>
          <a:p>
            <a:pPr lvl="1">
              <a:buNone/>
            </a:pPr>
            <a:endParaRPr lang="en-US" sz="2000" dirty="0">
              <a:latin typeface="Amasis MT Pro" panose="02040504050005020304" pitchFamily="18" charset="0"/>
            </a:endParaRPr>
          </a:p>
        </p:txBody>
      </p:sp>
    </p:spTree>
    <p:extLst>
      <p:ext uri="{BB962C8B-B14F-4D97-AF65-F5344CB8AC3E}">
        <p14:creationId xmlns:p14="http://schemas.microsoft.com/office/powerpoint/2010/main" val="15114406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anchor="ctr">
            <a:normAutofit/>
          </a:bodyPr>
          <a:lstStyle/>
          <a:p>
            <a:pPr>
              <a:lnSpc>
                <a:spcPct val="90000"/>
              </a:lnSpc>
            </a:pPr>
            <a:r>
              <a:rPr lang="en-US" sz="3700" dirty="0">
                <a:effectLst/>
                <a:latin typeface="Aharoni" panose="02010803020104030203" pitchFamily="2" charset="-79"/>
                <a:cs typeface="Aharoni" panose="02010803020104030203" pitchFamily="2" charset="-79"/>
              </a:rPr>
              <a:t>EXPRESSED BREASTMILK</a:t>
            </a:r>
          </a:p>
        </p:txBody>
      </p:sp>
      <p:grpSp>
        <p:nvGrpSpPr>
          <p:cNvPr id="1033" name="Group 103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34" name="Rectangle 103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7" name="Rectangle 103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0719" y="2330505"/>
            <a:ext cx="4559425" cy="3979585"/>
          </a:xfrm>
        </p:spPr>
        <p:txBody>
          <a:bodyPr anchor="ctr">
            <a:normAutofit/>
          </a:bodyPr>
          <a:lstStyle/>
          <a:p>
            <a:pPr>
              <a:lnSpc>
                <a:spcPct val="90000"/>
              </a:lnSpc>
              <a:buNone/>
            </a:pPr>
            <a:r>
              <a:rPr lang="en-US" sz="2000" b="1" dirty="0">
                <a:latin typeface="Amasis MT Pro" panose="02040504050005020304" pitchFamily="18" charset="0"/>
              </a:rPr>
              <a:t>Mother –not in a position to feed her</a:t>
            </a:r>
          </a:p>
          <a:p>
            <a:pPr>
              <a:lnSpc>
                <a:spcPct val="90000"/>
              </a:lnSpc>
              <a:buNone/>
            </a:pPr>
            <a:r>
              <a:rPr lang="en-US" sz="2000" b="1" dirty="0">
                <a:latin typeface="Amasis MT Pro" panose="02040504050005020304" pitchFamily="18" charset="0"/>
              </a:rPr>
              <a:t> baby(</a:t>
            </a:r>
            <a:r>
              <a:rPr lang="en-US" sz="2000" b="1" dirty="0" err="1">
                <a:latin typeface="Amasis MT Pro" panose="02040504050005020304" pitchFamily="18" charset="0"/>
              </a:rPr>
              <a:t>illmother,preterm</a:t>
            </a:r>
            <a:r>
              <a:rPr lang="en-US" sz="2000" b="1" dirty="0">
                <a:latin typeface="Amasis MT Pro" panose="02040504050005020304" pitchFamily="18" charset="0"/>
              </a:rPr>
              <a:t> </a:t>
            </a:r>
            <a:r>
              <a:rPr lang="en-US" sz="2000" b="1" dirty="0" err="1">
                <a:latin typeface="Amasis MT Pro" panose="02040504050005020304" pitchFamily="18" charset="0"/>
              </a:rPr>
              <a:t>baby,working</a:t>
            </a:r>
            <a:r>
              <a:rPr lang="en-US" sz="2000" b="1" dirty="0">
                <a:latin typeface="Amasis MT Pro" panose="02040504050005020304" pitchFamily="18" charset="0"/>
              </a:rPr>
              <a:t> mother) </a:t>
            </a:r>
          </a:p>
          <a:p>
            <a:pPr>
              <a:lnSpc>
                <a:spcPct val="90000"/>
              </a:lnSpc>
              <a:buNone/>
            </a:pPr>
            <a:r>
              <a:rPr lang="en-US" sz="2000" b="1" dirty="0">
                <a:latin typeface="Amasis MT Pro" panose="02040504050005020304" pitchFamily="18" charset="0"/>
              </a:rPr>
              <a:t>                                   (OR)          </a:t>
            </a:r>
          </a:p>
          <a:p>
            <a:pPr>
              <a:lnSpc>
                <a:spcPct val="90000"/>
              </a:lnSpc>
              <a:buNone/>
            </a:pPr>
            <a:r>
              <a:rPr lang="en-US" sz="2000" b="1" dirty="0">
                <a:latin typeface="Amasis MT Pro" panose="02040504050005020304" pitchFamily="18" charset="0"/>
              </a:rPr>
              <a:t>    in engorged breasts.</a:t>
            </a:r>
          </a:p>
          <a:p>
            <a:pPr marL="0" indent="0">
              <a:lnSpc>
                <a:spcPct val="90000"/>
              </a:lnSpc>
              <a:buNone/>
            </a:pPr>
            <a:r>
              <a:rPr lang="en-US" sz="2000" b="1" dirty="0">
                <a:latin typeface="Amasis MT Pro" panose="02040504050005020304" pitchFamily="18" charset="0"/>
              </a:rPr>
              <a:t>Precautions:</a:t>
            </a:r>
          </a:p>
          <a:p>
            <a:pPr marL="0" indent="0">
              <a:lnSpc>
                <a:spcPct val="90000"/>
              </a:lnSpc>
              <a:buNone/>
            </a:pPr>
            <a:r>
              <a:rPr lang="en-US" sz="2000" b="1" dirty="0">
                <a:latin typeface="Amasis MT Pro" panose="02040504050005020304" pitchFamily="18" charset="0"/>
              </a:rPr>
              <a:t>   -should in a </a:t>
            </a:r>
            <a:r>
              <a:rPr lang="en-US" sz="2000" b="1" dirty="0" err="1">
                <a:latin typeface="Amasis MT Pro" panose="02040504050005020304" pitchFamily="18" charset="0"/>
              </a:rPr>
              <a:t>hygenic</a:t>
            </a:r>
            <a:r>
              <a:rPr lang="en-US" sz="2000" b="1" dirty="0">
                <a:latin typeface="Amasis MT Pro" panose="02040504050005020304" pitchFamily="18" charset="0"/>
              </a:rPr>
              <a:t> conditions</a:t>
            </a:r>
          </a:p>
          <a:p>
            <a:pPr marL="0" indent="0">
              <a:lnSpc>
                <a:spcPct val="90000"/>
              </a:lnSpc>
              <a:buNone/>
            </a:pPr>
            <a:r>
              <a:rPr lang="en-US" sz="2000" b="1" dirty="0">
                <a:latin typeface="Amasis MT Pro" panose="02040504050005020304" pitchFamily="18" charset="0"/>
              </a:rPr>
              <a:t>   -stored at room temperature </a:t>
            </a:r>
          </a:p>
          <a:p>
            <a:pPr marL="0" indent="0">
              <a:lnSpc>
                <a:spcPct val="90000"/>
              </a:lnSpc>
              <a:buNone/>
            </a:pPr>
            <a:r>
              <a:rPr lang="en-US" sz="2000" b="1" dirty="0">
                <a:latin typeface="Amasis MT Pro" panose="02040504050005020304" pitchFamily="18" charset="0"/>
              </a:rPr>
              <a:t>for 10hrs</a:t>
            </a:r>
          </a:p>
          <a:p>
            <a:pPr marL="0" indent="0">
              <a:lnSpc>
                <a:spcPct val="90000"/>
              </a:lnSpc>
              <a:buNone/>
            </a:pPr>
            <a:r>
              <a:rPr lang="en-US" sz="2000" b="1" dirty="0">
                <a:latin typeface="Amasis MT Pro" panose="02040504050005020304" pitchFamily="18" charset="0"/>
              </a:rPr>
              <a:t>    -In refrigerator for 24 </a:t>
            </a:r>
            <a:r>
              <a:rPr lang="en-US" sz="2000" b="1" dirty="0" err="1">
                <a:latin typeface="Amasis MT Pro" panose="02040504050005020304" pitchFamily="18" charset="0"/>
              </a:rPr>
              <a:t>hrs</a:t>
            </a:r>
            <a:endParaRPr lang="en-US" sz="2000" b="1" dirty="0">
              <a:latin typeface="Amasis MT Pro" panose="02040504050005020304" pitchFamily="18" charset="0"/>
            </a:endParaRPr>
          </a:p>
          <a:p>
            <a:pPr marL="0" indent="0">
              <a:lnSpc>
                <a:spcPct val="90000"/>
              </a:lnSpc>
              <a:buNone/>
            </a:pPr>
            <a:r>
              <a:rPr lang="en-US" sz="2000" b="1" dirty="0">
                <a:latin typeface="Amasis MT Pro" panose="02040504050005020304" pitchFamily="18" charset="0"/>
              </a:rPr>
              <a:t>   -In freezer at -20 c for 3 months. </a:t>
            </a:r>
          </a:p>
        </p:txBody>
      </p:sp>
      <p:sp>
        <p:nvSpPr>
          <p:cNvPr id="1039" name="Rectangle 103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express bf.jpeg"/>
          <p:cNvPicPr>
            <a:picLocks noChangeAspect="1" noChangeArrowheads="1"/>
          </p:cNvPicPr>
          <p:nvPr/>
        </p:nvPicPr>
        <p:blipFill>
          <a:blip r:embed="rId2" cstate="print"/>
          <a:srcRect r="4" b="3308"/>
          <a:stretch>
            <a:fillRect/>
          </a:stretch>
        </p:blipFill>
        <p:spPr bwMode="auto">
          <a:xfrm>
            <a:off x="5977788" y="799352"/>
            <a:ext cx="5425410" cy="5259296"/>
          </a:xfrm>
          <a:prstGeom prst="rect">
            <a:avLst/>
          </a:prstGeom>
          <a:noFill/>
        </p:spPr>
      </p:pic>
    </p:spTree>
    <p:extLst>
      <p:ext uri="{BB962C8B-B14F-4D97-AF65-F5344CB8AC3E}">
        <p14:creationId xmlns:p14="http://schemas.microsoft.com/office/powerpoint/2010/main" val="2028444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0" name="Rectangle 3079">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2" name="Group 3081">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83" name="Rectangle 3082">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Rectangle 3083">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6" name="Rectangle 3085">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57025" y="367554"/>
            <a:ext cx="5038975" cy="1766046"/>
          </a:xfrm>
        </p:spPr>
        <p:txBody>
          <a:bodyPr anchor="b">
            <a:normAutofit/>
          </a:bodyPr>
          <a:lstStyle/>
          <a:p>
            <a:pPr lvl="1" rtl="0">
              <a:lnSpc>
                <a:spcPct val="90000"/>
              </a:lnSpc>
              <a:spcBef>
                <a:spcPct val="0"/>
              </a:spcBef>
            </a:pPr>
            <a:r>
              <a:rPr lang="en-US" sz="3600" dirty="0">
                <a:solidFill>
                  <a:schemeClr val="accent1"/>
                </a:solidFill>
                <a:effectLst>
                  <a:outerShdw blurRad="38100" dist="38100" dir="2700000" algn="tl">
                    <a:srgbClr val="000000">
                      <a:alpha val="43137"/>
                    </a:srgbClr>
                  </a:outerShdw>
                </a:effectLst>
                <a:latin typeface="Aharoni" panose="02010803020104030203" pitchFamily="2" charset="-79"/>
                <a:cs typeface="Aharoni" panose="02010803020104030203" pitchFamily="2" charset="-79"/>
              </a:rPr>
              <a:t>WET NURSE </a:t>
            </a:r>
            <a:br>
              <a:rPr lang="en-US" sz="3600" dirty="0">
                <a:solidFill>
                  <a:schemeClr val="accent1"/>
                </a:solidFill>
                <a:effectLst>
                  <a:outerShdw blurRad="38100" dist="38100" dir="2700000" algn="tl">
                    <a:srgbClr val="000000">
                      <a:alpha val="43137"/>
                    </a:srgbClr>
                  </a:outerShdw>
                </a:effectLst>
                <a:latin typeface="Aharoni" panose="02010803020104030203" pitchFamily="2" charset="-79"/>
                <a:cs typeface="Aharoni" panose="02010803020104030203" pitchFamily="2" charset="-79"/>
              </a:rPr>
            </a:br>
            <a:r>
              <a:rPr lang="en-US" sz="3600" dirty="0">
                <a:solidFill>
                  <a:schemeClr val="accent1"/>
                </a:solidFill>
                <a:effectLst>
                  <a:outerShdw blurRad="38100" dist="38100" dir="2700000" algn="tl">
                    <a:srgbClr val="000000">
                      <a:alpha val="43137"/>
                    </a:srgbClr>
                  </a:outerShdw>
                </a:effectLst>
                <a:latin typeface="Aharoni" panose="02010803020104030203" pitchFamily="2" charset="-79"/>
                <a:cs typeface="Aharoni" panose="02010803020104030203" pitchFamily="2" charset="-79"/>
              </a:rPr>
              <a:t>(</a:t>
            </a:r>
            <a:r>
              <a:rPr lang="en-US" sz="3600" dirty="0">
                <a:solidFill>
                  <a:schemeClr val="accent1"/>
                </a:solidFill>
                <a:latin typeface="Aharoni" panose="02010803020104030203" pitchFamily="2" charset="-79"/>
                <a:cs typeface="Aharoni" panose="02010803020104030203" pitchFamily="2" charset="-79"/>
              </a:rPr>
              <a:t>Donor</a:t>
            </a:r>
            <a:r>
              <a:rPr lang="en-US" sz="3600" dirty="0">
                <a:solidFill>
                  <a:schemeClr val="accent1"/>
                </a:solidFill>
                <a:effectLst>
                  <a:outerShdw blurRad="38100" dist="38100" dir="2700000" algn="tl">
                    <a:srgbClr val="000000">
                      <a:alpha val="43137"/>
                    </a:srgbClr>
                  </a:outerShdw>
                </a:effectLst>
                <a:latin typeface="Aharoni" panose="02010803020104030203" pitchFamily="2" charset="-79"/>
                <a:cs typeface="Aharoni" panose="02010803020104030203" pitchFamily="2" charset="-79"/>
              </a:rPr>
              <a:t> Milk):</a:t>
            </a:r>
            <a:br>
              <a:rPr lang="en-US" sz="3600" dirty="0">
                <a:solidFill>
                  <a:schemeClr val="accent1"/>
                </a:solidFill>
                <a:effectLst>
                  <a:outerShdw blurRad="38100" dist="38100" dir="2700000" algn="tl">
                    <a:srgbClr val="000000">
                      <a:alpha val="43137"/>
                    </a:srgbClr>
                  </a:outerShdw>
                </a:effectLst>
                <a:latin typeface="Aharoni" panose="02010803020104030203" pitchFamily="2" charset="-79"/>
                <a:cs typeface="Aharoni" panose="02010803020104030203" pitchFamily="2" charset="-79"/>
              </a:rPr>
            </a:br>
            <a:endParaRPr lang="en-US" sz="3600" dirty="0">
              <a:solidFill>
                <a:schemeClr val="accent1"/>
              </a:solidFill>
              <a:effectLst>
                <a:outerShdw blurRad="38100" dist="38100" dir="2700000" algn="tl">
                  <a:srgbClr val="000000">
                    <a:alpha val="43137"/>
                  </a:srgbClr>
                </a:outerShdw>
              </a:effectLst>
              <a:latin typeface="Aharoni" panose="02010803020104030203" pitchFamily="2" charset="-79"/>
              <a:cs typeface="Aharoni" panose="02010803020104030203" pitchFamily="2" charset="-79"/>
            </a:endParaRPr>
          </a:p>
        </p:txBody>
      </p:sp>
      <p:sp>
        <p:nvSpPr>
          <p:cNvPr id="3088" name="Rectangle 3087">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55715" y="2508105"/>
            <a:ext cx="5040285" cy="3632493"/>
          </a:xfrm>
        </p:spPr>
        <p:txBody>
          <a:bodyPr anchor="ctr">
            <a:normAutofit/>
          </a:bodyPr>
          <a:lstStyle/>
          <a:p>
            <a:pPr lvl="1">
              <a:lnSpc>
                <a:spcPct val="90000"/>
              </a:lnSpc>
              <a:buNone/>
            </a:pPr>
            <a:r>
              <a:rPr lang="en-US" sz="2000" b="1" dirty="0">
                <a:latin typeface="Amasis MT Pro" panose="02040504050005020304" pitchFamily="18" charset="0"/>
              </a:rPr>
              <a:t> A women who breast</a:t>
            </a:r>
          </a:p>
          <a:p>
            <a:pPr lvl="1">
              <a:lnSpc>
                <a:spcPct val="90000"/>
              </a:lnSpc>
              <a:buNone/>
            </a:pPr>
            <a:r>
              <a:rPr lang="en-US" sz="2000" b="1" dirty="0">
                <a:latin typeface="Amasis MT Pro" panose="02040504050005020304" pitchFamily="18" charset="0"/>
              </a:rPr>
              <a:t> feeds &amp; cares for </a:t>
            </a:r>
            <a:r>
              <a:rPr lang="en-US" sz="2000" b="1" dirty="0" err="1">
                <a:latin typeface="Amasis MT Pro" panose="02040504050005020304" pitchFamily="18" charset="0"/>
              </a:rPr>
              <a:t>someones</a:t>
            </a:r>
            <a:endParaRPr lang="en-US" sz="2000" b="1" dirty="0">
              <a:latin typeface="Amasis MT Pro" panose="02040504050005020304" pitchFamily="18" charset="0"/>
            </a:endParaRPr>
          </a:p>
          <a:p>
            <a:pPr lvl="1">
              <a:lnSpc>
                <a:spcPct val="90000"/>
              </a:lnSpc>
              <a:buNone/>
            </a:pPr>
            <a:r>
              <a:rPr lang="en-US" sz="2000" b="1" dirty="0">
                <a:latin typeface="Amasis MT Pro" panose="02040504050005020304" pitchFamily="18" charset="0"/>
              </a:rPr>
              <a:t> child. </a:t>
            </a:r>
          </a:p>
          <a:p>
            <a:pPr lvl="1">
              <a:lnSpc>
                <a:spcPct val="90000"/>
              </a:lnSpc>
              <a:buNone/>
            </a:pPr>
            <a:endParaRPr lang="en-US" sz="2000" b="1" dirty="0">
              <a:latin typeface="Amasis MT Pro" panose="02040504050005020304" pitchFamily="18" charset="0"/>
            </a:endParaRPr>
          </a:p>
          <a:p>
            <a:pPr lvl="1">
              <a:lnSpc>
                <a:spcPct val="90000"/>
              </a:lnSpc>
              <a:buNone/>
            </a:pPr>
            <a:r>
              <a:rPr lang="en-US" sz="2000" b="1" dirty="0">
                <a:latin typeface="Amasis MT Pro" panose="02040504050005020304" pitchFamily="18" charset="0"/>
              </a:rPr>
              <a:t>Advantage :</a:t>
            </a:r>
          </a:p>
          <a:p>
            <a:pPr lvl="1">
              <a:lnSpc>
                <a:spcPct val="90000"/>
              </a:lnSpc>
              <a:buNone/>
            </a:pPr>
            <a:r>
              <a:rPr lang="en-US" sz="2000" b="1" dirty="0">
                <a:latin typeface="Amasis MT Pro" panose="02040504050005020304" pitchFamily="18" charset="0"/>
              </a:rPr>
              <a:t>  similar to mothers breastmilk.</a:t>
            </a:r>
          </a:p>
          <a:p>
            <a:pPr lvl="1">
              <a:lnSpc>
                <a:spcPct val="90000"/>
              </a:lnSpc>
              <a:buNone/>
            </a:pPr>
            <a:endParaRPr lang="en-US" sz="2000" b="1" dirty="0">
              <a:latin typeface="Amasis MT Pro" panose="02040504050005020304" pitchFamily="18" charset="0"/>
            </a:endParaRPr>
          </a:p>
          <a:p>
            <a:pPr lvl="1">
              <a:lnSpc>
                <a:spcPct val="90000"/>
              </a:lnSpc>
              <a:buNone/>
            </a:pPr>
            <a:r>
              <a:rPr lang="en-US" sz="2000" b="1" dirty="0">
                <a:latin typeface="Amasis MT Pro" panose="02040504050005020304" pitchFamily="18" charset="0"/>
              </a:rPr>
              <a:t>Disadvantage:</a:t>
            </a:r>
          </a:p>
          <a:p>
            <a:pPr lvl="1">
              <a:lnSpc>
                <a:spcPct val="90000"/>
              </a:lnSpc>
              <a:buNone/>
            </a:pPr>
            <a:r>
              <a:rPr lang="en-US" sz="2000" b="1" dirty="0">
                <a:latin typeface="Amasis MT Pro" panose="02040504050005020304" pitchFamily="18" charset="0"/>
              </a:rPr>
              <a:t>  Screening process and Blood</a:t>
            </a:r>
          </a:p>
          <a:p>
            <a:pPr lvl="1">
              <a:lnSpc>
                <a:spcPct val="90000"/>
              </a:lnSpc>
              <a:buNone/>
            </a:pPr>
            <a:r>
              <a:rPr lang="en-US" sz="2000" b="1" dirty="0">
                <a:latin typeface="Amasis MT Pro" panose="02040504050005020304" pitchFamily="18" charset="0"/>
              </a:rPr>
              <a:t> Test.</a:t>
            </a:r>
          </a:p>
          <a:p>
            <a:pPr>
              <a:lnSpc>
                <a:spcPct val="90000"/>
              </a:lnSpc>
            </a:pPr>
            <a:endParaRPr lang="en-US" sz="2000" b="1" dirty="0">
              <a:latin typeface="Amasis MT Pro" panose="02040504050005020304" pitchFamily="18" charset="0"/>
            </a:endParaRPr>
          </a:p>
        </p:txBody>
      </p:sp>
      <p:pic>
        <p:nvPicPr>
          <p:cNvPr id="3074" name="Picture 2" descr="E:\th (2).jpg"/>
          <p:cNvPicPr>
            <a:picLocks noChangeAspect="1" noChangeArrowheads="1"/>
          </p:cNvPicPr>
          <p:nvPr/>
        </p:nvPicPr>
        <p:blipFill>
          <a:blip r:embed="rId2" cstate="print"/>
          <a:stretch>
            <a:fillRect/>
          </a:stretch>
        </p:blipFill>
        <p:spPr bwMode="auto">
          <a:xfrm>
            <a:off x="8280836" y="774285"/>
            <a:ext cx="1720782" cy="2581173"/>
          </a:xfrm>
          <a:prstGeom prst="rect">
            <a:avLst/>
          </a:prstGeom>
          <a:noFill/>
        </p:spPr>
      </p:pic>
      <p:pic>
        <p:nvPicPr>
          <p:cNvPr id="3075" name="Picture 3" descr="E:\th (10).jpg"/>
          <p:cNvPicPr>
            <a:picLocks noChangeAspect="1" noChangeArrowheads="1"/>
          </p:cNvPicPr>
          <p:nvPr/>
        </p:nvPicPr>
        <p:blipFill>
          <a:blip r:embed="rId3" cstate="print"/>
          <a:stretch>
            <a:fillRect/>
          </a:stretch>
        </p:blipFill>
        <p:spPr bwMode="auto">
          <a:xfrm>
            <a:off x="7850640" y="3575074"/>
            <a:ext cx="2581173" cy="2581173"/>
          </a:xfrm>
          <a:prstGeom prst="rect">
            <a:avLst/>
          </a:prstGeom>
          <a:noFill/>
        </p:spPr>
      </p:pic>
    </p:spTree>
    <p:extLst>
      <p:ext uri="{BB962C8B-B14F-4D97-AF65-F5344CB8AC3E}">
        <p14:creationId xmlns:p14="http://schemas.microsoft.com/office/powerpoint/2010/main" val="7442858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18520" cy="1434415"/>
          </a:xfrm>
        </p:spPr>
        <p:txBody>
          <a:bodyPr anchor="b">
            <a:normAutofit/>
          </a:bodyPr>
          <a:lstStyle/>
          <a:p>
            <a:r>
              <a:rPr lang="en-US" sz="5000" b="1" dirty="0">
                <a:latin typeface="Aharoni" panose="02010803020104030203" pitchFamily="2" charset="-79"/>
                <a:cs typeface="Aharoni" panose="02010803020104030203" pitchFamily="2" charset="-79"/>
              </a:rPr>
              <a:t>ARTIFICIAL /FORMULA FEEDING</a:t>
            </a:r>
          </a:p>
        </p:txBody>
      </p:sp>
      <p:sp>
        <p:nvSpPr>
          <p:cNvPr id="512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72493" y="2071316"/>
            <a:ext cx="6713552" cy="4119172"/>
          </a:xfrm>
        </p:spPr>
        <p:txBody>
          <a:bodyPr anchor="t">
            <a:normAutofit/>
          </a:bodyPr>
          <a:lstStyle/>
          <a:p>
            <a:r>
              <a:rPr lang="en-US" sz="2200" b="1" dirty="0">
                <a:latin typeface="Amasis MT Pro" panose="02040504050005020304" pitchFamily="18" charset="0"/>
              </a:rPr>
              <a:t>Infant formula is a manufactured </a:t>
            </a:r>
            <a:r>
              <a:rPr lang="en-US" sz="2200" b="1" dirty="0" err="1">
                <a:latin typeface="Amasis MT Pro" panose="02040504050005020304" pitchFamily="18" charset="0"/>
              </a:rPr>
              <a:t>foood</a:t>
            </a:r>
            <a:r>
              <a:rPr lang="en-US" sz="2200" b="1" dirty="0">
                <a:latin typeface="Amasis MT Pro" panose="02040504050005020304" pitchFamily="18" charset="0"/>
              </a:rPr>
              <a:t> designed and marketed for feeding  to </a:t>
            </a:r>
          </a:p>
          <a:p>
            <a:pPr>
              <a:buNone/>
            </a:pPr>
            <a:r>
              <a:rPr lang="en-US" sz="2200" b="1" dirty="0">
                <a:latin typeface="Amasis MT Pro" panose="02040504050005020304" pitchFamily="18" charset="0"/>
              </a:rPr>
              <a:t>    babies and infants under 12 </a:t>
            </a:r>
          </a:p>
          <a:p>
            <a:pPr>
              <a:buNone/>
            </a:pPr>
            <a:r>
              <a:rPr lang="en-US" sz="2200" b="1" dirty="0">
                <a:latin typeface="Amasis MT Pro" panose="02040504050005020304" pitchFamily="18" charset="0"/>
              </a:rPr>
              <a:t>    months of </a:t>
            </a:r>
            <a:r>
              <a:rPr lang="en-US" sz="2200" b="1" dirty="0" err="1">
                <a:latin typeface="Amasis MT Pro" panose="02040504050005020304" pitchFamily="18" charset="0"/>
              </a:rPr>
              <a:t>age,usually</a:t>
            </a:r>
            <a:r>
              <a:rPr lang="en-US" sz="2200" b="1" dirty="0">
                <a:latin typeface="Amasis MT Pro" panose="02040504050005020304" pitchFamily="18" charset="0"/>
              </a:rPr>
              <a:t> prepared</a:t>
            </a:r>
          </a:p>
          <a:p>
            <a:pPr>
              <a:buNone/>
            </a:pPr>
            <a:r>
              <a:rPr lang="en-US" sz="2200" b="1" dirty="0">
                <a:latin typeface="Amasis MT Pro" panose="02040504050005020304" pitchFamily="18" charset="0"/>
              </a:rPr>
              <a:t>    for bottle</a:t>
            </a:r>
            <a:r>
              <a:rPr lang="en-US" sz="2200" b="1" u="sng" dirty="0">
                <a:latin typeface="Amasis MT Pro" panose="02040504050005020304" pitchFamily="18" charset="0"/>
              </a:rPr>
              <a:t> </a:t>
            </a:r>
            <a:r>
              <a:rPr lang="en-US" sz="2200" b="1" dirty="0">
                <a:latin typeface="Amasis MT Pro" panose="02040504050005020304" pitchFamily="18" charset="0"/>
              </a:rPr>
              <a:t>-feeding or  </a:t>
            </a:r>
          </a:p>
          <a:p>
            <a:pPr>
              <a:buNone/>
            </a:pPr>
            <a:r>
              <a:rPr lang="en-US" sz="2200" b="1" dirty="0">
                <a:latin typeface="Amasis MT Pro" panose="02040504050005020304" pitchFamily="18" charset="0"/>
              </a:rPr>
              <a:t>    cup-feeding from powder (mixed with water) or liquid (with or without additional water). </a:t>
            </a:r>
          </a:p>
        </p:txBody>
      </p:sp>
      <p:pic>
        <p:nvPicPr>
          <p:cNvPr id="5122" name="Picture 2" descr="E:\th (4).jpg"/>
          <p:cNvPicPr>
            <a:picLocks noChangeAspect="1" noChangeArrowheads="1"/>
          </p:cNvPicPr>
          <p:nvPr/>
        </p:nvPicPr>
        <p:blipFill>
          <a:blip r:embed="rId2" cstate="print"/>
          <a:srcRect l="3795" r="-1" b="-1"/>
          <a:stretch>
            <a:fillRect/>
          </a:stretch>
        </p:blipFill>
        <p:spPr bwMode="auto">
          <a:xfrm>
            <a:off x="7675658" y="2093976"/>
            <a:ext cx="3941064" cy="4096512"/>
          </a:xfrm>
          <a:prstGeom prst="rect">
            <a:avLst/>
          </a:prstGeom>
          <a:noFill/>
        </p:spPr>
      </p:pic>
    </p:spTree>
    <p:extLst>
      <p:ext uri="{BB962C8B-B14F-4D97-AF65-F5344CB8AC3E}">
        <p14:creationId xmlns:p14="http://schemas.microsoft.com/office/powerpoint/2010/main" val="37387159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2" name="Rectangle 615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54" name="Group 615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6155" name="Rectangle 615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6" name="Rectangle 615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58" name="Rectangle 615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5107" y="997049"/>
            <a:ext cx="5040285" cy="1825468"/>
          </a:xfrm>
        </p:spPr>
        <p:txBody>
          <a:bodyPr anchor="b">
            <a:normAutofit fontScale="90000"/>
          </a:bodyPr>
          <a:lstStyle/>
          <a:p>
            <a:pPr>
              <a:lnSpc>
                <a:spcPct val="90000"/>
              </a:lnSpc>
            </a:pPr>
            <a:r>
              <a:rPr lang="en-US" sz="4400" dirty="0">
                <a:latin typeface="Aharoni" panose="02010803020104030203" pitchFamily="2" charset="-79"/>
                <a:cs typeface="Aharoni" panose="02010803020104030203" pitchFamily="2" charset="-79"/>
              </a:rPr>
              <a:t>DIFFERENT FORMS OF FORMULA:</a:t>
            </a:r>
            <a:br>
              <a:rPr lang="en-US" sz="4400" dirty="0">
                <a:latin typeface="Aharoni" panose="02010803020104030203" pitchFamily="2" charset="-79"/>
                <a:cs typeface="Aharoni" panose="02010803020104030203" pitchFamily="2" charset="-79"/>
              </a:rPr>
            </a:br>
            <a:endParaRPr lang="en-US" sz="4400" dirty="0">
              <a:latin typeface="Aharoni" panose="02010803020104030203" pitchFamily="2" charset="-79"/>
              <a:cs typeface="Aharoni" panose="02010803020104030203" pitchFamily="2" charset="-79"/>
            </a:endParaRPr>
          </a:p>
        </p:txBody>
      </p:sp>
      <p:sp>
        <p:nvSpPr>
          <p:cNvPr id="6160" name="Rectangle 615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55715" y="2508105"/>
            <a:ext cx="5040285" cy="3632493"/>
          </a:xfrm>
        </p:spPr>
        <p:txBody>
          <a:bodyPr anchor="ctr">
            <a:normAutofit/>
          </a:bodyPr>
          <a:lstStyle/>
          <a:p>
            <a:r>
              <a:rPr lang="en-US" sz="2000" b="1" dirty="0">
                <a:latin typeface="Amasis MT Pro" panose="02040504050005020304" pitchFamily="18" charset="0"/>
              </a:rPr>
              <a:t>Ready to Use </a:t>
            </a:r>
          </a:p>
          <a:p>
            <a:endParaRPr lang="en-US" sz="2000" b="1" dirty="0">
              <a:latin typeface="Amasis MT Pro" panose="02040504050005020304" pitchFamily="18" charset="0"/>
            </a:endParaRPr>
          </a:p>
          <a:p>
            <a:r>
              <a:rPr lang="en-US" sz="2000" b="1" dirty="0">
                <a:latin typeface="Amasis MT Pro" panose="02040504050005020304" pitchFamily="18" charset="0"/>
              </a:rPr>
              <a:t>Liquid Concentrate </a:t>
            </a:r>
          </a:p>
          <a:p>
            <a:endParaRPr lang="en-US" sz="2000" b="1" dirty="0">
              <a:latin typeface="Amasis MT Pro" panose="02040504050005020304" pitchFamily="18" charset="0"/>
            </a:endParaRPr>
          </a:p>
          <a:p>
            <a:r>
              <a:rPr lang="en-US" sz="2000" b="1" dirty="0">
                <a:latin typeface="Amasis MT Pro" panose="02040504050005020304" pitchFamily="18" charset="0"/>
              </a:rPr>
              <a:t> Powdered.</a:t>
            </a:r>
          </a:p>
          <a:p>
            <a:endParaRPr lang="en-US" sz="2000" b="1" dirty="0">
              <a:latin typeface="Amasis MT Pro" panose="02040504050005020304" pitchFamily="18" charset="0"/>
            </a:endParaRPr>
          </a:p>
        </p:txBody>
      </p:sp>
      <p:pic>
        <p:nvPicPr>
          <p:cNvPr id="6146" name="Picture 2" descr="E:\th (5).jpg"/>
          <p:cNvPicPr>
            <a:picLocks noChangeAspect="1" noChangeArrowheads="1"/>
          </p:cNvPicPr>
          <p:nvPr/>
        </p:nvPicPr>
        <p:blipFill>
          <a:blip r:embed="rId2" cstate="print"/>
          <a:stretch>
            <a:fillRect/>
          </a:stretch>
        </p:blipFill>
        <p:spPr bwMode="auto">
          <a:xfrm>
            <a:off x="8206866" y="774285"/>
            <a:ext cx="1868722" cy="2581173"/>
          </a:xfrm>
          <a:prstGeom prst="rect">
            <a:avLst/>
          </a:prstGeom>
          <a:noFill/>
        </p:spPr>
      </p:pic>
      <p:pic>
        <p:nvPicPr>
          <p:cNvPr id="6147" name="Picture 3" descr="E:\th (7).jpg"/>
          <p:cNvPicPr>
            <a:picLocks noChangeAspect="1" noChangeArrowheads="1"/>
          </p:cNvPicPr>
          <p:nvPr/>
        </p:nvPicPr>
        <p:blipFill>
          <a:blip r:embed="rId3" cstate="print"/>
          <a:stretch>
            <a:fillRect/>
          </a:stretch>
        </p:blipFill>
        <p:spPr bwMode="auto">
          <a:xfrm>
            <a:off x="7420445" y="3575074"/>
            <a:ext cx="3441564" cy="2581173"/>
          </a:xfrm>
          <a:prstGeom prst="rect">
            <a:avLst/>
          </a:prstGeom>
          <a:noFill/>
        </p:spPr>
      </p:pic>
    </p:spTree>
    <p:extLst>
      <p:ext uri="{BB962C8B-B14F-4D97-AF65-F5344CB8AC3E}">
        <p14:creationId xmlns:p14="http://schemas.microsoft.com/office/powerpoint/2010/main" val="13522034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49" name="Group 1024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0250" name="Rectangle 1024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1" name="Rectangle 1025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2" name="Rectangle 1025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54" name="Rectangle 1025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5052369" cy="1035781"/>
          </a:xfrm>
        </p:spPr>
        <p:txBody>
          <a:bodyPr anchor="ctr">
            <a:normAutofit/>
          </a:bodyPr>
          <a:lstStyle/>
          <a:p>
            <a:pPr>
              <a:lnSpc>
                <a:spcPct val="90000"/>
              </a:lnSpc>
            </a:pPr>
            <a:r>
              <a:rPr lang="en-US" sz="3300"/>
              <a:t>READY TO USE:</a:t>
            </a:r>
            <a:br>
              <a:rPr lang="en-US" sz="3300"/>
            </a:br>
            <a:endParaRPr lang="en-US" sz="3300"/>
          </a:p>
        </p:txBody>
      </p:sp>
      <p:sp>
        <p:nvSpPr>
          <p:cNvPr id="3" name="Content Placeholder 2"/>
          <p:cNvSpPr>
            <a:spLocks noGrp="1"/>
          </p:cNvSpPr>
          <p:nvPr>
            <p:ph idx="1"/>
          </p:nvPr>
        </p:nvSpPr>
        <p:spPr>
          <a:xfrm>
            <a:off x="1045029" y="2524721"/>
            <a:ext cx="4991629" cy="3677123"/>
          </a:xfrm>
        </p:spPr>
        <p:txBody>
          <a:bodyPr anchor="ctr">
            <a:normAutofit/>
          </a:bodyPr>
          <a:lstStyle/>
          <a:p>
            <a:pPr>
              <a:buNone/>
            </a:pPr>
            <a:r>
              <a:rPr lang="en-US" sz="1800" b="1"/>
              <a:t>Advantage:    </a:t>
            </a:r>
          </a:p>
          <a:p>
            <a:pPr>
              <a:buNone/>
            </a:pPr>
            <a:r>
              <a:rPr lang="en-US" sz="1800" b="1"/>
              <a:t>         - most convenient</a:t>
            </a:r>
          </a:p>
          <a:p>
            <a:pPr>
              <a:buNone/>
            </a:pPr>
            <a:r>
              <a:rPr lang="en-US" sz="1800" b="1"/>
              <a:t>        - if no access to safe water  </a:t>
            </a:r>
          </a:p>
          <a:p>
            <a:pPr>
              <a:buNone/>
            </a:pPr>
            <a:endParaRPr lang="en-US" sz="1800" b="1"/>
          </a:p>
          <a:p>
            <a:pPr>
              <a:buNone/>
            </a:pPr>
            <a:r>
              <a:rPr lang="en-US" sz="1800" b="1"/>
              <a:t>Disadvantage:</a:t>
            </a:r>
          </a:p>
          <a:p>
            <a:pPr>
              <a:buNone/>
            </a:pPr>
            <a:r>
              <a:rPr lang="en-US" sz="1800" b="1"/>
              <a:t>              - expensive</a:t>
            </a:r>
          </a:p>
          <a:p>
            <a:pPr>
              <a:buNone/>
            </a:pPr>
            <a:r>
              <a:rPr lang="en-US" sz="1800" b="1"/>
              <a:t>               - short lifespan(within 48 hrs)</a:t>
            </a:r>
          </a:p>
          <a:p>
            <a:pPr>
              <a:buNone/>
            </a:pPr>
            <a:r>
              <a:rPr lang="en-US" sz="1800" b="1"/>
              <a:t>               - more storage space.</a:t>
            </a:r>
          </a:p>
          <a:p>
            <a:pPr>
              <a:buNone/>
            </a:pPr>
            <a:r>
              <a:rPr lang="en-US" sz="1800" b="1"/>
              <a:t>                           </a:t>
            </a:r>
          </a:p>
          <a:p>
            <a:pPr>
              <a:buNone/>
            </a:pPr>
            <a:r>
              <a:rPr lang="en-US" sz="1800" b="1"/>
              <a:t>                             </a:t>
            </a:r>
          </a:p>
        </p:txBody>
      </p:sp>
      <p:sp>
        <p:nvSpPr>
          <p:cNvPr id="10256" name="Rectangle 10255">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E:\breastfeeding.jpeg"/>
          <p:cNvPicPr>
            <a:picLocks noChangeAspect="1" noChangeArrowheads="1"/>
          </p:cNvPicPr>
          <p:nvPr/>
        </p:nvPicPr>
        <p:blipFill>
          <a:blip r:embed="rId2" cstate="print"/>
          <a:stretch>
            <a:fillRect/>
          </a:stretch>
        </p:blipFill>
        <p:spPr bwMode="auto">
          <a:xfrm>
            <a:off x="7110746" y="901032"/>
            <a:ext cx="3862746" cy="5116220"/>
          </a:xfrm>
          <a:prstGeom prst="rect">
            <a:avLst/>
          </a:prstGeom>
          <a:noFill/>
        </p:spPr>
      </p:pic>
      <p:cxnSp>
        <p:nvCxnSpPr>
          <p:cNvPr id="10258" name="Straight Connector 1025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4571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anchor="b">
            <a:normAutofit/>
          </a:bodyPr>
          <a:lstStyle/>
          <a:p>
            <a:pPr>
              <a:lnSpc>
                <a:spcPct val="90000"/>
              </a:lnSpc>
            </a:pPr>
            <a:r>
              <a:rPr lang="en-US" sz="3800"/>
              <a:t>Liquid Concentrate Formula:</a:t>
            </a:r>
            <a:br>
              <a:rPr lang="en-US" sz="3800"/>
            </a:br>
            <a:endParaRPr lang="en-US" sz="3800"/>
          </a:p>
        </p:txBody>
      </p:sp>
      <p:grpSp>
        <p:nvGrpSpPr>
          <p:cNvPr id="20" name="Group 1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1" name="Rectangle 2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660" y="2599509"/>
            <a:ext cx="10143668" cy="3435531"/>
          </a:xfrm>
        </p:spPr>
        <p:txBody>
          <a:bodyPr anchor="ctr">
            <a:normAutofit/>
          </a:bodyPr>
          <a:lstStyle/>
          <a:p>
            <a:r>
              <a:rPr lang="en-US" sz="2400" b="1"/>
              <a:t>Advantage:   </a:t>
            </a:r>
          </a:p>
          <a:p>
            <a:r>
              <a:rPr lang="en-US" sz="2400" b="1"/>
              <a:t>               less expensive than the latter .</a:t>
            </a:r>
          </a:p>
          <a:p>
            <a:r>
              <a:rPr lang="en-US" sz="2400" b="1"/>
              <a:t>               less storage space.</a:t>
            </a:r>
          </a:p>
          <a:p>
            <a:r>
              <a:rPr lang="en-US" sz="2400" b="1"/>
              <a:t>Disadvantage:</a:t>
            </a:r>
          </a:p>
          <a:p>
            <a:r>
              <a:rPr lang="en-US" sz="2400" b="1"/>
              <a:t>                expensive than  powdered</a:t>
            </a:r>
          </a:p>
          <a:p>
            <a:r>
              <a:rPr lang="en-US" sz="2400" b="1"/>
              <a:t>                mix equal amount of water.     </a:t>
            </a:r>
          </a:p>
          <a:p>
            <a:r>
              <a:rPr lang="en-US" sz="2400" b="1"/>
              <a:t>                lining of the cans contain BPA        </a:t>
            </a:r>
          </a:p>
        </p:txBody>
      </p:sp>
    </p:spTree>
    <p:extLst>
      <p:ext uri="{BB962C8B-B14F-4D97-AF65-F5344CB8AC3E}">
        <p14:creationId xmlns:p14="http://schemas.microsoft.com/office/powerpoint/2010/main" val="33606334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1336390"/>
            <a:ext cx="6155988" cy="1182927"/>
          </a:xfrm>
        </p:spPr>
        <p:txBody>
          <a:bodyPr anchor="b">
            <a:normAutofit/>
          </a:bodyPr>
          <a:lstStyle/>
          <a:p>
            <a:pPr>
              <a:lnSpc>
                <a:spcPct val="90000"/>
              </a:lnSpc>
            </a:pPr>
            <a:r>
              <a:rPr lang="en-US" sz="3900"/>
              <a:t>POWDERED FORMULA</a:t>
            </a:r>
            <a:br>
              <a:rPr lang="en-US" sz="3900"/>
            </a:br>
            <a:endParaRPr lang="en-US" sz="3900"/>
          </a:p>
        </p:txBody>
      </p:sp>
      <p:cxnSp>
        <p:nvCxnSpPr>
          <p:cNvPr id="11" name="Straight Connector 10">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803776" y="2829330"/>
            <a:ext cx="6190412" cy="3344459"/>
          </a:xfrm>
        </p:spPr>
        <p:txBody>
          <a:bodyPr anchor="t">
            <a:normAutofit/>
          </a:bodyPr>
          <a:lstStyle/>
          <a:p>
            <a:pPr>
              <a:lnSpc>
                <a:spcPct val="90000"/>
              </a:lnSpc>
            </a:pPr>
            <a:r>
              <a:rPr lang="en-US" sz="1900" b="1">
                <a:solidFill>
                  <a:schemeClr val="tx1">
                    <a:alpha val="80000"/>
                  </a:schemeClr>
                </a:solidFill>
              </a:rPr>
              <a:t>Advantage:</a:t>
            </a:r>
          </a:p>
          <a:p>
            <a:pPr>
              <a:lnSpc>
                <a:spcPct val="90000"/>
              </a:lnSpc>
              <a:buNone/>
            </a:pPr>
            <a:r>
              <a:rPr lang="en-US" sz="1900" b="1">
                <a:solidFill>
                  <a:schemeClr val="tx1">
                    <a:alpha val="80000"/>
                  </a:schemeClr>
                </a:solidFill>
              </a:rPr>
              <a:t>       - longer life span (1 month)</a:t>
            </a:r>
          </a:p>
          <a:p>
            <a:pPr>
              <a:lnSpc>
                <a:spcPct val="90000"/>
              </a:lnSpc>
              <a:buNone/>
            </a:pPr>
            <a:endParaRPr lang="en-US" sz="1900" b="1">
              <a:solidFill>
                <a:schemeClr val="tx1">
                  <a:alpha val="80000"/>
                </a:schemeClr>
              </a:solidFill>
            </a:endParaRPr>
          </a:p>
          <a:p>
            <a:pPr>
              <a:lnSpc>
                <a:spcPct val="90000"/>
              </a:lnSpc>
              <a:buNone/>
            </a:pPr>
            <a:r>
              <a:rPr lang="en-US" sz="1900" b="1">
                <a:solidFill>
                  <a:schemeClr val="tx1">
                    <a:alpha val="80000"/>
                  </a:schemeClr>
                </a:solidFill>
              </a:rPr>
              <a:t>       - less storage space</a:t>
            </a:r>
          </a:p>
          <a:p>
            <a:pPr>
              <a:lnSpc>
                <a:spcPct val="90000"/>
              </a:lnSpc>
              <a:buNone/>
            </a:pPr>
            <a:endParaRPr lang="en-US" sz="1900" b="1">
              <a:solidFill>
                <a:schemeClr val="tx1">
                  <a:alpha val="80000"/>
                </a:schemeClr>
              </a:solidFill>
            </a:endParaRPr>
          </a:p>
          <a:p>
            <a:pPr>
              <a:lnSpc>
                <a:spcPct val="90000"/>
              </a:lnSpc>
              <a:buNone/>
            </a:pPr>
            <a:r>
              <a:rPr lang="en-US" sz="1900" b="1">
                <a:solidFill>
                  <a:schemeClr val="tx1">
                    <a:alpha val="80000"/>
                  </a:schemeClr>
                </a:solidFill>
              </a:rPr>
              <a:t>        -canned powdered formula –less BPA</a:t>
            </a:r>
          </a:p>
          <a:p>
            <a:pPr>
              <a:lnSpc>
                <a:spcPct val="90000"/>
              </a:lnSpc>
              <a:buNone/>
            </a:pPr>
            <a:endParaRPr lang="en-US" sz="1900" b="1">
              <a:solidFill>
                <a:schemeClr val="tx1">
                  <a:alpha val="80000"/>
                </a:schemeClr>
              </a:solidFill>
            </a:endParaRPr>
          </a:p>
          <a:p>
            <a:pPr>
              <a:lnSpc>
                <a:spcPct val="90000"/>
              </a:lnSpc>
            </a:pPr>
            <a:r>
              <a:rPr lang="en-US" sz="1900" b="1">
                <a:solidFill>
                  <a:schemeClr val="tx1">
                    <a:alpha val="80000"/>
                  </a:schemeClr>
                </a:solidFill>
              </a:rPr>
              <a:t>Disadvantage:</a:t>
            </a:r>
          </a:p>
          <a:p>
            <a:pPr>
              <a:lnSpc>
                <a:spcPct val="90000"/>
              </a:lnSpc>
              <a:buNone/>
            </a:pPr>
            <a:r>
              <a:rPr lang="en-US" sz="1900" b="1">
                <a:solidFill>
                  <a:schemeClr val="tx1">
                    <a:alpha val="80000"/>
                  </a:schemeClr>
                </a:solidFill>
              </a:rPr>
              <a:t>                 - takes time to prepare( acc to instructions.)</a:t>
            </a:r>
          </a:p>
          <a:p>
            <a:pPr>
              <a:lnSpc>
                <a:spcPct val="90000"/>
              </a:lnSpc>
              <a:buNone/>
            </a:pPr>
            <a:r>
              <a:rPr lang="en-US" sz="1900" b="1">
                <a:solidFill>
                  <a:schemeClr val="tx1">
                    <a:alpha val="80000"/>
                  </a:schemeClr>
                </a:solidFill>
              </a:rPr>
              <a:t>                 </a:t>
            </a:r>
          </a:p>
        </p:txBody>
      </p:sp>
      <p:pic>
        <p:nvPicPr>
          <p:cNvPr id="4" name="Picture 2" descr="E:\th (6).jpg"/>
          <p:cNvPicPr>
            <a:picLocks noChangeAspect="1" noChangeArrowheads="1"/>
          </p:cNvPicPr>
          <p:nvPr/>
        </p:nvPicPr>
        <p:blipFill>
          <a:blip r:embed="rId2" cstate="print"/>
          <a:stretch>
            <a:fillRect/>
          </a:stretch>
        </p:blipFill>
        <p:spPr bwMode="auto">
          <a:xfrm>
            <a:off x="7572653" y="1980885"/>
            <a:ext cx="3548404" cy="3548404"/>
          </a:xfrm>
          <a:prstGeom prst="rect">
            <a:avLst/>
          </a:prstGeom>
          <a:noFill/>
        </p:spPr>
      </p:pic>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1648895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anchor="b">
            <a:normAutofit/>
          </a:bodyPr>
          <a:lstStyle/>
          <a:p>
            <a:r>
              <a:rPr lang="en-US" sz="5400"/>
              <a:t>TYPES OF FORMULA</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660" y="2599509"/>
            <a:ext cx="10143668" cy="3435531"/>
          </a:xfrm>
        </p:spPr>
        <p:txBody>
          <a:bodyPr anchor="ctr">
            <a:normAutofit/>
          </a:bodyPr>
          <a:lstStyle/>
          <a:p>
            <a:pPr>
              <a:buNone/>
            </a:pPr>
            <a:r>
              <a:rPr lang="en-US" sz="2400" b="1"/>
              <a:t>Cow's-milk-based formula</a:t>
            </a:r>
          </a:p>
          <a:p>
            <a:pPr>
              <a:buNone/>
            </a:pPr>
            <a:r>
              <a:rPr lang="en-US" sz="2400" b="1"/>
              <a:t>Lactose free formula</a:t>
            </a:r>
          </a:p>
          <a:p>
            <a:pPr>
              <a:buNone/>
            </a:pPr>
            <a:r>
              <a:rPr lang="en-US" sz="2400" b="1"/>
              <a:t>Soy based formula</a:t>
            </a:r>
          </a:p>
          <a:p>
            <a:pPr>
              <a:buNone/>
            </a:pPr>
            <a:r>
              <a:rPr lang="en-US" sz="2400" b="1"/>
              <a:t>Extensively hydrolyzed formula</a:t>
            </a:r>
          </a:p>
          <a:p>
            <a:pPr>
              <a:buNone/>
            </a:pPr>
            <a:r>
              <a:rPr lang="en-US" sz="2400" b="1"/>
              <a:t>Formula for premature and low-birth-weight babies</a:t>
            </a:r>
            <a:r>
              <a:rPr lang="en-US" sz="2400"/>
              <a:t> </a:t>
            </a:r>
          </a:p>
        </p:txBody>
      </p:sp>
    </p:spTree>
    <p:extLst>
      <p:ext uri="{BB962C8B-B14F-4D97-AF65-F5344CB8AC3E}">
        <p14:creationId xmlns:p14="http://schemas.microsoft.com/office/powerpoint/2010/main" val="22156063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25" name="Group 922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9226" name="Rectangle 922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7" name="Rectangle 922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29" name="Rectangle 9228">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57025" y="922644"/>
            <a:ext cx="5040285" cy="1169585"/>
          </a:xfrm>
        </p:spPr>
        <p:txBody>
          <a:bodyPr anchor="b">
            <a:normAutofit/>
          </a:bodyPr>
          <a:lstStyle/>
          <a:p>
            <a:pPr>
              <a:lnSpc>
                <a:spcPct val="90000"/>
              </a:lnSpc>
            </a:pPr>
            <a:r>
              <a:rPr lang="en-US" sz="2500"/>
              <a:t>ADVANTAGE OF FORMULA FEEDING</a:t>
            </a:r>
            <a:br>
              <a:rPr lang="en-US" sz="2500"/>
            </a:br>
            <a:endParaRPr lang="en-US" sz="2500"/>
          </a:p>
        </p:txBody>
      </p:sp>
      <p:sp>
        <p:nvSpPr>
          <p:cNvPr id="9231" name="Rectangle 923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55715" y="2508105"/>
            <a:ext cx="5040285" cy="3632493"/>
          </a:xfrm>
        </p:spPr>
        <p:txBody>
          <a:bodyPr anchor="ctr">
            <a:normAutofit/>
          </a:bodyPr>
          <a:lstStyle/>
          <a:p>
            <a:r>
              <a:rPr lang="en-US" sz="2000" b="1"/>
              <a:t>Safe</a:t>
            </a:r>
          </a:p>
          <a:p>
            <a:r>
              <a:rPr lang="en-US" sz="2000" b="1"/>
              <a:t>   Bacteria Free</a:t>
            </a:r>
          </a:p>
          <a:p>
            <a:r>
              <a:rPr lang="en-US" sz="2000" b="1"/>
              <a:t>   Scientifically prepared</a:t>
            </a:r>
          </a:p>
          <a:p>
            <a:r>
              <a:rPr lang="en-US" sz="2000" b="1"/>
              <a:t>   Can be Fortified</a:t>
            </a:r>
          </a:p>
          <a:p>
            <a:r>
              <a:rPr lang="en-US" sz="2000" b="1"/>
              <a:t>    Simple to reconstitute</a:t>
            </a:r>
          </a:p>
        </p:txBody>
      </p:sp>
      <p:pic>
        <p:nvPicPr>
          <p:cNvPr id="5" name="Picture 2" descr="E:\soy.jpg"/>
          <p:cNvPicPr>
            <a:picLocks noChangeAspect="1" noChangeArrowheads="1"/>
          </p:cNvPicPr>
          <p:nvPr/>
        </p:nvPicPr>
        <p:blipFill>
          <a:blip r:embed="rId2" cstate="print"/>
          <a:stretch>
            <a:fillRect/>
          </a:stretch>
        </p:blipFill>
        <p:spPr bwMode="auto">
          <a:xfrm>
            <a:off x="7850640" y="774285"/>
            <a:ext cx="2581173" cy="2581173"/>
          </a:xfrm>
          <a:prstGeom prst="rect">
            <a:avLst/>
          </a:prstGeom>
          <a:noFill/>
        </p:spPr>
      </p:pic>
      <p:pic>
        <p:nvPicPr>
          <p:cNvPr id="9218" name="Picture 2" descr="E:\bf.jpg"/>
          <p:cNvPicPr>
            <a:picLocks noChangeAspect="1" noChangeArrowheads="1"/>
          </p:cNvPicPr>
          <p:nvPr/>
        </p:nvPicPr>
        <p:blipFill>
          <a:blip r:embed="rId3" cstate="print"/>
          <a:stretch>
            <a:fillRect/>
          </a:stretch>
        </p:blipFill>
        <p:spPr bwMode="auto">
          <a:xfrm>
            <a:off x="7034147" y="3575074"/>
            <a:ext cx="4214160" cy="2581173"/>
          </a:xfrm>
          <a:prstGeom prst="rect">
            <a:avLst/>
          </a:prstGeom>
          <a:noFill/>
        </p:spPr>
      </p:pic>
    </p:spTree>
    <p:extLst>
      <p:ext uri="{BB962C8B-B14F-4D97-AF65-F5344CB8AC3E}">
        <p14:creationId xmlns:p14="http://schemas.microsoft.com/office/powerpoint/2010/main" val="1615451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6" name="Rectangle 2055">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1" name="Picture 3" descr="E:\th (9).jpg"/>
          <p:cNvPicPr>
            <a:picLocks noChangeAspect="1" noChangeArrowheads="1"/>
          </p:cNvPicPr>
          <p:nvPr/>
        </p:nvPicPr>
        <p:blipFill>
          <a:blip r:embed="rId2" cstate="print"/>
          <a:stretch>
            <a:fillRect/>
          </a:stretch>
        </p:blipFill>
        <p:spPr bwMode="auto">
          <a:xfrm>
            <a:off x="2511713" y="3350369"/>
            <a:ext cx="3634674" cy="2726005"/>
          </a:xfrm>
          <a:prstGeom prst="rect">
            <a:avLst/>
          </a:prstGeom>
          <a:noFill/>
        </p:spPr>
      </p:pic>
      <p:grpSp>
        <p:nvGrpSpPr>
          <p:cNvPr id="2058" name="Group 2057">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2059" name="Rectangle 2058">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2" name="Rectangle 2061">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40584" y="859808"/>
            <a:ext cx="3543197" cy="2878986"/>
          </a:xfrm>
        </p:spPr>
        <p:txBody>
          <a:bodyPr>
            <a:normAutofit/>
          </a:bodyPr>
          <a:lstStyle/>
          <a:p>
            <a:r>
              <a:rPr lang="en-US" sz="3200">
                <a:solidFill>
                  <a:schemeClr val="bg1"/>
                </a:solidFill>
              </a:rPr>
              <a:t>DISADVANTAGE OF FORMULA FEEDING</a:t>
            </a:r>
          </a:p>
        </p:txBody>
      </p:sp>
      <p:grpSp>
        <p:nvGrpSpPr>
          <p:cNvPr id="2064"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rgbClr val="FFFFFF"/>
          </a:solidFill>
        </p:grpSpPr>
        <p:sp>
          <p:nvSpPr>
            <p:cNvPr id="2065" name="Freeform: Shape 2064">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066" name="Freeform: Shape 2065">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067" name="Freeform: Shape 2066">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2068" name="Freeform: Shape 2067">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069" name="Freeform: Shape 2068">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070" name="Freeform: Shape 2069">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071" name="Freeform: Shape 2070">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072" name="Freeform: Shape 2071">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2073" name="Freeform: Shape 2072">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074" name="Freeform: Shape 2073">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075" name="Freeform: Shape 2074">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076" name="Freeform: Shape 2075">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077" name="Freeform: Shape 2076">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2079"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chemeClr val="bg1"/>
          </a:solidFill>
        </p:grpSpPr>
        <p:sp>
          <p:nvSpPr>
            <p:cNvPr id="2080" name="Freeform: Shape 2079">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081" name="Freeform: Shape 2080">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082" name="Freeform: Shape 2081">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2083" name="Freeform: Shape 2082">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084" name="Freeform: Shape 2083">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085" name="Freeform: Shape 2084">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086" name="Freeform: Shape 2085">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087" name="Freeform: Shape 2086">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2088" name="Freeform: Shape 2087">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089" name="Freeform: Shape 2088">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090" name="Freeform: Shape 2089">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091" name="Freeform: Shape 2090">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092" name="Freeform: Shape 2091">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p:cNvSpPr>
            <a:spLocks noGrp="1"/>
          </p:cNvSpPr>
          <p:nvPr>
            <p:ph idx="1"/>
          </p:nvPr>
        </p:nvSpPr>
        <p:spPr>
          <a:xfrm>
            <a:off x="6477270" y="685805"/>
            <a:ext cx="4974771" cy="5534019"/>
          </a:xfrm>
        </p:spPr>
        <p:txBody>
          <a:bodyPr>
            <a:normAutofit/>
          </a:bodyPr>
          <a:lstStyle/>
          <a:p>
            <a:pPr>
              <a:lnSpc>
                <a:spcPct val="90000"/>
              </a:lnSpc>
              <a:buNone/>
            </a:pPr>
            <a:r>
              <a:rPr lang="en-US" sz="2600" b="1">
                <a:solidFill>
                  <a:schemeClr val="bg1"/>
                </a:solidFill>
              </a:rPr>
              <a:t>Must follow the instructions</a:t>
            </a:r>
          </a:p>
          <a:p>
            <a:pPr>
              <a:lnSpc>
                <a:spcPct val="90000"/>
              </a:lnSpc>
              <a:buNone/>
            </a:pPr>
            <a:r>
              <a:rPr lang="en-US" sz="2600" b="1">
                <a:solidFill>
                  <a:schemeClr val="bg1"/>
                </a:solidFill>
              </a:rPr>
              <a:t> properly</a:t>
            </a:r>
          </a:p>
          <a:p>
            <a:pPr>
              <a:lnSpc>
                <a:spcPct val="90000"/>
              </a:lnSpc>
              <a:buNone/>
            </a:pPr>
            <a:endParaRPr lang="en-US" sz="2600" b="1">
              <a:solidFill>
                <a:schemeClr val="bg1"/>
              </a:solidFill>
            </a:endParaRPr>
          </a:p>
          <a:p>
            <a:pPr>
              <a:lnSpc>
                <a:spcPct val="90000"/>
              </a:lnSpc>
              <a:buNone/>
            </a:pPr>
            <a:r>
              <a:rPr lang="en-US" sz="2600" b="1">
                <a:solidFill>
                  <a:schemeClr val="bg1"/>
                </a:solidFill>
              </a:rPr>
              <a:t>More dilution (to save money)</a:t>
            </a:r>
          </a:p>
          <a:p>
            <a:pPr>
              <a:lnSpc>
                <a:spcPct val="90000"/>
              </a:lnSpc>
              <a:buNone/>
            </a:pPr>
            <a:endParaRPr lang="en-US" sz="2600" b="1">
              <a:solidFill>
                <a:schemeClr val="bg1"/>
              </a:solidFill>
            </a:endParaRPr>
          </a:p>
          <a:p>
            <a:pPr>
              <a:lnSpc>
                <a:spcPct val="90000"/>
              </a:lnSpc>
              <a:buNone/>
            </a:pPr>
            <a:r>
              <a:rPr lang="en-US" sz="2600" b="1">
                <a:solidFill>
                  <a:schemeClr val="bg1"/>
                </a:solidFill>
              </a:rPr>
              <a:t>Dirty bottles &amp;Nipples can kill</a:t>
            </a:r>
          </a:p>
          <a:p>
            <a:pPr>
              <a:lnSpc>
                <a:spcPct val="90000"/>
              </a:lnSpc>
              <a:buNone/>
            </a:pPr>
            <a:r>
              <a:rPr lang="en-US" sz="2600" b="1">
                <a:solidFill>
                  <a:schemeClr val="bg1"/>
                </a:solidFill>
              </a:rPr>
              <a:t> the baby.</a:t>
            </a:r>
          </a:p>
          <a:p>
            <a:pPr>
              <a:lnSpc>
                <a:spcPct val="90000"/>
              </a:lnSpc>
              <a:buNone/>
            </a:pPr>
            <a:endParaRPr lang="en-US" sz="2600" b="1">
              <a:solidFill>
                <a:schemeClr val="bg1"/>
              </a:solidFill>
            </a:endParaRPr>
          </a:p>
          <a:p>
            <a:pPr>
              <a:lnSpc>
                <a:spcPct val="90000"/>
              </a:lnSpc>
              <a:buNone/>
            </a:pPr>
            <a:r>
              <a:rPr lang="en-US" sz="2600" b="1">
                <a:solidFill>
                  <a:schemeClr val="bg1"/>
                </a:solidFill>
              </a:rPr>
              <a:t>Cannot kept in room temperature</a:t>
            </a:r>
          </a:p>
          <a:p>
            <a:pPr>
              <a:lnSpc>
                <a:spcPct val="90000"/>
              </a:lnSpc>
              <a:buNone/>
            </a:pPr>
            <a:r>
              <a:rPr lang="en-US" sz="2600" b="1">
                <a:solidFill>
                  <a:schemeClr val="bg1"/>
                </a:solidFill>
              </a:rPr>
              <a:t> for &gt;2 hrs.</a:t>
            </a:r>
          </a:p>
          <a:p>
            <a:pPr>
              <a:lnSpc>
                <a:spcPct val="90000"/>
              </a:lnSpc>
              <a:buNone/>
            </a:pPr>
            <a:endParaRPr lang="en-US" sz="2600" b="1">
              <a:solidFill>
                <a:schemeClr val="bg1"/>
              </a:solidFill>
            </a:endParaRPr>
          </a:p>
        </p:txBody>
      </p:sp>
    </p:spTree>
    <p:extLst>
      <p:ext uri="{BB962C8B-B14F-4D97-AF65-F5344CB8AC3E}">
        <p14:creationId xmlns:p14="http://schemas.microsoft.com/office/powerpoint/2010/main" val="15754989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7341" y="620688"/>
            <a:ext cx="6777318" cy="2259672"/>
          </a:xfrm>
        </p:spPr>
        <p:txBody>
          <a:bodyPr/>
          <a:lstStyle/>
          <a:p>
            <a:r>
              <a:rPr lang="en-SG" dirty="0"/>
              <a:t>MYTHS ABOUT BREASTFEEDING</a:t>
            </a:r>
            <a:endParaRPr lang="en-GB" dirty="0"/>
          </a:p>
        </p:txBody>
      </p:sp>
    </p:spTree>
    <p:extLst>
      <p:ext uri="{BB962C8B-B14F-4D97-AF65-F5344CB8AC3E}">
        <p14:creationId xmlns:p14="http://schemas.microsoft.com/office/powerpoint/2010/main" val="25224674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SG" dirty="0"/>
              <a:t>Colostrum is dirty and should not be given</a:t>
            </a:r>
          </a:p>
          <a:p>
            <a:r>
              <a:rPr lang="en-SG" dirty="0"/>
              <a:t>If babies feed a lot they aren't getting enough milk</a:t>
            </a:r>
          </a:p>
          <a:p>
            <a:r>
              <a:rPr lang="en-SG" dirty="0"/>
              <a:t>Formula fed babies sleep better</a:t>
            </a:r>
          </a:p>
          <a:p>
            <a:r>
              <a:rPr lang="en-SG" dirty="0"/>
              <a:t>Breastfeeding is painful</a:t>
            </a:r>
          </a:p>
          <a:p>
            <a:r>
              <a:rPr lang="en-SG" dirty="0"/>
              <a:t>Never wake a sleeping baby to breastfeed</a:t>
            </a:r>
          </a:p>
          <a:p>
            <a:r>
              <a:rPr lang="en-SG" dirty="0"/>
              <a:t>Breastfeeding prevents you from becoming pregnant</a:t>
            </a:r>
          </a:p>
          <a:p>
            <a:r>
              <a:rPr lang="en-SG" dirty="0"/>
              <a:t>You cant breastfeed after breast surgery</a:t>
            </a:r>
          </a:p>
          <a:p>
            <a:endParaRPr lang="en-GB" dirty="0"/>
          </a:p>
        </p:txBody>
      </p:sp>
      <p:sp>
        <p:nvSpPr>
          <p:cNvPr id="2" name="Title 1"/>
          <p:cNvSpPr>
            <a:spLocks noGrp="1"/>
          </p:cNvSpPr>
          <p:nvPr>
            <p:ph type="title"/>
          </p:nvPr>
        </p:nvSpPr>
        <p:spPr/>
        <p:txBody>
          <a:bodyPr/>
          <a:lstStyle/>
          <a:p>
            <a:r>
              <a:rPr lang="en-SG" dirty="0"/>
              <a:t>MYTHBUSTERS</a:t>
            </a:r>
            <a:endParaRPr lang="en-GB" dirty="0"/>
          </a:p>
        </p:txBody>
      </p:sp>
    </p:spTree>
    <p:extLst>
      <p:ext uri="{BB962C8B-B14F-4D97-AF65-F5344CB8AC3E}">
        <p14:creationId xmlns:p14="http://schemas.microsoft.com/office/powerpoint/2010/main" val="31083608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SG" dirty="0"/>
              <a:t>In many cultures throughout the world infants are not given colostrum because it is believed to be dirty and unclean</a:t>
            </a:r>
          </a:p>
          <a:p>
            <a:r>
              <a:rPr lang="en-SG" dirty="0"/>
              <a:t>In many countries around the world, especially in Asia, babies are given tea and sugar water for the first few days.</a:t>
            </a:r>
          </a:p>
          <a:p>
            <a:r>
              <a:rPr lang="en-SG" dirty="0"/>
              <a:t>Colostrum is actually liquid gold</a:t>
            </a:r>
          </a:p>
          <a:p>
            <a:r>
              <a:rPr lang="en-SG" dirty="0"/>
              <a:t>Helps protect gut from harmful substances, easy to digest and has a laxative effect.</a:t>
            </a:r>
          </a:p>
          <a:p>
            <a:r>
              <a:rPr lang="en-SG" dirty="0"/>
              <a:t>It is also high in white blood cells and antibodies which help fight infection.</a:t>
            </a:r>
          </a:p>
        </p:txBody>
      </p:sp>
      <p:sp>
        <p:nvSpPr>
          <p:cNvPr id="2" name="Title 1"/>
          <p:cNvSpPr>
            <a:spLocks noGrp="1"/>
          </p:cNvSpPr>
          <p:nvPr>
            <p:ph type="title"/>
          </p:nvPr>
        </p:nvSpPr>
        <p:spPr/>
        <p:txBody>
          <a:bodyPr/>
          <a:lstStyle/>
          <a:p>
            <a:r>
              <a:rPr lang="en-SG" dirty="0"/>
              <a:t>COLOSTRUM</a:t>
            </a:r>
            <a:endParaRPr lang="en-GB" dirty="0"/>
          </a:p>
        </p:txBody>
      </p:sp>
    </p:spTree>
    <p:extLst>
      <p:ext uri="{BB962C8B-B14F-4D97-AF65-F5344CB8AC3E}">
        <p14:creationId xmlns:p14="http://schemas.microsoft.com/office/powerpoint/2010/main" val="18829091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987" y="570156"/>
            <a:ext cx="10341684" cy="1054250"/>
          </a:xfrm>
        </p:spPr>
        <p:txBody>
          <a:bodyPr anchor="ctr">
            <a:normAutofit/>
          </a:bodyPr>
          <a:lstStyle/>
          <a:p>
            <a:r>
              <a:rPr lang="en-SG" dirty="0"/>
              <a:t>IF BABIES FEED A LOT…</a:t>
            </a:r>
            <a:endParaRPr lang="en-GB" dirty="0"/>
          </a:p>
        </p:txBody>
      </p:sp>
      <p:sp>
        <p:nvSpPr>
          <p:cNvPr id="3" name="Content Placeholder 2"/>
          <p:cNvSpPr>
            <a:spLocks noGrp="1"/>
          </p:cNvSpPr>
          <p:nvPr>
            <p:ph sz="quarter" idx="13"/>
          </p:nvPr>
        </p:nvSpPr>
        <p:spPr>
          <a:xfrm>
            <a:off x="914400" y="2240280"/>
            <a:ext cx="5071872" cy="3877056"/>
          </a:xfrm>
        </p:spPr>
        <p:txBody>
          <a:bodyPr>
            <a:normAutofit/>
          </a:bodyPr>
          <a:lstStyle/>
          <a:p>
            <a:r>
              <a:rPr lang="en-SG" dirty="0"/>
              <a:t>…that means they aren’t getting enough milk</a:t>
            </a:r>
          </a:p>
          <a:p>
            <a:r>
              <a:rPr lang="en-SG" dirty="0"/>
              <a:t>Breast milk is easier to digest because of their high protein low fat content.</a:t>
            </a:r>
          </a:p>
          <a:p>
            <a:r>
              <a:rPr lang="en-SG" dirty="0"/>
              <a:t>Babies being breastfed get hungrier sooner.</a:t>
            </a:r>
          </a:p>
          <a:p>
            <a:r>
              <a:rPr lang="en-SG" dirty="0"/>
              <a:t>So babies that breastfeed usually eat every two to three hours</a:t>
            </a:r>
            <a:endParaRPr lang="en-GB" dirty="0"/>
          </a:p>
        </p:txBody>
      </p:sp>
      <p:pic>
        <p:nvPicPr>
          <p:cNvPr id="1028" name="Picture 4" descr="http://i.telegraph.co.uk/multimedia/archive/02371/breastfeeding_2371455b.jpg"/>
          <p:cNvPicPr>
            <a:picLocks noChangeAspect="1" noChangeArrowheads="1"/>
          </p:cNvPicPr>
          <p:nvPr/>
        </p:nvPicPr>
        <p:blipFill>
          <a:blip r:embed="rId2">
            <a:extLst>
              <a:ext uri="{28A0092B-C50C-407E-A947-70E740481C1C}">
                <a14:useLocalDpi xmlns:a14="http://schemas.microsoft.com/office/drawing/2010/main" val="0"/>
              </a:ext>
            </a:extLst>
          </a:blip>
          <a:srcRect r="18238" b="-1"/>
          <a:stretch>
            <a:fillRect/>
          </a:stretch>
        </p:blipFill>
        <p:spPr bwMode="auto">
          <a:xfrm>
            <a:off x="6193535" y="2240280"/>
            <a:ext cx="5071872" cy="3877056"/>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3095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987" y="570156"/>
            <a:ext cx="10341684" cy="1054250"/>
          </a:xfrm>
        </p:spPr>
        <p:txBody>
          <a:bodyPr anchor="ctr">
            <a:normAutofit/>
          </a:bodyPr>
          <a:lstStyle/>
          <a:p>
            <a:r>
              <a:rPr lang="en-SG" dirty="0"/>
              <a:t>FORMULA FED BABIES…</a:t>
            </a:r>
            <a:endParaRPr lang="en-GB" dirty="0"/>
          </a:p>
        </p:txBody>
      </p:sp>
      <p:sp>
        <p:nvSpPr>
          <p:cNvPr id="3" name="Content Placeholder 2"/>
          <p:cNvSpPr>
            <a:spLocks noGrp="1"/>
          </p:cNvSpPr>
          <p:nvPr>
            <p:ph sz="quarter" idx="13"/>
          </p:nvPr>
        </p:nvSpPr>
        <p:spPr>
          <a:xfrm>
            <a:off x="914400" y="2240280"/>
            <a:ext cx="5071872" cy="3877056"/>
          </a:xfrm>
        </p:spPr>
        <p:txBody>
          <a:bodyPr>
            <a:normAutofit/>
          </a:bodyPr>
          <a:lstStyle/>
          <a:p>
            <a:r>
              <a:rPr lang="en-SG" dirty="0"/>
              <a:t>…sleep better</a:t>
            </a:r>
          </a:p>
          <a:p>
            <a:r>
              <a:rPr lang="en-SG" dirty="0"/>
              <a:t>Research shows formula fed babies sleep longer.</a:t>
            </a:r>
          </a:p>
          <a:p>
            <a:r>
              <a:rPr lang="en-SG" dirty="0"/>
              <a:t>Due to formula milk taking longer time to digest</a:t>
            </a:r>
          </a:p>
          <a:p>
            <a:r>
              <a:rPr lang="en-SG" dirty="0"/>
              <a:t>Formula milk stays in the baby’s system longer, it begins to ferment.</a:t>
            </a:r>
          </a:p>
          <a:p>
            <a:r>
              <a:rPr lang="en-SG" dirty="0"/>
              <a:t>The result…</a:t>
            </a:r>
            <a:endParaRPr lang="en-GB" dirty="0"/>
          </a:p>
        </p:txBody>
      </p:sp>
      <p:pic>
        <p:nvPicPr>
          <p:cNvPr id="3074" name="Picture 2" descr="http://myrtlebeachbirthservices.com/wp-content/uploads/2014/10/breastfeeding.jpg"/>
          <p:cNvPicPr>
            <a:picLocks noChangeAspect="1" noChangeArrowheads="1"/>
          </p:cNvPicPr>
          <p:nvPr/>
        </p:nvPicPr>
        <p:blipFill>
          <a:blip r:embed="rId2" cstate="print">
            <a:extLst>
              <a:ext uri="{28A0092B-C50C-407E-A947-70E740481C1C}">
                <a14:useLocalDpi xmlns:a14="http://schemas.microsoft.com/office/drawing/2010/main" val="0"/>
              </a:ext>
            </a:extLst>
          </a:blip>
          <a:srcRect r="3" b="78"/>
          <a:stretch>
            <a:fillRect/>
          </a:stretch>
        </p:blipFill>
        <p:spPr bwMode="auto">
          <a:xfrm>
            <a:off x="6193535" y="2240280"/>
            <a:ext cx="5071872" cy="3877056"/>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6107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SG" dirty="0"/>
              <a:t>…is painful</a:t>
            </a:r>
          </a:p>
          <a:p>
            <a:r>
              <a:rPr lang="en-SG" dirty="0"/>
              <a:t>Mother’s nipples may feel tender for the first couple of weeks</a:t>
            </a:r>
          </a:p>
          <a:p>
            <a:r>
              <a:rPr lang="en-SG" dirty="0"/>
              <a:t>But if baby is latching properly, there is no real pain or soreness</a:t>
            </a:r>
          </a:p>
          <a:p>
            <a:r>
              <a:rPr lang="en-SG" dirty="0"/>
              <a:t>It’s important to go to the hospital and get advice from the doctor about correct breastfeeding techniques</a:t>
            </a:r>
            <a:endParaRPr lang="en-GB" dirty="0"/>
          </a:p>
        </p:txBody>
      </p:sp>
      <p:sp>
        <p:nvSpPr>
          <p:cNvPr id="2" name="Title 1"/>
          <p:cNvSpPr>
            <a:spLocks noGrp="1"/>
          </p:cNvSpPr>
          <p:nvPr>
            <p:ph type="title"/>
          </p:nvPr>
        </p:nvSpPr>
        <p:spPr/>
        <p:txBody>
          <a:bodyPr/>
          <a:lstStyle/>
          <a:p>
            <a:r>
              <a:rPr lang="en-SG" dirty="0"/>
              <a:t>BREASTFEEDING…</a:t>
            </a:r>
            <a:endParaRPr lang="en-GB" dirty="0"/>
          </a:p>
        </p:txBody>
      </p:sp>
    </p:spTree>
    <p:extLst>
      <p:ext uri="{BB962C8B-B14F-4D97-AF65-F5344CB8AC3E}">
        <p14:creationId xmlns:p14="http://schemas.microsoft.com/office/powerpoint/2010/main" val="35175128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SG" dirty="0"/>
              <a:t>…baby to breastfeed</a:t>
            </a:r>
          </a:p>
          <a:p>
            <a:r>
              <a:rPr lang="en-SG" dirty="0"/>
              <a:t>Actually the baby will wake you to when he/she is ready to eat</a:t>
            </a:r>
            <a:r>
              <a:rPr lang="en-GB" dirty="0"/>
              <a:t>.</a:t>
            </a:r>
          </a:p>
          <a:p>
            <a:r>
              <a:rPr lang="en-SG" dirty="0"/>
              <a:t>Time period is usually two and half to three hours.</a:t>
            </a:r>
          </a:p>
          <a:p>
            <a:r>
              <a:rPr lang="en-SG" dirty="0"/>
              <a:t>Baby may also feed vigorously for two to three hours, known as “cluster feedings”.</a:t>
            </a:r>
          </a:p>
          <a:p>
            <a:r>
              <a:rPr lang="en-SG" dirty="0"/>
              <a:t>Should never sleep for more than four and half hour period per day</a:t>
            </a:r>
          </a:p>
          <a:p>
            <a:endParaRPr lang="en-SG" dirty="0"/>
          </a:p>
        </p:txBody>
      </p:sp>
      <p:sp>
        <p:nvSpPr>
          <p:cNvPr id="2" name="Title 1"/>
          <p:cNvSpPr>
            <a:spLocks noGrp="1"/>
          </p:cNvSpPr>
          <p:nvPr>
            <p:ph type="title"/>
          </p:nvPr>
        </p:nvSpPr>
        <p:spPr/>
        <p:txBody>
          <a:bodyPr/>
          <a:lstStyle/>
          <a:p>
            <a:r>
              <a:rPr lang="en-SG" dirty="0"/>
              <a:t>NEVER WAKE A SLEEPING…</a:t>
            </a:r>
            <a:endParaRPr lang="en-GB" dirty="0"/>
          </a:p>
        </p:txBody>
      </p:sp>
    </p:spTree>
    <p:extLst>
      <p:ext uri="{BB962C8B-B14F-4D97-AF65-F5344CB8AC3E}">
        <p14:creationId xmlns:p14="http://schemas.microsoft.com/office/powerpoint/2010/main" val="298137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987" y="570156"/>
            <a:ext cx="10341684" cy="1054250"/>
          </a:xfrm>
        </p:spPr>
        <p:txBody>
          <a:bodyPr anchor="ctr">
            <a:normAutofit/>
          </a:bodyPr>
          <a:lstStyle/>
          <a:p>
            <a:pPr>
              <a:lnSpc>
                <a:spcPct val="90000"/>
              </a:lnSpc>
            </a:pPr>
            <a:r>
              <a:rPr lang="en-SG" sz="4600"/>
              <a:t>BREASTFEEDING PREVENTS YOU..</a:t>
            </a:r>
            <a:endParaRPr lang="en-GB" sz="4600"/>
          </a:p>
        </p:txBody>
      </p:sp>
      <p:sp>
        <p:nvSpPr>
          <p:cNvPr id="3" name="Content Placeholder 2"/>
          <p:cNvSpPr>
            <a:spLocks noGrp="1"/>
          </p:cNvSpPr>
          <p:nvPr>
            <p:ph sz="quarter" idx="13"/>
          </p:nvPr>
        </p:nvSpPr>
        <p:spPr>
          <a:xfrm>
            <a:off x="914400" y="2240280"/>
            <a:ext cx="5071872" cy="3877056"/>
          </a:xfrm>
        </p:spPr>
        <p:txBody>
          <a:bodyPr>
            <a:normAutofit/>
          </a:bodyPr>
          <a:lstStyle/>
          <a:p>
            <a:r>
              <a:rPr lang="en-SG" dirty="0"/>
              <a:t>…from becoming pregnant</a:t>
            </a:r>
          </a:p>
          <a:p>
            <a:r>
              <a:rPr lang="en-SG" dirty="0"/>
              <a:t>Breastfeeding isn’t a guaranteed birth control</a:t>
            </a:r>
          </a:p>
          <a:p>
            <a:r>
              <a:rPr lang="en-SG" dirty="0"/>
              <a:t>Up to 98% effective as other method of birth control</a:t>
            </a:r>
          </a:p>
          <a:p>
            <a:r>
              <a:rPr lang="en-SG" dirty="0"/>
              <a:t>Hormones involved in breastfeeding prevent ovulation from 6months up to 14 months.</a:t>
            </a:r>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93535" y="2491258"/>
            <a:ext cx="5071872" cy="3375100"/>
          </a:xfrm>
          <a:prstGeom prst="rect">
            <a:avLst/>
          </a:prstGeom>
          <a:solidFill>
            <a:schemeClr val="accent1"/>
          </a:solid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51170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SG" dirty="0"/>
              <a:t>…after surgery</a:t>
            </a:r>
          </a:p>
          <a:p>
            <a:r>
              <a:rPr lang="en-SG" dirty="0"/>
              <a:t>In the western world some have breast implants.</a:t>
            </a:r>
          </a:p>
          <a:p>
            <a:r>
              <a:rPr lang="en-SG" dirty="0"/>
              <a:t>These surgeries often don’t involve incisions on the underside of the breast, so it doesn’t effect milk production or delivery.</a:t>
            </a:r>
          </a:p>
          <a:p>
            <a:r>
              <a:rPr lang="en-SG" dirty="0"/>
              <a:t>Women who have undergone breast reduction surgery on the other hand have it more difficult,  especially if never ending around the nipple have been cut</a:t>
            </a:r>
          </a:p>
          <a:p>
            <a:endParaRPr lang="en-SG" dirty="0"/>
          </a:p>
          <a:p>
            <a:endParaRPr lang="en-GB" dirty="0"/>
          </a:p>
        </p:txBody>
      </p:sp>
      <p:sp>
        <p:nvSpPr>
          <p:cNvPr id="2" name="Title 1"/>
          <p:cNvSpPr>
            <a:spLocks noGrp="1"/>
          </p:cNvSpPr>
          <p:nvPr>
            <p:ph type="title"/>
          </p:nvPr>
        </p:nvSpPr>
        <p:spPr/>
        <p:txBody>
          <a:bodyPr/>
          <a:lstStyle/>
          <a:p>
            <a:r>
              <a:rPr lang="en-SG" dirty="0"/>
              <a:t>YOU CAN’T BREASTFEED…</a:t>
            </a:r>
            <a:endParaRPr lang="en-GB" dirty="0"/>
          </a:p>
        </p:txBody>
      </p:sp>
    </p:spTree>
    <p:extLst>
      <p:ext uri="{BB962C8B-B14F-4D97-AF65-F5344CB8AC3E}">
        <p14:creationId xmlns:p14="http://schemas.microsoft.com/office/powerpoint/2010/main" val="37275617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SG" dirty="0"/>
              <a:t>Protection against Post Partum Depression</a:t>
            </a:r>
          </a:p>
          <a:p>
            <a:r>
              <a:rPr lang="en-SG" dirty="0"/>
              <a:t>Studies show that women who breastfeed were less likely to be diagnosed with post partum depression.</a:t>
            </a:r>
          </a:p>
          <a:p>
            <a:r>
              <a:rPr lang="en-SG" dirty="0"/>
              <a:t>Researchers suspect oxytocin a “feel-good” hormone produced when a baby nurses</a:t>
            </a:r>
            <a:r>
              <a:rPr lang="en-GB" dirty="0"/>
              <a:t>.</a:t>
            </a:r>
          </a:p>
          <a:p>
            <a:r>
              <a:rPr lang="en-SG" dirty="0"/>
              <a:t>If breast feeding is going on well mothers have a confidence that they can provide for the baby</a:t>
            </a:r>
          </a:p>
        </p:txBody>
      </p:sp>
      <p:sp>
        <p:nvSpPr>
          <p:cNvPr id="2" name="Title 1"/>
          <p:cNvSpPr>
            <a:spLocks noGrp="1"/>
          </p:cNvSpPr>
          <p:nvPr>
            <p:ph type="title"/>
          </p:nvPr>
        </p:nvSpPr>
        <p:spPr/>
        <p:txBody>
          <a:bodyPr/>
          <a:lstStyle/>
          <a:p>
            <a:r>
              <a:rPr lang="en-SG" dirty="0"/>
              <a:t>TRUTH</a:t>
            </a:r>
            <a:endParaRPr lang="en-GB" dirty="0"/>
          </a:p>
        </p:txBody>
      </p:sp>
    </p:spTree>
    <p:extLst>
      <p:ext uri="{BB962C8B-B14F-4D97-AF65-F5344CB8AC3E}">
        <p14:creationId xmlns:p14="http://schemas.microsoft.com/office/powerpoint/2010/main" val="33803594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987" y="570156"/>
            <a:ext cx="10341684" cy="1054250"/>
          </a:xfrm>
        </p:spPr>
        <p:txBody>
          <a:bodyPr anchor="ctr">
            <a:normAutofit/>
          </a:bodyPr>
          <a:lstStyle/>
          <a:p>
            <a:r>
              <a:rPr lang="en-SG" dirty="0"/>
              <a:t>TRUTH</a:t>
            </a:r>
            <a:endParaRPr lang="en-GB" dirty="0"/>
          </a:p>
        </p:txBody>
      </p:sp>
      <p:sp>
        <p:nvSpPr>
          <p:cNvPr id="3" name="Content Placeholder 2"/>
          <p:cNvSpPr>
            <a:spLocks noGrp="1"/>
          </p:cNvSpPr>
          <p:nvPr>
            <p:ph sz="quarter" idx="13"/>
          </p:nvPr>
        </p:nvSpPr>
        <p:spPr>
          <a:xfrm>
            <a:off x="914400" y="2240280"/>
            <a:ext cx="5071872" cy="3877056"/>
          </a:xfrm>
        </p:spPr>
        <p:txBody>
          <a:bodyPr>
            <a:normAutofit/>
          </a:bodyPr>
          <a:lstStyle/>
          <a:p>
            <a:r>
              <a:rPr lang="en-SG" dirty="0"/>
              <a:t>It helps you shed baby weight</a:t>
            </a:r>
          </a:p>
          <a:p>
            <a:r>
              <a:rPr lang="en-SG" dirty="0"/>
              <a:t>Mothers who breastfeed loose about 300-500 extra calories a day compared those who formula feed.</a:t>
            </a:r>
          </a:p>
          <a:p>
            <a:r>
              <a:rPr lang="en-SG" dirty="0"/>
              <a:t>It releases hormones that trigger uterus to return to its pre baby size and weight faster.</a:t>
            </a:r>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r="2014" b="1"/>
          <a:stretch>
            <a:fillRect/>
          </a:stretch>
        </p:blipFill>
        <p:spPr bwMode="auto">
          <a:xfrm>
            <a:off x="6193535" y="2240280"/>
            <a:ext cx="5071872" cy="3877056"/>
          </a:xfrm>
          <a:prstGeom prst="rect">
            <a:avLst/>
          </a:prstGeom>
          <a:solidFill>
            <a:schemeClr val="accent1"/>
          </a:solid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16358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13810" y="3130041"/>
            <a:ext cx="4036334" cy="2387600"/>
          </a:xfrm>
        </p:spPr>
        <p:txBody>
          <a:bodyPr anchor="t">
            <a:normAutofit/>
          </a:bodyPr>
          <a:lstStyle/>
          <a:p>
            <a:pPr algn="l"/>
            <a:r>
              <a:rPr lang="en-US" sz="4200"/>
              <a:t>PROBLEMS IN BREASTFEEDING</a:t>
            </a:r>
          </a:p>
        </p:txBody>
      </p:sp>
      <p:grpSp>
        <p:nvGrpSpPr>
          <p:cNvPr id="13"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rcRect t="1268"/>
          <a:stretch>
            <a:fillRect/>
          </a:stretch>
        </p:blipFill>
        <p:spPr>
          <a:xfrm>
            <a:off x="5922492" y="666728"/>
            <a:ext cx="5536001" cy="5465791"/>
          </a:xfrm>
          <a:prstGeom prst="rect">
            <a:avLst/>
          </a:prstGeom>
        </p:spPr>
      </p:pic>
    </p:spTree>
    <p:extLst>
      <p:ext uri="{BB962C8B-B14F-4D97-AF65-F5344CB8AC3E}">
        <p14:creationId xmlns:p14="http://schemas.microsoft.com/office/powerpoint/2010/main" val="4033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0" name="Rectangle 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4928291" cy="1035781"/>
          </a:xfrm>
        </p:spPr>
        <p:txBody>
          <a:bodyPr vert="horz" lIns="91440" tIns="45720" rIns="91440" bIns="45720" rtlCol="0" anchor="ctr">
            <a:normAutofit/>
          </a:bodyPr>
          <a:lstStyle/>
          <a:p>
            <a:r>
              <a:rPr lang="en-US" sz="3300" b="1"/>
              <a:t>INVERTED NIPPLE</a:t>
            </a:r>
            <a:br>
              <a:rPr lang="en-US" sz="3300"/>
            </a:br>
            <a:endParaRPr lang="en-US" sz="3300"/>
          </a:p>
        </p:txBody>
      </p:sp>
      <p:sp>
        <p:nvSpPr>
          <p:cNvPr id="8" name="Content Placeholder 7"/>
          <p:cNvSpPr>
            <a:spLocks noGrp="1"/>
          </p:cNvSpPr>
          <p:nvPr>
            <p:ph sz="half" idx="2"/>
          </p:nvPr>
        </p:nvSpPr>
        <p:spPr>
          <a:xfrm>
            <a:off x="1045029" y="2524721"/>
            <a:ext cx="4991629" cy="3677123"/>
          </a:xfrm>
        </p:spPr>
        <p:txBody>
          <a:bodyPr vert="horz" lIns="91440" tIns="45720" rIns="91440" bIns="45720" rtlCol="0" anchor="ctr">
            <a:normAutofit/>
          </a:bodyPr>
          <a:lstStyle/>
          <a:p>
            <a:r>
              <a:rPr lang="en-US" sz="1800" b="1"/>
              <a:t>Make difficulty in attachment </a:t>
            </a:r>
          </a:p>
          <a:p>
            <a:r>
              <a:rPr lang="en-US" sz="1800" b="1"/>
              <a:t>Improper suckling may cause sore and excoriated nipple </a:t>
            </a:r>
          </a:p>
          <a:p>
            <a:pPr marL="0"/>
            <a:endParaRPr lang="en-US" sz="1800" b="1"/>
          </a:p>
          <a:p>
            <a:pPr marL="0"/>
            <a:r>
              <a:rPr lang="en-US" sz="1800" b="1"/>
              <a:t>Treatment:</a:t>
            </a:r>
          </a:p>
          <a:p>
            <a:r>
              <a:rPr lang="en-US" sz="1800" b="1"/>
              <a:t>Manual eversion</a:t>
            </a:r>
          </a:p>
          <a:p>
            <a:r>
              <a:rPr lang="en-US" sz="1800" b="1"/>
              <a:t>Plastic syringe</a:t>
            </a:r>
          </a:p>
          <a:p>
            <a:r>
              <a:rPr lang="en-US" sz="1800" b="1"/>
              <a:t>Nipple Shield </a:t>
            </a:r>
          </a:p>
        </p:txBody>
      </p:sp>
      <p:sp>
        <p:nvSpPr>
          <p:cNvPr id="22" name="Rectangle 2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1444" y="841905"/>
            <a:ext cx="2385148" cy="2317178"/>
          </a:xfrm>
          <a:prstGeom prst="rect">
            <a:avLst/>
          </a:prstGeom>
        </p:spPr>
      </p:pic>
      <p:sp>
        <p:nvSpPr>
          <p:cNvPr id="24" name="Rectangle 23">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sz="half" idx="1"/>
          </p:nvPr>
        </p:nvPicPr>
        <p:blipFill>
          <a:blip r:embed="rId4" cstate="print">
            <a:extLst>
              <a:ext uri="{28A0092B-C50C-407E-A947-70E740481C1C}">
                <a14:useLocalDpi xmlns:a14="http://schemas.microsoft.com/office/drawing/2010/main" val="0"/>
              </a:ext>
            </a:extLst>
          </a:blip>
          <a:stretch>
            <a:fillRect/>
          </a:stretch>
        </p:blipFill>
        <p:spPr>
          <a:xfrm>
            <a:off x="7449233" y="3703659"/>
            <a:ext cx="3089570" cy="2317178"/>
          </a:xfrm>
          <a:prstGeom prst="rect">
            <a:avLst/>
          </a:prstGeom>
        </p:spPr>
      </p:pic>
      <p:cxnSp>
        <p:nvCxnSpPr>
          <p:cNvPr id="26" name="Straight Connector 2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itle 1"/>
          <p:cNvSpPr txBox="1">
            <a:spLocks/>
          </p:cNvSpPr>
          <p:nvPr/>
        </p:nvSpPr>
        <p:spPr>
          <a:xfrm>
            <a:off x="0" y="2909996"/>
            <a:ext cx="4997885" cy="22006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Tree>
    <p:extLst>
      <p:ext uri="{BB962C8B-B14F-4D97-AF65-F5344CB8AC3E}">
        <p14:creationId xmlns:p14="http://schemas.microsoft.com/office/powerpoint/2010/main" val="817462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Background Fill">
            <a:extLst>
              <a:ext uri="{FF2B5EF4-FFF2-40B4-BE49-F238E27FC236}">
                <a16:creationId xmlns:a16="http://schemas.microsoft.com/office/drawing/2014/main" id="{3C915414-2809-4735-A560-0D5FE6670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382"/>
            <a:ext cx="12188952" cy="6858000"/>
          </a:xfrm>
          <a:prstGeom prst="rect">
            <a:avLst/>
          </a:prstGeom>
          <a:solidFill>
            <a:schemeClr val="bg1">
              <a:lumMod val="9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id">
            <a:extLst>
              <a:ext uri="{FF2B5EF4-FFF2-40B4-BE49-F238E27FC236}">
                <a16:creationId xmlns:a16="http://schemas.microsoft.com/office/drawing/2014/main" id="{24413201-85BF-4680-A7D4-10CDBD0356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038471" cy="6858000"/>
            <a:chOff x="0" y="-12406"/>
            <a:chExt cx="12038471" cy="6858000"/>
          </a:xfrm>
        </p:grpSpPr>
        <p:cxnSp>
          <p:nvCxnSpPr>
            <p:cNvPr id="13" name="Straight Connector 12">
              <a:extLst>
                <a:ext uri="{FF2B5EF4-FFF2-40B4-BE49-F238E27FC236}">
                  <a16:creationId xmlns:a16="http://schemas.microsoft.com/office/drawing/2014/main" id="{1F819D8C-C8E5-4336-9882-79FBF65551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0"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7D732480-09E4-401A-B2D9-E6C662FBCA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719781" y="-5330"/>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87D8355C-E417-4D36-91FF-2CC1E1FE9F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6726839"/>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6ADF7267-EAAE-43CE-ACEF-608328FB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25"/>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54C901E2-0CDB-4316-B262-3B9E68F335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1729498"/>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D8F6D31A-084C-4F10-9A8F-A9645DFB71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1609"/>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E38E09F0-F130-45B5-B0AF-7EF3F0172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6843959"/>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0" name="Straight Connector 19">
              <a:extLst>
                <a:ext uri="{FF2B5EF4-FFF2-40B4-BE49-F238E27FC236}">
                  <a16:creationId xmlns:a16="http://schemas.microsoft.com/office/drawing/2014/main" id="{569330E2-17DA-4F0D-B377-6E4499C79A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5131209"/>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A3192707-5744-4C77-8CD6-D682F90800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120892"/>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id="{E367A44A-5DD0-43B5-B6DB-1CA3BC5AF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3422784"/>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280809D1-164B-4A0C-84BB-2AC46F3BDE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1832198"/>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E379EC94-3698-4695-8CE7-61DBDF5EE6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3538773"/>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8755B95C-6A71-4D4F-8F48-B21F893E6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5240042"/>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6099C53A-E394-462E-BF63-1639A8E283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828837" y="-5330"/>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9AC427FF-C3BE-45A0-9FB1-A6A4C8C4CD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439563"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2B15D91A-BF52-4704-8F6B-A7C4746181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59344"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D9241FD-0E0D-409B-A2AF-8F06ACB757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79125"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F8B3D884-11F6-4FF3-82C2-1C2311451C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598907"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A15AB342-981A-44B4-846D-B0B2394ACF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038471"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2" name="Straight Connector 31">
              <a:extLst>
                <a:ext uri="{FF2B5EF4-FFF2-40B4-BE49-F238E27FC236}">
                  <a16:creationId xmlns:a16="http://schemas.microsoft.com/office/drawing/2014/main" id="{872C80E7-0A00-4063-BEE2-6B6B446A4A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318688"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CDDFAF9B-F940-4E8C-905E-31851E6E71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549263" y="-5330"/>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4" name="Straight Connector 33">
              <a:extLst>
                <a:ext uri="{FF2B5EF4-FFF2-40B4-BE49-F238E27FC236}">
                  <a16:creationId xmlns:a16="http://schemas.microsoft.com/office/drawing/2014/main" id="{DE75405B-4987-4ED0-838B-B550E11C50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72269" y="1609"/>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2D23C412-06C7-4364-B5C1-6492A9D36B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990113"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6" name="Straight Connector 35">
              <a:extLst>
                <a:ext uri="{FF2B5EF4-FFF2-40B4-BE49-F238E27FC236}">
                  <a16:creationId xmlns:a16="http://schemas.microsoft.com/office/drawing/2014/main" id="{3E558B2C-BA31-4EF6-AA51-34C38C4FAC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715787"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7" name="Straight Connector 36">
              <a:extLst>
                <a:ext uri="{FF2B5EF4-FFF2-40B4-BE49-F238E27FC236}">
                  <a16:creationId xmlns:a16="http://schemas.microsoft.com/office/drawing/2014/main" id="{49BF6B7B-33CA-48B1-A1DC-E4917FB89D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435730"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8" name="Straight Connector 37">
              <a:extLst>
                <a:ext uri="{FF2B5EF4-FFF2-40B4-BE49-F238E27FC236}">
                  <a16:creationId xmlns:a16="http://schemas.microsoft.com/office/drawing/2014/main" id="{B91E8E40-9C42-4E16-980F-D9B38872F3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4293" y="-5330"/>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9" name="Straight Connector 38">
              <a:extLst>
                <a:ext uri="{FF2B5EF4-FFF2-40B4-BE49-F238E27FC236}">
                  <a16:creationId xmlns:a16="http://schemas.microsoft.com/office/drawing/2014/main" id="{6B7E3690-D803-4CC7-BA93-B51ACF040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4177"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gr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t="2707" r="-2" b="589"/>
          <a:stretch>
            <a:fillRect/>
          </a:stretch>
        </p:blipFill>
        <p:spPr>
          <a:xfrm>
            <a:off x="1867006" y="157335"/>
            <a:ext cx="8550944" cy="6615185"/>
          </a:xfrm>
          <a:prstGeom prst="rect">
            <a:avLst/>
          </a:prstGeom>
        </p:spPr>
      </p:pic>
      <p:sp>
        <p:nvSpPr>
          <p:cNvPr id="41" name="Rectangle 40">
            <a:extLst>
              <a:ext uri="{FF2B5EF4-FFF2-40B4-BE49-F238E27FC236}">
                <a16:creationId xmlns:a16="http://schemas.microsoft.com/office/drawing/2014/main" id="{104952BC-03A6-465F-B295-B05E9D25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218" y="143757"/>
            <a:ext cx="5034566" cy="662876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6200000">
            <a:off x="-1703740" y="2865031"/>
            <a:ext cx="5513832" cy="1685722"/>
          </a:xfrm>
        </p:spPr>
        <p:txBody>
          <a:bodyPr vert="horz" lIns="91440" tIns="45720" rIns="91440" bIns="45720" rtlCol="0" anchor="t">
            <a:normAutofit/>
          </a:bodyPr>
          <a:lstStyle/>
          <a:p>
            <a:r>
              <a:rPr lang="en-US" sz="4800" b="1"/>
              <a:t>SORE NIPPLE</a:t>
            </a:r>
          </a:p>
        </p:txBody>
      </p:sp>
      <p:cxnSp>
        <p:nvCxnSpPr>
          <p:cNvPr id="43" name="Straight Connector 42">
            <a:extLst>
              <a:ext uri="{FF2B5EF4-FFF2-40B4-BE49-F238E27FC236}">
                <a16:creationId xmlns:a16="http://schemas.microsoft.com/office/drawing/2014/main" id="{50EA25D4-B492-4E34-86FE-9A43CD352C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896034" y="657889"/>
            <a:ext cx="3114258" cy="0"/>
          </a:xfrm>
          <a:prstGeom prst="line">
            <a:avLst/>
          </a:prstGeom>
          <a:ln w="50800" cap="sq">
            <a:solidFill>
              <a:schemeClr val="accent5"/>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2059014" y="950966"/>
            <a:ext cx="3039093" cy="5513833"/>
          </a:xfrm>
        </p:spPr>
        <p:txBody>
          <a:bodyPr vert="horz" lIns="91440" tIns="45720" rIns="91440" bIns="45720" rtlCol="0" anchor="t">
            <a:normAutofit/>
          </a:bodyPr>
          <a:lstStyle/>
          <a:p>
            <a:pPr marL="0"/>
            <a:r>
              <a:rPr lang="en-US" sz="1800" b="1" dirty="0"/>
              <a:t>Causes</a:t>
            </a:r>
          </a:p>
          <a:p>
            <a:r>
              <a:rPr lang="en-US" sz="1800" b="1" dirty="0"/>
              <a:t>Improper latching </a:t>
            </a:r>
          </a:p>
          <a:p>
            <a:r>
              <a:rPr lang="en-US" sz="1800" b="1" dirty="0"/>
              <a:t>Frequent washing with soap and water</a:t>
            </a:r>
          </a:p>
          <a:p>
            <a:r>
              <a:rPr lang="en-US" sz="1800" b="1" dirty="0"/>
              <a:t>Pulling of baby while still suckling</a:t>
            </a:r>
          </a:p>
          <a:p>
            <a:endParaRPr lang="en-US" sz="1800" b="1" dirty="0"/>
          </a:p>
          <a:p>
            <a:pPr marL="0"/>
            <a:r>
              <a:rPr lang="en-US" sz="1800" b="1" dirty="0"/>
              <a:t>Treatment:</a:t>
            </a:r>
          </a:p>
          <a:p>
            <a:pPr marL="411480">
              <a:defRPr/>
            </a:pPr>
            <a:r>
              <a:rPr lang="en-US" sz="1800" b="1" dirty="0"/>
              <a:t>proper positioning and latching</a:t>
            </a:r>
          </a:p>
          <a:p>
            <a:pPr marL="411480">
              <a:defRPr/>
            </a:pPr>
            <a:r>
              <a:rPr lang="en-US" sz="1800" b="1" dirty="0"/>
              <a:t>local  hygiene</a:t>
            </a:r>
          </a:p>
          <a:p>
            <a:pPr marL="411480">
              <a:defRPr/>
            </a:pPr>
            <a:r>
              <a:rPr lang="en-US" sz="1800" b="1" dirty="0"/>
              <a:t>expose to air ,application of breast milk or lanolin , use nipple shield</a:t>
            </a:r>
          </a:p>
          <a:p>
            <a:endParaRPr lang="en-US" sz="1800" b="1" dirty="0"/>
          </a:p>
          <a:p>
            <a:pPr marL="0"/>
            <a:endParaRPr lang="en-US" sz="1800" b="1" dirty="0"/>
          </a:p>
          <a:p>
            <a:endParaRPr lang="en-US" sz="1800" b="1" dirty="0"/>
          </a:p>
          <a:p>
            <a:pPr marL="0"/>
            <a:endParaRPr lang="en-US" sz="1800" b="1" dirty="0"/>
          </a:p>
        </p:txBody>
      </p:sp>
      <p:sp>
        <p:nvSpPr>
          <p:cNvPr id="45" name="Color">
            <a:extLst>
              <a:ext uri="{FF2B5EF4-FFF2-40B4-BE49-F238E27FC236}">
                <a16:creationId xmlns:a16="http://schemas.microsoft.com/office/drawing/2014/main" id="{D665D759-2DF8-4D47-8386-4BA28901A7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7704" y="147451"/>
            <a:ext cx="685800" cy="6586489"/>
          </a:xfrm>
          <a:prstGeom prst="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Tree>
    <p:extLst>
      <p:ext uri="{BB962C8B-B14F-4D97-AF65-F5344CB8AC3E}">
        <p14:creationId xmlns:p14="http://schemas.microsoft.com/office/powerpoint/2010/main" val="41148043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0B8DCBA-FEED-46EF-A140-35B904015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4" name="Rectangle 2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4928291" cy="1035781"/>
          </a:xfrm>
        </p:spPr>
        <p:txBody>
          <a:bodyPr vert="horz" lIns="91440" tIns="45720" rIns="91440" bIns="45720" rtlCol="0" anchor="ctr">
            <a:normAutofit fontScale="90000"/>
          </a:bodyPr>
          <a:lstStyle/>
          <a:p>
            <a:r>
              <a:rPr lang="en-US" sz="4000" b="1" dirty="0"/>
              <a:t>BREAST ENGORGEMENT</a:t>
            </a:r>
          </a:p>
        </p:txBody>
      </p:sp>
      <p:sp>
        <p:nvSpPr>
          <p:cNvPr id="3" name="Content Placeholder 2"/>
          <p:cNvSpPr>
            <a:spLocks noGrp="1"/>
          </p:cNvSpPr>
          <p:nvPr>
            <p:ph sz="half" idx="1"/>
          </p:nvPr>
        </p:nvSpPr>
        <p:spPr>
          <a:xfrm>
            <a:off x="1045029" y="2524721"/>
            <a:ext cx="4991629" cy="3677123"/>
          </a:xfrm>
        </p:spPr>
        <p:txBody>
          <a:bodyPr vert="horz" lIns="91440" tIns="45720" rIns="91440" bIns="45720" rtlCol="0" anchor="ctr">
            <a:normAutofit/>
          </a:bodyPr>
          <a:lstStyle/>
          <a:p>
            <a:pPr marL="0"/>
            <a:r>
              <a:rPr lang="en-US" b="1" dirty="0"/>
              <a:t>CAUSES</a:t>
            </a:r>
          </a:p>
          <a:p>
            <a:r>
              <a:rPr lang="en-US" b="1" dirty="0"/>
              <a:t>Delayed or infrequent feeding</a:t>
            </a:r>
          </a:p>
          <a:p>
            <a:r>
              <a:rPr lang="en-US" b="1" dirty="0"/>
              <a:t>Improper latching and positioning</a:t>
            </a:r>
          </a:p>
          <a:p>
            <a:pPr marL="0"/>
            <a:endParaRPr lang="en-US" b="1" dirty="0"/>
          </a:p>
          <a:p>
            <a:pPr marL="0"/>
            <a:r>
              <a:rPr lang="en-US" b="1" dirty="0"/>
              <a:t>Engorged breast: swollen, hard ,warm and painful</a:t>
            </a:r>
          </a:p>
          <a:p>
            <a:pPr marL="0"/>
            <a:endParaRPr lang="en-US" b="1" dirty="0"/>
          </a:p>
          <a:p>
            <a:pPr marL="0"/>
            <a:endParaRPr lang="en-US" b="1" dirty="0"/>
          </a:p>
        </p:txBody>
      </p:sp>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rcRect l="23698" r="15087" b="1"/>
          <a:stretch>
            <a:fillRect/>
          </a:stretch>
        </p:blipFill>
        <p:spPr>
          <a:xfrm>
            <a:off x="6788383" y="613147"/>
            <a:ext cx="4565417" cy="5593443"/>
          </a:xfrm>
          <a:prstGeom prst="rect">
            <a:avLst/>
          </a:prstGeom>
        </p:spPr>
      </p:pic>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66742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BREAST ENGORGEMENT</a:t>
            </a:r>
            <a:endParaRPr lang="en-US" dirty="0"/>
          </a:p>
        </p:txBody>
      </p:sp>
      <p:sp>
        <p:nvSpPr>
          <p:cNvPr id="3" name="Content Placeholder 2"/>
          <p:cNvSpPr>
            <a:spLocks noGrp="1"/>
          </p:cNvSpPr>
          <p:nvPr>
            <p:ph sz="half" idx="1"/>
          </p:nvPr>
        </p:nvSpPr>
        <p:spPr/>
        <p:txBody>
          <a:bodyPr>
            <a:normAutofit fontScale="92500" lnSpcReduction="10000"/>
          </a:bodyPr>
          <a:lstStyle/>
          <a:p>
            <a:pPr marL="0" indent="0">
              <a:buNone/>
            </a:pPr>
            <a:r>
              <a:rPr lang="en-US" b="1" dirty="0"/>
              <a:t>Prevention:</a:t>
            </a:r>
          </a:p>
          <a:p>
            <a:r>
              <a:rPr lang="en-US" b="1" dirty="0"/>
              <a:t>early and frequent feeds</a:t>
            </a:r>
          </a:p>
          <a:p>
            <a:r>
              <a:rPr lang="en-US" b="1" dirty="0"/>
              <a:t>Breastfeed on demand</a:t>
            </a:r>
          </a:p>
          <a:p>
            <a:r>
              <a:rPr lang="en-US" b="1" dirty="0"/>
              <a:t>Correct attachment</a:t>
            </a:r>
          </a:p>
          <a:p>
            <a:pPr marL="0" indent="0">
              <a:buNone/>
            </a:pPr>
            <a:endParaRPr lang="en-US" b="1" dirty="0"/>
          </a:p>
          <a:p>
            <a:pPr marL="0" indent="0">
              <a:buNone/>
            </a:pPr>
            <a:endParaRPr lang="en-US" b="1" dirty="0"/>
          </a:p>
          <a:p>
            <a:pPr marL="0" indent="0">
              <a:buNone/>
            </a:pPr>
            <a:r>
              <a:rPr lang="en-US" b="1" dirty="0"/>
              <a:t>Treatment:</a:t>
            </a:r>
          </a:p>
          <a:p>
            <a:r>
              <a:rPr lang="en-US" b="1" dirty="0"/>
              <a:t>warm water packs, breast </a:t>
            </a:r>
            <a:r>
              <a:rPr lang="en-US" b="1" dirty="0" err="1"/>
              <a:t>massage,analgesics</a:t>
            </a:r>
            <a:endParaRPr lang="en-US" b="1" dirty="0"/>
          </a:p>
          <a:p>
            <a:r>
              <a:rPr lang="en-US" b="1" dirty="0"/>
              <a:t>Milk expressed to soften breast</a:t>
            </a:r>
          </a:p>
          <a:p>
            <a:endParaRPr lang="en-US" dirty="0"/>
          </a:p>
        </p:txBody>
      </p:sp>
      <p:pic>
        <p:nvPicPr>
          <p:cNvPr id="5" name="Content Placeholder 4"/>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019800" y="1825626"/>
            <a:ext cx="5334000" cy="4110672"/>
          </a:xfrm>
        </p:spPr>
      </p:pic>
    </p:spTree>
    <p:extLst>
      <p:ext uri="{BB962C8B-B14F-4D97-AF65-F5344CB8AC3E}">
        <p14:creationId xmlns:p14="http://schemas.microsoft.com/office/powerpoint/2010/main" val="38150843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951" y="277443"/>
            <a:ext cx="10515600" cy="1325563"/>
          </a:xfrm>
        </p:spPr>
        <p:txBody>
          <a:bodyPr/>
          <a:lstStyle/>
          <a:p>
            <a:r>
              <a:rPr lang="en-US" dirty="0"/>
              <a:t> </a:t>
            </a:r>
            <a:r>
              <a:rPr lang="en-US" b="1" dirty="0"/>
              <a:t>PLUGGED DUCTS</a:t>
            </a:r>
            <a:br>
              <a:rPr lang="en-US" dirty="0"/>
            </a:br>
            <a:endParaRPr lang="en-US" dirty="0"/>
          </a:p>
        </p:txBody>
      </p:sp>
      <p:sp>
        <p:nvSpPr>
          <p:cNvPr id="3" name="Content Placeholder 2"/>
          <p:cNvSpPr>
            <a:spLocks noGrp="1"/>
          </p:cNvSpPr>
          <p:nvPr>
            <p:ph sz="half" idx="1"/>
          </p:nvPr>
        </p:nvSpPr>
        <p:spPr>
          <a:xfrm>
            <a:off x="236951" y="1365336"/>
            <a:ext cx="6552156" cy="5260931"/>
          </a:xfrm>
        </p:spPr>
        <p:txBody>
          <a:bodyPr>
            <a:normAutofit/>
          </a:bodyPr>
          <a:lstStyle/>
          <a:p>
            <a:r>
              <a:rPr lang="en-US" b="1" dirty="0"/>
              <a:t>present as a palpable lump or area of the breast that does not soften during a feeding or pumping session. </a:t>
            </a:r>
          </a:p>
          <a:p>
            <a:pPr marL="0" indent="0">
              <a:buNone/>
            </a:pPr>
            <a:r>
              <a:rPr lang="en-US" b="1" dirty="0"/>
              <a:t>Causes:</a:t>
            </a:r>
          </a:p>
          <a:p>
            <a:r>
              <a:rPr lang="en-US" b="1" dirty="0"/>
              <a:t>ill-fitting bra, tight, constricting clothing, or a missed or delayed feeding/pumping. </a:t>
            </a:r>
          </a:p>
          <a:p>
            <a:pPr marL="0" indent="0">
              <a:buNone/>
            </a:pPr>
            <a:r>
              <a:rPr lang="en-US" b="1" dirty="0"/>
              <a:t>Treatment</a:t>
            </a:r>
          </a:p>
          <a:p>
            <a:r>
              <a:rPr lang="en-US" b="1" dirty="0"/>
              <a:t>Frequent feedings or pumping sessions</a:t>
            </a:r>
          </a:p>
          <a:p>
            <a:r>
              <a:rPr lang="en-US" b="1" dirty="0"/>
              <a:t>moist heat and breast massage before and during feeding</a:t>
            </a:r>
          </a:p>
          <a:p>
            <a:r>
              <a:rPr lang="en-US" b="1" dirty="0"/>
              <a:t> Proper Positioning</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0356" y="1365336"/>
            <a:ext cx="4275552" cy="4696454"/>
          </a:xfrm>
          <a:prstGeom prst="rect">
            <a:avLst/>
          </a:prstGeom>
        </p:spPr>
      </p:pic>
    </p:spTree>
    <p:extLst>
      <p:ext uri="{BB962C8B-B14F-4D97-AF65-F5344CB8AC3E}">
        <p14:creationId xmlns:p14="http://schemas.microsoft.com/office/powerpoint/2010/main" val="11611857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5645"/>
            <a:ext cx="10515600" cy="1325563"/>
          </a:xfrm>
        </p:spPr>
        <p:txBody>
          <a:bodyPr/>
          <a:lstStyle/>
          <a:p>
            <a:r>
              <a:rPr lang="en-US" b="1" dirty="0"/>
              <a:t>MASTITIS AND BREAST ABSCESS</a:t>
            </a:r>
          </a:p>
        </p:txBody>
      </p:sp>
      <p:sp>
        <p:nvSpPr>
          <p:cNvPr id="3" name="Content Placeholder 2"/>
          <p:cNvSpPr>
            <a:spLocks noGrp="1"/>
          </p:cNvSpPr>
          <p:nvPr>
            <p:ph sz="half" idx="1"/>
          </p:nvPr>
        </p:nvSpPr>
        <p:spPr>
          <a:xfrm>
            <a:off x="371084" y="898698"/>
            <a:ext cx="5181600" cy="5959301"/>
          </a:xfrm>
        </p:spPr>
        <p:txBody>
          <a:bodyPr>
            <a:noAutofit/>
          </a:bodyPr>
          <a:lstStyle/>
          <a:p>
            <a:pPr marL="0" indent="0">
              <a:buNone/>
            </a:pPr>
            <a:r>
              <a:rPr lang="en-US" b="1" dirty="0"/>
              <a:t>CAUSES</a:t>
            </a:r>
          </a:p>
          <a:p>
            <a:r>
              <a:rPr lang="en-US" b="1" dirty="0"/>
              <a:t>Engorged breast</a:t>
            </a:r>
          </a:p>
          <a:p>
            <a:r>
              <a:rPr lang="en-US" b="1" dirty="0"/>
              <a:t>Cracked nipple</a:t>
            </a:r>
          </a:p>
          <a:p>
            <a:pPr marL="0" indent="0">
              <a:buNone/>
            </a:pPr>
            <a:endParaRPr lang="en-US" b="1" dirty="0"/>
          </a:p>
          <a:p>
            <a:pPr marL="0" indent="0">
              <a:buNone/>
            </a:pPr>
            <a:endParaRPr lang="en-US" b="1" dirty="0"/>
          </a:p>
          <a:p>
            <a:pPr marL="0" indent="0">
              <a:buNone/>
            </a:pPr>
            <a:r>
              <a:rPr lang="en-US" b="1" dirty="0"/>
              <a:t>Clinical features:</a:t>
            </a:r>
          </a:p>
          <a:p>
            <a:r>
              <a:rPr lang="en-US" b="1" dirty="0"/>
              <a:t>High grade fever, raised blood count</a:t>
            </a:r>
          </a:p>
          <a:p>
            <a:pPr marL="0" indent="0">
              <a:buNone/>
            </a:pPr>
            <a:endParaRPr lang="en-US" b="1" dirty="0"/>
          </a:p>
          <a:p>
            <a:pPr marL="0" indent="0">
              <a:buNone/>
            </a:pPr>
            <a:r>
              <a:rPr lang="en-US" b="1" dirty="0"/>
              <a:t>Treatment:</a:t>
            </a:r>
          </a:p>
          <a:p>
            <a:r>
              <a:rPr lang="en-US" b="1" dirty="0" err="1"/>
              <a:t>Analgesics,Antibiotics</a:t>
            </a:r>
            <a:endParaRPr lang="en-US" b="1" dirty="0"/>
          </a:p>
          <a:p>
            <a:r>
              <a:rPr lang="en-US" b="1" dirty="0"/>
              <a:t>Incision and drainage</a:t>
            </a:r>
          </a:p>
        </p:txBody>
      </p:sp>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552684" y="898698"/>
            <a:ext cx="6538586" cy="5022937"/>
          </a:xfrm>
        </p:spPr>
      </p:pic>
    </p:spTree>
    <p:extLst>
      <p:ext uri="{BB962C8B-B14F-4D97-AF65-F5344CB8AC3E}">
        <p14:creationId xmlns:p14="http://schemas.microsoft.com/office/powerpoint/2010/main" val="4037540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0B8DCBA-FEED-46EF-A140-35B904015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4928291" cy="1035781"/>
          </a:xfrm>
        </p:spPr>
        <p:txBody>
          <a:bodyPr vert="horz" lIns="91440" tIns="45720" rIns="91440" bIns="45720" rtlCol="0" anchor="ctr">
            <a:normAutofit/>
          </a:bodyPr>
          <a:lstStyle/>
          <a:p>
            <a:r>
              <a:rPr lang="en-US" sz="3600" b="1"/>
              <a:t>INADEQUATE MILK INTAKE</a:t>
            </a:r>
          </a:p>
        </p:txBody>
      </p:sp>
      <p:sp>
        <p:nvSpPr>
          <p:cNvPr id="4" name="Content Placeholder 3"/>
          <p:cNvSpPr>
            <a:spLocks noGrp="1"/>
          </p:cNvSpPr>
          <p:nvPr>
            <p:ph sz="half" idx="2"/>
          </p:nvPr>
        </p:nvSpPr>
        <p:spPr>
          <a:xfrm>
            <a:off x="1045029" y="2001519"/>
            <a:ext cx="6077131" cy="4200325"/>
          </a:xfrm>
        </p:spPr>
        <p:txBody>
          <a:bodyPr vert="horz" lIns="91440" tIns="45720" rIns="91440" bIns="45720" rtlCol="0" anchor="ctr">
            <a:normAutofit fontScale="92500" lnSpcReduction="20000"/>
          </a:bodyPr>
          <a:lstStyle/>
          <a:p>
            <a:pPr marL="0"/>
            <a:r>
              <a:rPr lang="en-US" sz="2400" b="1" dirty="0"/>
              <a:t>Causes</a:t>
            </a:r>
          </a:p>
          <a:p>
            <a:r>
              <a:rPr lang="en-US" sz="2400" b="1" dirty="0"/>
              <a:t>Incorrect method of breastfeeding</a:t>
            </a:r>
          </a:p>
          <a:p>
            <a:r>
              <a:rPr lang="en-US" sz="2400" b="1" dirty="0"/>
              <a:t>Insufficient milk production</a:t>
            </a:r>
          </a:p>
          <a:p>
            <a:r>
              <a:rPr lang="en-US" sz="2400" b="1" dirty="0"/>
              <a:t>Any illness</a:t>
            </a:r>
          </a:p>
          <a:p>
            <a:r>
              <a:rPr lang="en-US" sz="2400" b="1" dirty="0"/>
              <a:t>Painful condition</a:t>
            </a:r>
          </a:p>
          <a:p>
            <a:r>
              <a:rPr lang="en-US" sz="2400" b="1" dirty="0"/>
              <a:t>Maternal stress and insufficient sleep</a:t>
            </a:r>
          </a:p>
          <a:p>
            <a:endParaRPr lang="en-US" sz="2400" b="1" dirty="0"/>
          </a:p>
          <a:p>
            <a:pPr marL="0"/>
            <a:r>
              <a:rPr lang="en-US" sz="2400" b="1" dirty="0"/>
              <a:t>Advice to mother</a:t>
            </a:r>
          </a:p>
          <a:p>
            <a:r>
              <a:rPr lang="en-US" sz="2400" b="1" dirty="0"/>
              <a:t>Sufficient rest </a:t>
            </a:r>
          </a:p>
          <a:p>
            <a:r>
              <a:rPr lang="en-US" sz="2400" b="1" dirty="0"/>
              <a:t>Adequate fluids intake</a:t>
            </a:r>
          </a:p>
          <a:p>
            <a:r>
              <a:rPr lang="en-US" sz="2400" b="1" dirty="0"/>
              <a:t>Feed baby on demand</a:t>
            </a:r>
          </a:p>
        </p:txBody>
      </p:sp>
      <p:pic>
        <p:nvPicPr>
          <p:cNvPr id="5" name="Content Placeholder 4"/>
          <p:cNvPicPr>
            <a:picLocks noGrp="1" noChangeAspect="1"/>
          </p:cNvPicPr>
          <p:nvPr>
            <p:ph sz="half" idx="1"/>
          </p:nvPr>
        </p:nvPicPr>
        <p:blipFill>
          <a:blip r:embed="rId3" cstate="print">
            <a:extLst>
              <a:ext uri="{28A0092B-C50C-407E-A947-70E740481C1C}">
                <a14:useLocalDpi xmlns:a14="http://schemas.microsoft.com/office/drawing/2010/main" val="0"/>
              </a:ext>
            </a:extLst>
          </a:blip>
          <a:srcRect l="14999" r="1075" b="3"/>
          <a:stretch>
            <a:fillRect/>
          </a:stretch>
        </p:blipFill>
        <p:spPr>
          <a:xfrm>
            <a:off x="6788383" y="613147"/>
            <a:ext cx="4565417" cy="5593443"/>
          </a:xfrm>
          <a:prstGeom prst="rect">
            <a:avLst/>
          </a:prstGeom>
        </p:spPr>
      </p:pic>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5990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p:cNvSpPr>
            <a:spLocks noGrp="1"/>
          </p:cNvSpPr>
          <p:nvPr>
            <p:ph type="title"/>
          </p:nvPr>
        </p:nvSpPr>
        <p:spPr>
          <a:xfrm>
            <a:off x="808638" y="386930"/>
            <a:ext cx="9236700" cy="1188950"/>
          </a:xfrm>
        </p:spPr>
        <p:txBody>
          <a:bodyPr vert="horz" lIns="91440" tIns="45720" rIns="91440" bIns="45720" rtlCol="0" anchor="b">
            <a:normAutofit/>
          </a:bodyPr>
          <a:lstStyle/>
          <a:p>
            <a:r>
              <a:rPr lang="en-US" sz="5400" b="1" kern="1200">
                <a:solidFill>
                  <a:schemeClr val="tx1"/>
                </a:solidFill>
                <a:latin typeface="+mj-lt"/>
                <a:ea typeface="+mj-ea"/>
                <a:cs typeface="+mj-cs"/>
              </a:rPr>
              <a:t>BREASTFEEDING JAUNDICE</a:t>
            </a:r>
          </a:p>
        </p:txBody>
      </p:sp>
      <p:grpSp>
        <p:nvGrpSpPr>
          <p:cNvPr id="12" name="Group 1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3" name="Rectangle 1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793660" y="2599509"/>
            <a:ext cx="10143668" cy="3435531"/>
          </a:xfrm>
        </p:spPr>
        <p:txBody>
          <a:bodyPr vert="horz" lIns="91440" tIns="45720" rIns="91440" bIns="45720" rtlCol="0" anchor="ctr">
            <a:normAutofit/>
          </a:bodyPr>
          <a:lstStyle/>
          <a:p>
            <a:r>
              <a:rPr lang="en-US" sz="2400" b="1"/>
              <a:t>occur in the first week of life in more than 1 in 10 breastfed infants. </a:t>
            </a:r>
          </a:p>
          <a:p>
            <a:r>
              <a:rPr lang="en-US" sz="2400" b="1"/>
              <a:t>inadequate milk intake, leading to dehydration or low caloric intake. </a:t>
            </a:r>
          </a:p>
          <a:p>
            <a:r>
              <a:rPr lang="en-US" sz="2400" b="1"/>
              <a:t>type of physiologic or exaggerated physiologic jaundice.</a:t>
            </a:r>
            <a:br>
              <a:rPr lang="en-US" sz="2400" b="1"/>
            </a:br>
            <a:endParaRPr lang="en-US" sz="2400" b="1"/>
          </a:p>
        </p:txBody>
      </p:sp>
    </p:spTree>
    <p:extLst>
      <p:ext uri="{BB962C8B-B14F-4D97-AF65-F5344CB8AC3E}">
        <p14:creationId xmlns:p14="http://schemas.microsoft.com/office/powerpoint/2010/main" val="15928623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b="1" kern="1200">
                <a:solidFill>
                  <a:schemeClr val="tx1"/>
                </a:solidFill>
                <a:latin typeface="+mj-lt"/>
                <a:ea typeface="+mj-ea"/>
                <a:cs typeface="+mj-cs"/>
              </a:rPr>
              <a:t>BREAST MILK JAUNDICE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793660" y="2599509"/>
            <a:ext cx="10143668" cy="3435531"/>
          </a:xfrm>
        </p:spPr>
        <p:txBody>
          <a:bodyPr vert="horz" lIns="91440" tIns="45720" rIns="91440" bIns="45720" rtlCol="0" anchor="ctr">
            <a:normAutofit/>
          </a:bodyPr>
          <a:lstStyle/>
          <a:p>
            <a:r>
              <a:rPr lang="en-US" sz="2400" b="1"/>
              <a:t> 1 in 200 babies.</a:t>
            </a:r>
          </a:p>
          <a:p>
            <a:r>
              <a:rPr lang="en-US" sz="2400" b="1"/>
              <a:t>visible after &gt; 1 week </a:t>
            </a:r>
          </a:p>
          <a:p>
            <a:r>
              <a:rPr lang="en-US" sz="2400" b="1"/>
              <a:t>Declines  in the 2nd or 3rd week. </a:t>
            </a:r>
          </a:p>
          <a:p>
            <a:r>
              <a:rPr lang="en-US" sz="2400" b="1"/>
              <a:t>caused by substances in mother milk that decrease the infant's liver's ability to deal with bilirubin. </a:t>
            </a:r>
          </a:p>
          <a:p>
            <a:r>
              <a:rPr lang="en-US" sz="2400" b="1"/>
              <a:t>Breast milk jaundice rarely causes It is usually not a reason to stop nursing.</a:t>
            </a:r>
          </a:p>
          <a:p>
            <a:endParaRPr lang="en-US" sz="2400" b="1"/>
          </a:p>
        </p:txBody>
      </p:sp>
    </p:spTree>
    <p:extLst>
      <p:ext uri="{BB962C8B-B14F-4D97-AF65-F5344CB8AC3E}">
        <p14:creationId xmlns:p14="http://schemas.microsoft.com/office/powerpoint/2010/main" val="2217555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528" y="386930"/>
            <a:ext cx="10141799" cy="1300554"/>
          </a:xfrm>
        </p:spPr>
        <p:txBody>
          <a:bodyPr vert="horz" lIns="91440" tIns="45720" rIns="91440" bIns="45720" rtlCol="0" anchor="b">
            <a:normAutofit/>
          </a:bodyPr>
          <a:lstStyle/>
          <a:p>
            <a:pPr algn="ctr"/>
            <a:r>
              <a:rPr lang="en-US" sz="6000" b="1" kern="1200" dirty="0">
                <a:solidFill>
                  <a:schemeClr val="tx1"/>
                </a:solidFill>
                <a:latin typeface="Aharoni" panose="02010803020104030203" pitchFamily="2" charset="-79"/>
                <a:cs typeface="Aharoni" panose="02010803020104030203" pitchFamily="2" charset="-79"/>
              </a:rPr>
              <a:t>SPECIAL SITUATIONS</a:t>
            </a:r>
            <a:endParaRPr lang="en-US" sz="1900" b="1" kern="1200" dirty="0">
              <a:solidFill>
                <a:schemeClr val="tx1"/>
              </a:solidFill>
              <a:latin typeface="+mj-lt"/>
              <a:ea typeface="+mj-ea"/>
              <a:cs typeface="+mj-cs"/>
            </a:endParaRPr>
          </a:p>
        </p:txBody>
      </p:sp>
      <p:sp>
        <p:nvSpPr>
          <p:cNvPr id="11" name="Rectangle 1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271" y="2524715"/>
            <a:ext cx="4952325" cy="3714244"/>
          </a:xfrm>
          <a:prstGeom prst="rect">
            <a:avLst/>
          </a:prstGeom>
        </p:spPr>
      </p:pic>
      <p:sp>
        <p:nvSpPr>
          <p:cNvPr id="3" name="Content Placeholder 2"/>
          <p:cNvSpPr>
            <a:spLocks noGrp="1"/>
          </p:cNvSpPr>
          <p:nvPr>
            <p:ph sz="half" idx="1"/>
          </p:nvPr>
        </p:nvSpPr>
        <p:spPr>
          <a:xfrm>
            <a:off x="6406429" y="2286000"/>
            <a:ext cx="5048164" cy="3952959"/>
          </a:xfrm>
        </p:spPr>
        <p:txBody>
          <a:bodyPr vert="horz" lIns="91440" tIns="45720" rIns="91440" bIns="45720" rtlCol="0" anchor="ctr">
            <a:normAutofit lnSpcReduction="10000"/>
          </a:bodyPr>
          <a:lstStyle/>
          <a:p>
            <a:pPr marL="0"/>
            <a:endParaRPr lang="en-US" sz="2000" b="1" dirty="0"/>
          </a:p>
          <a:p>
            <a:pPr marL="0"/>
            <a:r>
              <a:rPr lang="en-US" sz="2000" b="1" dirty="0"/>
              <a:t>1. Congenital anomalies may require special management.</a:t>
            </a:r>
          </a:p>
          <a:p>
            <a:endParaRPr lang="en-US" sz="2000" b="1" dirty="0"/>
          </a:p>
          <a:p>
            <a:pPr marL="0"/>
            <a:r>
              <a:rPr lang="en-US" sz="2000" b="1" dirty="0"/>
              <a:t> a. Craniofacial anomalies (i.e.,    cleft lip/palate, Pierre-Robin)</a:t>
            </a:r>
          </a:p>
          <a:p>
            <a:endParaRPr lang="en-US" sz="2000" b="1" dirty="0"/>
          </a:p>
          <a:p>
            <a:pPr marL="0"/>
            <a:r>
              <a:rPr lang="en-US" sz="2000" b="1" dirty="0"/>
              <a:t>Treatment</a:t>
            </a:r>
          </a:p>
          <a:p>
            <a:r>
              <a:rPr lang="en-US" sz="2000" b="1" dirty="0"/>
              <a:t> Modified positioning </a:t>
            </a:r>
          </a:p>
          <a:p>
            <a:r>
              <a:rPr lang="en-US" sz="2000" b="1" dirty="0"/>
              <a:t>special devices (i.e., obturator, nipple shield) may be utilized to achieve an effective latch..</a:t>
            </a:r>
          </a:p>
          <a:p>
            <a:endParaRPr lang="en-US" sz="2000" b="1" dirty="0"/>
          </a:p>
        </p:txBody>
      </p:sp>
      <p:sp>
        <p:nvSpPr>
          <p:cNvPr id="26" name="Rectangle 25">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1898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528" y="386930"/>
            <a:ext cx="10141799" cy="1300554"/>
          </a:xfrm>
        </p:spPr>
        <p:txBody>
          <a:bodyPr vert="horz" lIns="91440" tIns="45720" rIns="91440" bIns="45720" rtlCol="0" anchor="b">
            <a:normAutofit/>
          </a:bodyPr>
          <a:lstStyle/>
          <a:p>
            <a:pPr algn="ctr"/>
            <a:r>
              <a:rPr lang="en-US" sz="4800" b="1" dirty="0">
                <a:latin typeface="Aharoni" panose="02010803020104030203" pitchFamily="2" charset="-79"/>
                <a:cs typeface="Aharoni" panose="02010803020104030203" pitchFamily="2" charset="-79"/>
              </a:rPr>
              <a:t>SPECIAL SITUATIONS</a:t>
            </a:r>
            <a:endParaRPr lang="en-US" sz="4800" kern="1200" dirty="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5295" y="2637181"/>
            <a:ext cx="5150277" cy="3489312"/>
          </a:xfrm>
          <a:prstGeom prst="rect">
            <a:avLst/>
          </a:prstGeom>
        </p:spPr>
      </p:pic>
      <p:sp>
        <p:nvSpPr>
          <p:cNvPr id="3" name="Content Placeholder 2"/>
          <p:cNvSpPr>
            <a:spLocks noGrp="1"/>
          </p:cNvSpPr>
          <p:nvPr>
            <p:ph sz="half" idx="1"/>
          </p:nvPr>
        </p:nvSpPr>
        <p:spPr>
          <a:xfrm>
            <a:off x="6406429" y="2599509"/>
            <a:ext cx="4530898" cy="3639450"/>
          </a:xfrm>
        </p:spPr>
        <p:txBody>
          <a:bodyPr vert="horz" lIns="91440" tIns="45720" rIns="91440" bIns="45720" rtlCol="0" anchor="ctr">
            <a:normAutofit/>
          </a:bodyPr>
          <a:lstStyle/>
          <a:p>
            <a:r>
              <a:rPr lang="en-US" sz="2000" b="1"/>
              <a:t>b. Cardiac disease/defects may require fluid restriction status of the infant and special attention to pacing of feeds to minimize fatigue during feeding.</a:t>
            </a:r>
          </a:p>
          <a:p>
            <a:r>
              <a:rPr lang="en-US" sz="2000" b="1"/>
              <a:t>c. Ankyloglossia (tongue tie)</a:t>
            </a:r>
          </a:p>
          <a:p>
            <a:pPr marL="0"/>
            <a:r>
              <a:rPr lang="en-US" sz="2000" b="1"/>
              <a:t> Frenulotomy is often the        treatment of choice</a:t>
            </a:r>
          </a:p>
        </p:txBody>
      </p:sp>
      <p:sp>
        <p:nvSpPr>
          <p:cNvPr id="16" name="Rectangle 15">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6424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pPr algn="ctr"/>
            <a:r>
              <a:rPr lang="en-US" sz="5400" b="1" dirty="0">
                <a:latin typeface="Aharoni" panose="02010803020104030203" pitchFamily="2" charset="-79"/>
                <a:cs typeface="Aharoni" panose="02010803020104030203" pitchFamily="2" charset="-79"/>
              </a:rPr>
              <a:t>SPECIAL SITUATIONS</a:t>
            </a:r>
            <a:endParaRPr lang="en-US" sz="5400" kern="1200" dirty="0">
              <a:solidFill>
                <a:schemeClr val="tx1"/>
              </a:solidFill>
              <a:latin typeface="+mj-lt"/>
              <a:ea typeface="+mj-ea"/>
              <a:cs typeface="+mj-cs"/>
            </a:endParaRP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793660" y="2599509"/>
            <a:ext cx="10143668" cy="3435531"/>
          </a:xfrm>
        </p:spPr>
        <p:txBody>
          <a:bodyPr vert="horz" lIns="91440" tIns="45720" rIns="91440" bIns="45720" rtlCol="0" anchor="ctr">
            <a:normAutofit/>
          </a:bodyPr>
          <a:lstStyle/>
          <a:p>
            <a:pPr marL="0"/>
            <a:r>
              <a:rPr lang="en-US" sz="2400" b="1"/>
              <a:t>2. Premature infants</a:t>
            </a:r>
          </a:p>
          <a:p>
            <a:r>
              <a:rPr lang="en-US" sz="2400" b="1"/>
              <a:t>Mechanical milk expression concurrent with breastfeeding</a:t>
            </a:r>
          </a:p>
          <a:p>
            <a:r>
              <a:rPr lang="en-US" sz="2400" b="1"/>
              <a:t>Weighing the infant before and after breastfeeding </a:t>
            </a:r>
          </a:p>
          <a:p>
            <a:r>
              <a:rPr lang="en-US" sz="2400" b="1"/>
              <a:t>Kangaroo care </a:t>
            </a:r>
          </a:p>
          <a:p>
            <a:endParaRPr lang="en-US" sz="2400" b="1"/>
          </a:p>
        </p:txBody>
      </p:sp>
    </p:spTree>
    <p:extLst>
      <p:ext uri="{BB962C8B-B14F-4D97-AF65-F5344CB8AC3E}">
        <p14:creationId xmlns:p14="http://schemas.microsoft.com/office/powerpoint/2010/main" val="7211988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AT A GLANCE</a:t>
            </a:r>
            <a:br>
              <a:rPr lang="en-US" dirty="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040556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87059" name="Group 87058">
            <a:extLst>
              <a:ext uri="{FF2B5EF4-FFF2-40B4-BE49-F238E27FC236}">
                <a16:creationId xmlns:a16="http://schemas.microsoft.com/office/drawing/2014/main" id="{DFB5D1BB-0703-437B-BD1E-1D07F8A27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87060" name="Picture 87059">
              <a:extLst>
                <a:ext uri="{FF2B5EF4-FFF2-40B4-BE49-F238E27FC236}">
                  <a16:creationId xmlns:a16="http://schemas.microsoft.com/office/drawing/2014/main" id="{3886586B-3F0F-4593-B272-AE75AD0F092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7061" name="Rectangle 87060">
              <a:extLst>
                <a:ext uri="{FF2B5EF4-FFF2-40B4-BE49-F238E27FC236}">
                  <a16:creationId xmlns:a16="http://schemas.microsoft.com/office/drawing/2014/main" id="{020DEB59-BF94-41B5-8F16-8B10442EE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87062" name="Picture 87061">
              <a:extLst>
                <a:ext uri="{FF2B5EF4-FFF2-40B4-BE49-F238E27FC236}">
                  <a16:creationId xmlns:a16="http://schemas.microsoft.com/office/drawing/2014/main" id="{9A3BEF6F-FC03-43B1-8D1B-8DA3A360DBF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87063" name="Picture 87062">
              <a:extLst>
                <a:ext uri="{FF2B5EF4-FFF2-40B4-BE49-F238E27FC236}">
                  <a16:creationId xmlns:a16="http://schemas.microsoft.com/office/drawing/2014/main" id="{0F49BA32-A501-4C79-9A72-92587AB9EEF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87065" name="Straight Connector 87064">
            <a:extLst>
              <a:ext uri="{FF2B5EF4-FFF2-40B4-BE49-F238E27FC236}">
                <a16:creationId xmlns:a16="http://schemas.microsoft.com/office/drawing/2014/main" id="{883F92AF-2403-4558-B1D7-72130A1E4B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87067" name="Rectangle 87066">
            <a:extLst>
              <a:ext uri="{FF2B5EF4-FFF2-40B4-BE49-F238E27FC236}">
                <a16:creationId xmlns:a16="http://schemas.microsoft.com/office/drawing/2014/main" id="{B0393412-BB8B-4EC9-A88D-93917FA4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88"/>
            <a:ext cx="11227442" cy="5883295"/>
          </a:xfrm>
          <a:prstGeom prst="rect">
            <a:avLst/>
          </a:prstGeom>
          <a:blipFill dpi="0" rotWithShape="1">
            <a:blip r:embed="rId5">
              <a:alphaModFix amt="88000"/>
              <a:duotone>
                <a:schemeClr val="bg2">
                  <a:shade val="45000"/>
                  <a:satMod val="135000"/>
                </a:schemeClr>
                <a:prstClr val="white"/>
              </a:duotone>
            </a:blip>
            <a:srcRect/>
            <a:tile tx="0" ty="0" sx="90000" sy="100000" flip="none" algn="ctr"/>
          </a:blipFill>
          <a:ln>
            <a:noFill/>
          </a:ln>
          <a:effectLst>
            <a:outerShdw blurRad="114300" dist="127000" dir="5400000" sx="99000" sy="99000" algn="t" rotWithShape="0">
              <a:prstClr val="black">
                <a:alpha val="40000"/>
              </a:prstClr>
            </a:outerShdw>
          </a:effectLst>
          <a:scene3d>
            <a:camera prst="orthographicFront"/>
            <a:lightRig rig="twoPt" dir="t"/>
          </a:scene3d>
          <a:sp3d>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87069" name="Rectangle 87068">
            <a:extLst>
              <a:ext uri="{FF2B5EF4-FFF2-40B4-BE49-F238E27FC236}">
                <a16:creationId xmlns:a16="http://schemas.microsoft.com/office/drawing/2014/main" id="{68AB7DB4-4BE9-465B-8843-8073715FF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7054" name="Rectangle 14"/>
          <p:cNvSpPr>
            <a:spLocks noGrp="1" noChangeArrowheads="1"/>
          </p:cNvSpPr>
          <p:nvPr>
            <p:ph type="title"/>
          </p:nvPr>
        </p:nvSpPr>
        <p:spPr>
          <a:xfrm>
            <a:off x="1295402" y="982132"/>
            <a:ext cx="9601196" cy="1303867"/>
          </a:xfrm>
        </p:spPr>
        <p:txBody>
          <a:bodyPr vert="horz" lIns="91440" tIns="45720" rIns="91440" bIns="45720" rtlCol="0" anchor="ctr">
            <a:normAutofit/>
          </a:bodyPr>
          <a:lstStyle/>
          <a:p>
            <a:r>
              <a:rPr lang="en-US" sz="4100"/>
              <a:t>ADVANTAGES OF BREAST FEEDING</a:t>
            </a:r>
            <a:endParaRPr lang="en-US" altLang="en-US" sz="4100"/>
          </a:p>
        </p:txBody>
      </p:sp>
      <p:cxnSp>
        <p:nvCxnSpPr>
          <p:cNvPr id="87071" name="Straight Connector 87070">
            <a:extLst>
              <a:ext uri="{FF2B5EF4-FFF2-40B4-BE49-F238E27FC236}">
                <a16:creationId xmlns:a16="http://schemas.microsoft.com/office/drawing/2014/main" id="{AFC431BA-A96A-492C-A2FA-F9F701E385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7073" name="Group 87072">
            <a:extLst>
              <a:ext uri="{FF2B5EF4-FFF2-40B4-BE49-F238E27FC236}">
                <a16:creationId xmlns:a16="http://schemas.microsoft.com/office/drawing/2014/main" id="{79E73055-8C3E-4C1D-88EA-3D22039CDF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8288" y="3128956"/>
            <a:ext cx="12234672" cy="658368"/>
            <a:chOff x="-18288" y="3128956"/>
            <a:chExt cx="12234672" cy="658368"/>
          </a:xfrm>
        </p:grpSpPr>
        <p:sp>
          <p:nvSpPr>
            <p:cNvPr id="87074" name="Rounded Rectangle 30">
              <a:extLst>
                <a:ext uri="{FF2B5EF4-FFF2-40B4-BE49-F238E27FC236}">
                  <a16:creationId xmlns:a16="http://schemas.microsoft.com/office/drawing/2014/main" id="{FF9A1137-08E4-442C-9270-0F23E380D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87075" name="Picture 87074">
              <a:extLst>
                <a:ext uri="{FF2B5EF4-FFF2-40B4-BE49-F238E27FC236}">
                  <a16:creationId xmlns:a16="http://schemas.microsoft.com/office/drawing/2014/main" id="{6A4AC3F5-7F5F-4B49-835E-36CBE45D34F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p:nvSpPr>
            <p:cNvPr id="87076" name="Rounded Rectangle 32">
              <a:extLst>
                <a:ext uri="{FF2B5EF4-FFF2-40B4-BE49-F238E27FC236}">
                  <a16:creationId xmlns:a16="http://schemas.microsoft.com/office/drawing/2014/main" id="{C79DCCFA-B647-41F3-8C57-D19A61760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87077" name="Picture 87076">
              <a:extLst>
                <a:ext uri="{FF2B5EF4-FFF2-40B4-BE49-F238E27FC236}">
                  <a16:creationId xmlns:a16="http://schemas.microsoft.com/office/drawing/2014/main" id="{3C7401E9-AF65-4A82-8FB1-401302CD5AB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graphicFrame>
        <p:nvGraphicFramePr>
          <p:cNvPr id="2" name="Diagram 1"/>
          <p:cNvGraphicFramePr/>
          <p:nvPr>
            <p:extLst>
              <p:ext uri="{D42A27DB-BD31-4B8C-83A1-F6EECF244321}">
                <p14:modId xmlns:p14="http://schemas.microsoft.com/office/powerpoint/2010/main" val="2211052980"/>
              </p:ext>
            </p:extLst>
          </p:nvPr>
        </p:nvGraphicFramePr>
        <p:xfrm>
          <a:off x="1295401" y="2556932"/>
          <a:ext cx="9601196" cy="331893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5668505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9469" y="320951"/>
            <a:ext cx="9601196" cy="1303867"/>
          </a:xfrm>
        </p:spPr>
        <p:txBody>
          <a:bodyPr/>
          <a:lstStyle/>
          <a:p>
            <a:r>
              <a:rPr lang="en-US" dirty="0"/>
              <a:t>ANATOMY  AND PHYSIOLOGY</a:t>
            </a:r>
          </a:p>
        </p:txBody>
      </p:sp>
      <p:pic>
        <p:nvPicPr>
          <p:cNvPr id="4" name="Content Placeholder 3" descr="C:\Users\savithi\Desktop\structure_of_breast-141A0BF49D20D6D15C5.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1335" y="1328410"/>
            <a:ext cx="9986105" cy="4818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1303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5628481" y="5530850"/>
            <a:ext cx="2065338"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en-US" sz="2200" dirty="0">
                <a:solidFill>
                  <a:srgbClr val="000000"/>
                </a:solidFill>
                <a:latin typeface="Verdana" panose="020B0604030504040204" pitchFamily="34" charset="0"/>
              </a:rPr>
              <a:t>Infant suckles </a:t>
            </a:r>
            <a:br>
              <a:rPr lang="en-US" altLang="en-US" sz="2200" dirty="0">
                <a:solidFill>
                  <a:srgbClr val="000000"/>
                </a:solidFill>
                <a:latin typeface="Verdana" panose="020B0604030504040204" pitchFamily="34" charset="0"/>
              </a:rPr>
            </a:br>
            <a:r>
              <a:rPr lang="en-US" altLang="en-US" sz="2200" dirty="0">
                <a:solidFill>
                  <a:srgbClr val="000000"/>
                </a:solidFill>
                <a:latin typeface="Verdana" panose="020B0604030504040204" pitchFamily="34" charset="0"/>
              </a:rPr>
              <a:t>at the breast.</a:t>
            </a:r>
            <a:endParaRPr lang="en-US" altLang="en-US" sz="2200" b="1" dirty="0">
              <a:solidFill>
                <a:srgbClr val="000000"/>
              </a:solidFill>
              <a:latin typeface="Arial" panose="020B0604020202020204" pitchFamily="34" charset="0"/>
            </a:endParaRPr>
          </a:p>
        </p:txBody>
      </p:sp>
      <p:sp>
        <p:nvSpPr>
          <p:cNvPr id="8195" name="Text Box 3"/>
          <p:cNvSpPr txBox="1">
            <a:spLocks noChangeArrowheads="1"/>
          </p:cNvSpPr>
          <p:nvPr/>
        </p:nvSpPr>
        <p:spPr bwMode="auto">
          <a:xfrm>
            <a:off x="2895600" y="2133600"/>
            <a:ext cx="2590800" cy="271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en-US" altLang="en-US" sz="2200" dirty="0">
                <a:solidFill>
                  <a:srgbClr val="000000"/>
                </a:solidFill>
                <a:latin typeface="Verdana" panose="020B0604030504040204" pitchFamily="34" charset="0"/>
              </a:rPr>
              <a:t>Stimulation of</a:t>
            </a:r>
            <a:br>
              <a:rPr lang="en-US" altLang="en-US" sz="2200" dirty="0">
                <a:solidFill>
                  <a:srgbClr val="000000"/>
                </a:solidFill>
                <a:latin typeface="Verdana" panose="020B0604030504040204" pitchFamily="34" charset="0"/>
              </a:rPr>
            </a:br>
            <a:r>
              <a:rPr lang="en-US" altLang="en-US" sz="2200" dirty="0">
                <a:solidFill>
                  <a:srgbClr val="000000"/>
                </a:solidFill>
                <a:latin typeface="Verdana" panose="020B0604030504040204" pitchFamily="34" charset="0"/>
              </a:rPr>
              <a:t>nerve endings</a:t>
            </a:r>
            <a:br>
              <a:rPr lang="en-US" altLang="en-US" sz="2200" dirty="0">
                <a:solidFill>
                  <a:srgbClr val="000000"/>
                </a:solidFill>
                <a:latin typeface="Verdana" panose="020B0604030504040204" pitchFamily="34" charset="0"/>
              </a:rPr>
            </a:br>
            <a:r>
              <a:rPr lang="en-US" altLang="en-US" sz="2200" dirty="0">
                <a:solidFill>
                  <a:srgbClr val="000000"/>
                </a:solidFill>
                <a:latin typeface="Verdana" panose="020B0604030504040204" pitchFamily="34" charset="0"/>
              </a:rPr>
              <a:t>in mother’s</a:t>
            </a:r>
            <a:br>
              <a:rPr lang="en-US" altLang="en-US" sz="2200" dirty="0">
                <a:solidFill>
                  <a:srgbClr val="000000"/>
                </a:solidFill>
                <a:latin typeface="Verdana" panose="020B0604030504040204" pitchFamily="34" charset="0"/>
              </a:rPr>
            </a:br>
            <a:r>
              <a:rPr lang="en-US" altLang="en-US" sz="2200" dirty="0">
                <a:solidFill>
                  <a:srgbClr val="000000"/>
                </a:solidFill>
                <a:latin typeface="Verdana" panose="020B0604030504040204" pitchFamily="34" charset="0"/>
              </a:rPr>
              <a:t>nipple/areola sends signal</a:t>
            </a:r>
            <a:br>
              <a:rPr lang="en-US" altLang="en-US" sz="2200" dirty="0">
                <a:solidFill>
                  <a:srgbClr val="000000"/>
                </a:solidFill>
                <a:latin typeface="Verdana" panose="020B0604030504040204" pitchFamily="34" charset="0"/>
              </a:rPr>
            </a:br>
            <a:r>
              <a:rPr lang="en-US" altLang="en-US" sz="2200" dirty="0">
                <a:solidFill>
                  <a:srgbClr val="000000"/>
                </a:solidFill>
                <a:latin typeface="Verdana" panose="020B0604030504040204" pitchFamily="34" charset="0"/>
              </a:rPr>
              <a:t>to mother’s hypothalamus/</a:t>
            </a:r>
          </a:p>
          <a:p>
            <a:r>
              <a:rPr lang="en-US" altLang="en-US" sz="2200" dirty="0">
                <a:solidFill>
                  <a:srgbClr val="000000"/>
                </a:solidFill>
                <a:latin typeface="Verdana" panose="020B0604030504040204" pitchFamily="34" charset="0"/>
              </a:rPr>
              <a:t>pituitary.</a:t>
            </a:r>
          </a:p>
        </p:txBody>
      </p:sp>
      <p:sp>
        <p:nvSpPr>
          <p:cNvPr id="8196" name="Text Box 4"/>
          <p:cNvSpPr txBox="1">
            <a:spLocks noChangeArrowheads="1"/>
          </p:cNvSpPr>
          <p:nvPr/>
        </p:nvSpPr>
        <p:spPr bwMode="auto">
          <a:xfrm>
            <a:off x="5092700" y="708027"/>
            <a:ext cx="3211513"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en-US" sz="2200" dirty="0">
                <a:solidFill>
                  <a:srgbClr val="000000"/>
                </a:solidFill>
                <a:latin typeface="Verdana" panose="020B0604030504040204" pitchFamily="34" charset="0"/>
              </a:rPr>
              <a:t>Pituitary releases  </a:t>
            </a:r>
          </a:p>
          <a:p>
            <a:r>
              <a:rPr lang="en-US" altLang="en-US" sz="2200" dirty="0">
                <a:solidFill>
                  <a:srgbClr val="000000"/>
                </a:solidFill>
                <a:latin typeface="Verdana" panose="020B0604030504040204" pitchFamily="34" charset="0"/>
              </a:rPr>
              <a:t>prolactin and oxytocin.</a:t>
            </a:r>
          </a:p>
        </p:txBody>
      </p:sp>
      <p:sp>
        <p:nvSpPr>
          <p:cNvPr id="8197" name="Text Box 5"/>
          <p:cNvSpPr txBox="1">
            <a:spLocks noChangeArrowheads="1"/>
          </p:cNvSpPr>
          <p:nvPr/>
        </p:nvSpPr>
        <p:spPr bwMode="auto">
          <a:xfrm>
            <a:off x="7848600" y="2297112"/>
            <a:ext cx="365760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en-US" altLang="en-US" sz="2200" dirty="0">
                <a:solidFill>
                  <a:srgbClr val="000000"/>
                </a:solidFill>
                <a:latin typeface="Verdana" panose="020B0604030504040204" pitchFamily="34" charset="0"/>
              </a:rPr>
              <a:t>Hormones travel </a:t>
            </a:r>
            <a:br>
              <a:rPr lang="en-US" altLang="en-US" sz="2200" dirty="0">
                <a:solidFill>
                  <a:srgbClr val="000000"/>
                </a:solidFill>
                <a:latin typeface="Verdana" panose="020B0604030504040204" pitchFamily="34" charset="0"/>
              </a:rPr>
            </a:br>
            <a:r>
              <a:rPr lang="en-US" altLang="en-US" sz="2200" dirty="0">
                <a:solidFill>
                  <a:srgbClr val="000000"/>
                </a:solidFill>
                <a:latin typeface="Verdana" panose="020B0604030504040204" pitchFamily="34" charset="0"/>
              </a:rPr>
              <a:t>via bloodstream</a:t>
            </a:r>
          </a:p>
          <a:p>
            <a:r>
              <a:rPr lang="en-US" altLang="en-US" sz="2200" dirty="0">
                <a:solidFill>
                  <a:srgbClr val="000000"/>
                </a:solidFill>
                <a:latin typeface="Verdana" panose="020B0604030504040204" pitchFamily="34" charset="0"/>
              </a:rPr>
              <a:t>to mammary gland </a:t>
            </a:r>
            <a:br>
              <a:rPr lang="en-US" altLang="en-US" sz="2200" dirty="0">
                <a:solidFill>
                  <a:srgbClr val="000000"/>
                </a:solidFill>
                <a:latin typeface="Verdana" panose="020B0604030504040204" pitchFamily="34" charset="0"/>
              </a:rPr>
            </a:br>
            <a:r>
              <a:rPr lang="en-US" altLang="en-US" sz="2200" dirty="0">
                <a:solidFill>
                  <a:srgbClr val="000000"/>
                </a:solidFill>
                <a:latin typeface="Verdana" panose="020B0604030504040204" pitchFamily="34" charset="0"/>
              </a:rPr>
              <a:t>to stimulate milk production and </a:t>
            </a:r>
          </a:p>
          <a:p>
            <a:r>
              <a:rPr lang="en-US" altLang="en-US" sz="2200" dirty="0">
                <a:solidFill>
                  <a:srgbClr val="000000"/>
                </a:solidFill>
                <a:latin typeface="Verdana" panose="020B0604030504040204" pitchFamily="34" charset="0"/>
              </a:rPr>
              <a:t>milk ejection</a:t>
            </a:r>
            <a:br>
              <a:rPr lang="en-US" altLang="en-US" sz="2200" dirty="0">
                <a:solidFill>
                  <a:srgbClr val="000000"/>
                </a:solidFill>
                <a:latin typeface="Verdana" panose="020B0604030504040204" pitchFamily="34" charset="0"/>
              </a:rPr>
            </a:br>
            <a:r>
              <a:rPr lang="en-US" altLang="en-US" sz="2200" dirty="0">
                <a:solidFill>
                  <a:srgbClr val="000000"/>
                </a:solidFill>
                <a:latin typeface="Verdana" panose="020B0604030504040204" pitchFamily="34" charset="0"/>
              </a:rPr>
              <a:t>reflex (let-down).</a:t>
            </a:r>
            <a:endParaRPr lang="en-US" altLang="en-US" sz="2000" b="1" dirty="0">
              <a:solidFill>
                <a:srgbClr val="000000"/>
              </a:solidFill>
              <a:latin typeface="Verdana" panose="020B0604030504040204" pitchFamily="34" charset="0"/>
            </a:endParaRPr>
          </a:p>
        </p:txBody>
      </p:sp>
      <p:pic>
        <p:nvPicPr>
          <p:cNvPr id="81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1143000"/>
            <a:ext cx="723900" cy="825500"/>
          </a:xfrm>
          <a:prstGeom prst="rect">
            <a:avLst/>
          </a:prstGeom>
          <a:noFill/>
          <a:extLst>
            <a:ext uri="{909E8E84-426E-40DD-AFC4-6F175D3DCCD1}">
              <a14:hiddenFill xmlns:a14="http://schemas.microsoft.com/office/drawing/2010/main">
                <a:solidFill>
                  <a:srgbClr val="FFFFFF"/>
                </a:solidFill>
              </a14:hiddenFill>
            </a:ext>
          </a:extLst>
        </p:spPr>
      </p:pic>
      <p:pic>
        <p:nvPicPr>
          <p:cNvPr id="819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8300" y="1066800"/>
            <a:ext cx="622300" cy="800100"/>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5181600"/>
            <a:ext cx="774700" cy="698500"/>
          </a:xfrm>
          <a:prstGeom prst="rect">
            <a:avLst/>
          </a:prstGeom>
          <a:noFill/>
          <a:extLst>
            <a:ext uri="{909E8E84-426E-40DD-AFC4-6F175D3DCCD1}">
              <a14:hiddenFill xmlns:a14="http://schemas.microsoft.com/office/drawing/2010/main">
                <a:solidFill>
                  <a:srgbClr val="FFFFFF"/>
                </a:solidFill>
              </a14:hiddenFill>
            </a:ext>
          </a:extLst>
        </p:spPr>
      </p:pic>
      <p:pic>
        <p:nvPicPr>
          <p:cNvPr id="8201"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5181600"/>
            <a:ext cx="749300" cy="723900"/>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92700" y="1466850"/>
            <a:ext cx="2540000" cy="3848100"/>
          </a:xfrm>
          <a:prstGeom prst="rect">
            <a:avLst/>
          </a:prstGeom>
          <a:noFill/>
          <a:extLst>
            <a:ext uri="{909E8E84-426E-40DD-AFC4-6F175D3DCCD1}">
              <a14:hiddenFill xmlns:a14="http://schemas.microsoft.com/office/drawing/2010/main">
                <a:solidFill>
                  <a:srgbClr val="FFFFFF"/>
                </a:solidFill>
              </a14:hiddenFill>
            </a:ext>
          </a:extLst>
        </p:spPr>
      </p:pic>
      <p:sp>
        <p:nvSpPr>
          <p:cNvPr id="8203" name="Text Box 11"/>
          <p:cNvSpPr txBox="1">
            <a:spLocks noChangeArrowheads="1"/>
          </p:cNvSpPr>
          <p:nvPr/>
        </p:nvSpPr>
        <p:spPr bwMode="auto">
          <a:xfrm>
            <a:off x="5334000" y="6597651"/>
            <a:ext cx="5181600" cy="16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r"/>
            <a:r>
              <a:rPr lang="en-US" altLang="en-US" sz="1100">
                <a:solidFill>
                  <a:srgbClr val="800080"/>
                </a:solidFill>
                <a:latin typeface="Verdana" panose="020B0604030504040204" pitchFamily="34" charset="0"/>
                <a:cs typeface="Times" panose="02020603050405020304" pitchFamily="18" charset="0"/>
              </a:rPr>
              <a:t>Copyright © 2003, Rev 2005 American Academy of Pediatrics</a:t>
            </a:r>
          </a:p>
        </p:txBody>
      </p:sp>
    </p:spTree>
    <p:extLst>
      <p:ext uri="{BB962C8B-B14F-4D97-AF65-F5344CB8AC3E}">
        <p14:creationId xmlns:p14="http://schemas.microsoft.com/office/powerpoint/2010/main" val="17646539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952108" y="954756"/>
            <a:ext cx="2730414" cy="4946003"/>
          </a:xfrm>
        </p:spPr>
        <p:txBody>
          <a:bodyPr>
            <a:normAutofit/>
          </a:bodyPr>
          <a:lstStyle/>
          <a:p>
            <a:r>
              <a:rPr lang="en-US" sz="1400" b="1">
                <a:solidFill>
                  <a:srgbClr val="FFFFFF"/>
                </a:solidFill>
              </a:rPr>
              <a:t>CONTRAINDICATIONS OF BREASTFEEDING</a:t>
            </a:r>
          </a:p>
        </p:txBody>
      </p:sp>
      <p:sp>
        <p:nvSpPr>
          <p:cNvPr id="17" name="Rectangle 16">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40934" y="469900"/>
            <a:ext cx="5953630" cy="6296660"/>
          </a:xfrm>
        </p:spPr>
        <p:txBody>
          <a:bodyPr anchor="ctr">
            <a:normAutofit fontScale="92500" lnSpcReduction="10000"/>
          </a:bodyPr>
          <a:lstStyle/>
          <a:p>
            <a:pPr>
              <a:buNone/>
            </a:pPr>
            <a:r>
              <a:rPr lang="en-US" b="1" dirty="0">
                <a:latin typeface="Calibri" panose="020F0502020204030204" pitchFamily="34" charset="0"/>
              </a:rPr>
              <a:t> </a:t>
            </a:r>
            <a:r>
              <a:rPr lang="en-US" sz="2600" b="1" dirty="0">
                <a:latin typeface="Amasis MT Pro" panose="02040504050005020304" pitchFamily="18" charset="0"/>
              </a:rPr>
              <a:t>Fetal Factors:</a:t>
            </a:r>
          </a:p>
          <a:p>
            <a:r>
              <a:rPr lang="en-US" sz="2600" b="1" dirty="0">
                <a:latin typeface="Amasis MT Pro" panose="02040504050005020304" pitchFamily="18" charset="0"/>
              </a:rPr>
              <a:t>       Galactosemia.</a:t>
            </a:r>
          </a:p>
          <a:p>
            <a:pPr>
              <a:buNone/>
            </a:pPr>
            <a:r>
              <a:rPr lang="en-US" sz="2600" b="1" dirty="0">
                <a:latin typeface="Amasis MT Pro" panose="02040504050005020304" pitchFamily="18" charset="0"/>
              </a:rPr>
              <a:t> Maternal Factors:</a:t>
            </a:r>
          </a:p>
          <a:p>
            <a:r>
              <a:rPr lang="en-US" sz="2600" b="1" dirty="0">
                <a:latin typeface="Amasis MT Pro" panose="02040504050005020304" pitchFamily="18" charset="0"/>
              </a:rPr>
              <a:t>      active untreated T.B. &amp; H.I.V  positive</a:t>
            </a:r>
          </a:p>
          <a:p>
            <a:r>
              <a:rPr lang="en-US" sz="2600" b="1" dirty="0">
                <a:latin typeface="Amasis MT Pro" panose="02040504050005020304" pitchFamily="18" charset="0"/>
              </a:rPr>
              <a:t>      T </a:t>
            </a:r>
            <a:r>
              <a:rPr lang="en-US" sz="2600" b="1" dirty="0" err="1">
                <a:latin typeface="Amasis MT Pro" panose="02040504050005020304" pitchFamily="18" charset="0"/>
              </a:rPr>
              <a:t>lymphotrophic</a:t>
            </a:r>
            <a:r>
              <a:rPr lang="en-US" sz="2600" b="1" dirty="0">
                <a:latin typeface="Amasis MT Pro" panose="02040504050005020304" pitchFamily="18" charset="0"/>
              </a:rPr>
              <a:t> virus  type 1 &amp; 2</a:t>
            </a:r>
          </a:p>
          <a:p>
            <a:r>
              <a:rPr lang="en-US" sz="2600" b="1" dirty="0">
                <a:latin typeface="Amasis MT Pro" panose="02040504050005020304" pitchFamily="18" charset="0"/>
              </a:rPr>
              <a:t>      Herpes lesion on breast</a:t>
            </a:r>
          </a:p>
          <a:p>
            <a:pPr fontAlgn="base"/>
            <a:r>
              <a:rPr lang="en-US" sz="2600" b="1" dirty="0">
                <a:latin typeface="Amasis MT Pro" panose="02040504050005020304" pitchFamily="18" charset="0"/>
              </a:rPr>
              <a:t>      Maternal Drugs </a:t>
            </a:r>
          </a:p>
          <a:p>
            <a:pPr lvl="1" fontAlgn="base"/>
            <a:r>
              <a:rPr lang="en-US" sz="2600" b="1" dirty="0">
                <a:latin typeface="Amasis MT Pro" panose="02040504050005020304" pitchFamily="18" charset="0"/>
              </a:rPr>
              <a:t>Chemotherapy agents &amp; antimetabolites</a:t>
            </a:r>
          </a:p>
          <a:p>
            <a:pPr lvl="1" fontAlgn="base"/>
            <a:r>
              <a:rPr lang="en-US" sz="2600" b="1" dirty="0">
                <a:latin typeface="Amasis MT Pro" panose="02040504050005020304" pitchFamily="18" charset="0"/>
              </a:rPr>
              <a:t>Drugs of abuse </a:t>
            </a:r>
          </a:p>
          <a:p>
            <a:pPr lvl="1" fontAlgn="base"/>
            <a:r>
              <a:rPr lang="en-US" sz="2600" b="1" dirty="0">
                <a:latin typeface="Amasis MT Pro" panose="02040504050005020304" pitchFamily="18" charset="0"/>
              </a:rPr>
              <a:t>Primaquine and Quinine – contraindicated if  infant  has G6PD</a:t>
            </a:r>
          </a:p>
        </p:txBody>
      </p:sp>
      <p:sp>
        <p:nvSpPr>
          <p:cNvPr id="6" name="Content Placeholder 2"/>
          <p:cNvSpPr txBox="1">
            <a:spLocks/>
          </p:cNvSpPr>
          <p:nvPr/>
        </p:nvSpPr>
        <p:spPr>
          <a:xfrm>
            <a:off x="6874329" y="2432957"/>
            <a:ext cx="4022269" cy="382088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endParaRPr lang="en-US" b="1" dirty="0">
              <a:latin typeface="Calibri" panose="020F0502020204030204" pitchFamily="34" charset="0"/>
            </a:endParaRPr>
          </a:p>
        </p:txBody>
      </p:sp>
    </p:spTree>
    <p:extLst>
      <p:ext uri="{BB962C8B-B14F-4D97-AF65-F5344CB8AC3E}">
        <p14:creationId xmlns:p14="http://schemas.microsoft.com/office/powerpoint/2010/main" val="36278955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4294967295"/>
          </p:nvPr>
        </p:nvSpPr>
        <p:spPr>
          <a:xfrm>
            <a:off x="1702191" y="2878016"/>
            <a:ext cx="8001000" cy="4267200"/>
          </a:xfrm>
        </p:spPr>
        <p:txBody>
          <a:bodyPr>
            <a:normAutofit/>
          </a:bodyPr>
          <a:lstStyle/>
          <a:p>
            <a:pPr algn="ctr">
              <a:buFontTx/>
              <a:buNone/>
            </a:pPr>
            <a:endParaRPr lang="en-US" altLang="en-US" sz="2800" b="1" dirty="0"/>
          </a:p>
          <a:p>
            <a:pPr algn="ctr">
              <a:buFontTx/>
              <a:buNone/>
            </a:pPr>
            <a:endParaRPr lang="en-US" altLang="en-US" sz="2800" b="1" dirty="0"/>
          </a:p>
          <a:p>
            <a:pPr algn="ctr">
              <a:buFontTx/>
              <a:buNone/>
            </a:pPr>
            <a:r>
              <a:rPr lang="en-US" altLang="en-US" sz="2800" b="1" dirty="0"/>
              <a:t>“</a:t>
            </a:r>
            <a:r>
              <a:rPr lang="en-US" altLang="en-US" sz="2800" b="1" i="1" dirty="0">
                <a:solidFill>
                  <a:schemeClr val="tx2"/>
                </a:solidFill>
              </a:rPr>
              <a:t>The nature has designed the provision that infants be fed upon their mother’s milk. They find their food and mother at the same time. It’s a complete nourishment for them both for their body and soul”- Rabindranath Tagore</a:t>
            </a:r>
          </a:p>
        </p:txBody>
      </p:sp>
      <p:pic>
        <p:nvPicPr>
          <p:cNvPr id="34820" name="Picture 4" descr="p_896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8242" y="827731"/>
            <a:ext cx="5867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42268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1931660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1428" y="375557"/>
            <a:ext cx="5205448" cy="5936229"/>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186" y="375556"/>
            <a:ext cx="5908221" cy="5936229"/>
          </a:xfrm>
          <a:prstGeom prst="rect">
            <a:avLst/>
          </a:prstGeom>
        </p:spPr>
      </p:pic>
    </p:spTree>
    <p:extLst>
      <p:ext uri="{BB962C8B-B14F-4D97-AF65-F5344CB8AC3E}">
        <p14:creationId xmlns:p14="http://schemas.microsoft.com/office/powerpoint/2010/main" val="6907039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515" y="473529"/>
            <a:ext cx="11273425" cy="5878285"/>
          </a:xfrm>
          <a:prstGeom prst="rect">
            <a:avLst/>
          </a:prstGeom>
        </p:spPr>
      </p:pic>
    </p:spTree>
    <p:extLst>
      <p:ext uri="{BB962C8B-B14F-4D97-AF65-F5344CB8AC3E}">
        <p14:creationId xmlns:p14="http://schemas.microsoft.com/office/powerpoint/2010/main" val="34613217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515" y="513568"/>
            <a:ext cx="11060481" cy="5862180"/>
          </a:xfrm>
          <a:prstGeom prst="rect">
            <a:avLst/>
          </a:prstGeom>
        </p:spPr>
      </p:pic>
    </p:spTree>
    <p:extLst>
      <p:ext uri="{BB962C8B-B14F-4D97-AF65-F5344CB8AC3E}">
        <p14:creationId xmlns:p14="http://schemas.microsoft.com/office/powerpoint/2010/main" val="23853922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485314" y="4336612"/>
            <a:ext cx="10515600" cy="4351338"/>
          </a:xfrm>
        </p:spPr>
        <p:txBody>
          <a:bodyPr/>
          <a:lstStyle/>
          <a:p>
            <a:pPr marL="0" indent="0">
              <a:buNone/>
            </a:pPr>
            <a:r>
              <a:rPr lang="ne-NP" sz="8000" b="1" dirty="0">
                <a:latin typeface="Mangal" panose="02040503050203030202" pitchFamily="18" charset="0"/>
                <a:cs typeface="Mangal" panose="02040503050203030202" pitchFamily="18" charset="0"/>
              </a:rPr>
              <a:t>स्तनपान </a:t>
            </a:r>
            <a:r>
              <a:rPr lang="en-US" sz="8000" b="1" dirty="0">
                <a:latin typeface="Mangal" panose="02040503050203030202" pitchFamily="18" charset="0"/>
                <a:cs typeface="Mangal" panose="02040503050203030202" pitchFamily="18" charset="0"/>
              </a:rPr>
              <a:t>–</a:t>
            </a:r>
            <a:r>
              <a:rPr lang="ne-NP" sz="8000" b="1" dirty="0">
                <a:latin typeface="Mangal" panose="02040503050203030202" pitchFamily="18" charset="0"/>
                <a:cs typeface="Mangal" panose="02040503050203030202" pitchFamily="18" charset="0"/>
              </a:rPr>
              <a:t>अमृतसमान</a:t>
            </a:r>
            <a:endParaRPr lang="en-US" sz="8000" b="1" dirty="0">
              <a:latin typeface="Mangal" panose="02040503050203030202" pitchFamily="18" charset="0"/>
              <a:cs typeface="Mangal" panose="02040503050203030202" pitchFamily="18" charset="0"/>
            </a:endParaRPr>
          </a:p>
          <a:p>
            <a:pPr marL="0" indent="0">
              <a:buNone/>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3018" y="904252"/>
            <a:ext cx="3204723" cy="3204723"/>
          </a:xfrm>
          <a:prstGeom prst="rect">
            <a:avLst/>
          </a:prstGeom>
        </p:spPr>
      </p:pic>
    </p:spTree>
    <p:extLst>
      <p:ext uri="{BB962C8B-B14F-4D97-AF65-F5344CB8AC3E}">
        <p14:creationId xmlns:p14="http://schemas.microsoft.com/office/powerpoint/2010/main" val="39053313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2957" y="2743200"/>
            <a:ext cx="7200900" cy="1747158"/>
          </a:xfrm>
        </p:spPr>
        <p:txBody>
          <a:bodyPr/>
          <a:lstStyle/>
          <a:p>
            <a:r>
              <a:rPr lang="en-US" b="1" dirty="0">
                <a:latin typeface="Algerian" panose="04020705040A02060702" pitchFamily="82" charset="0"/>
              </a:rPr>
              <a:t>BREASTFEED FOR FUTURE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8186" y="742385"/>
            <a:ext cx="3173184" cy="2221229"/>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0343" y="627520"/>
            <a:ext cx="3182983" cy="245858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3915" y="786470"/>
            <a:ext cx="2655455" cy="2177144"/>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67943" y="4033158"/>
            <a:ext cx="2890157" cy="2009378"/>
          </a:xfrm>
          <a:prstGeom prst="rect">
            <a:avLst/>
          </a:prstGeom>
        </p:spPr>
      </p:pic>
    </p:spTree>
    <p:extLst>
      <p:ext uri="{BB962C8B-B14F-4D97-AF65-F5344CB8AC3E}">
        <p14:creationId xmlns:p14="http://schemas.microsoft.com/office/powerpoint/2010/main" val="197828918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00389" y="457201"/>
            <a:ext cx="7000874" cy="5771232"/>
          </a:xfrm>
        </p:spPr>
      </p:pic>
    </p:spTree>
    <p:extLst>
      <p:ext uri="{BB962C8B-B14F-4D97-AF65-F5344CB8AC3E}">
        <p14:creationId xmlns:p14="http://schemas.microsoft.com/office/powerpoint/2010/main" val="6497648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03E8C8A2-D2DA-42F8-84AA-AC5AB4251D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032" name="Picture 1031">
              <a:extLst>
                <a:ext uri="{FF2B5EF4-FFF2-40B4-BE49-F238E27FC236}">
                  <a16:creationId xmlns:a16="http://schemas.microsoft.com/office/drawing/2014/main" id="{9A5D1FE1-4883-49B4-AD3E-D0A3F8DCE12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055" name="Rectangle 1054">
              <a:extLst>
                <a:ext uri="{FF2B5EF4-FFF2-40B4-BE49-F238E27FC236}">
                  <a16:creationId xmlns:a16="http://schemas.microsoft.com/office/drawing/2014/main" id="{7F829EAE-7CB1-410F-BAF1-55BD6DC24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34" name="Picture 1033">
              <a:extLst>
                <a:ext uri="{FF2B5EF4-FFF2-40B4-BE49-F238E27FC236}">
                  <a16:creationId xmlns:a16="http://schemas.microsoft.com/office/drawing/2014/main" id="{4EA5F8CE-974F-4443-AB3C-4799C332304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035" name="Picture 1034">
              <a:extLst>
                <a:ext uri="{FF2B5EF4-FFF2-40B4-BE49-F238E27FC236}">
                  <a16:creationId xmlns:a16="http://schemas.microsoft.com/office/drawing/2014/main" id="{94075D0C-1739-4729-A5C8-5C5707A942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037" name="Straight Connector 1036">
            <a:extLst>
              <a:ext uri="{FF2B5EF4-FFF2-40B4-BE49-F238E27FC236}">
                <a16:creationId xmlns:a16="http://schemas.microsoft.com/office/drawing/2014/main" id="{0DFD28A6-39F3-425F-8050-E5BF1B4523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1039" name="Rectangle 1038">
            <a:extLst>
              <a:ext uri="{FF2B5EF4-FFF2-40B4-BE49-F238E27FC236}">
                <a16:creationId xmlns:a16="http://schemas.microsoft.com/office/drawing/2014/main" id="{FDF8837B-BAE2-489A-8F93-69216307D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20 Breastfeeding Memes to Get You Through That Nursing Session">
            <a:extLst>
              <a:ext uri="{FF2B5EF4-FFF2-40B4-BE49-F238E27FC236}">
                <a16:creationId xmlns:a16="http://schemas.microsoft.com/office/drawing/2014/main" id="{30830DE0-F5D3-A01F-D453-9BD494F9BE6D}"/>
              </a:ext>
            </a:extLst>
          </p:cNvPr>
          <p:cNvPicPr>
            <a:picLocks noChangeAspect="1" noChangeArrowheads="1"/>
          </p:cNvPicPr>
          <p:nvPr/>
        </p:nvPicPr>
        <p:blipFill>
          <a:blip r:embed="rId5">
            <a:alphaModFix amt="50000"/>
            <a:extLst>
              <a:ext uri="{28A0092B-C50C-407E-A947-70E740481C1C}">
                <a14:useLocalDpi xmlns:a14="http://schemas.microsoft.com/office/drawing/2010/main" val="0"/>
              </a:ext>
            </a:extLst>
          </a:blip>
          <a:srcRect b="15730"/>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2CCA2BF-E997-AC3D-F244-F16D2EFD7975}"/>
              </a:ext>
            </a:extLst>
          </p:cNvPr>
          <p:cNvSpPr txBox="1"/>
          <p:nvPr/>
        </p:nvSpPr>
        <p:spPr>
          <a:xfrm>
            <a:off x="1481771" y="2006598"/>
            <a:ext cx="9225282" cy="1515533"/>
          </a:xfrm>
          <a:prstGeom prst="rect">
            <a:avLst/>
          </a:prstGeom>
        </p:spPr>
        <p:txBody>
          <a:bodyPr vert="horz" lIns="91440" tIns="45720" rIns="91440" bIns="45720" rtlCol="0" anchor="b">
            <a:noAutofit/>
          </a:bodyPr>
          <a:lstStyle/>
          <a:p>
            <a:pPr algn="ctr" defTabSz="457200">
              <a:spcBef>
                <a:spcPct val="0"/>
              </a:spcBef>
              <a:spcAft>
                <a:spcPts val="600"/>
              </a:spcAft>
            </a:pPr>
            <a:r>
              <a:rPr lang="en-US" sz="12000" dirty="0">
                <a:ln w="3175" cmpd="sng">
                  <a:noFill/>
                </a:ln>
                <a:solidFill>
                  <a:srgbClr val="FFFFFF"/>
                </a:solidFill>
                <a:latin typeface="+mj-lt"/>
                <a:ea typeface="+mj-ea"/>
                <a:cs typeface="+mj-cs"/>
              </a:rPr>
              <a:t>Thank You</a:t>
            </a:r>
          </a:p>
        </p:txBody>
      </p:sp>
      <p:cxnSp>
        <p:nvCxnSpPr>
          <p:cNvPr id="1041" name="Straight Connector 1040">
            <a:extLst>
              <a:ext uri="{FF2B5EF4-FFF2-40B4-BE49-F238E27FC236}">
                <a16:creationId xmlns:a16="http://schemas.microsoft.com/office/drawing/2014/main" id="{B48BEE9B-A2F4-4BF3-9EAD-16E1A7FC2D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99932" y="3510608"/>
            <a:ext cx="5120640" cy="0"/>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931173"/>
      </p:ext>
    </p:extLst>
  </p:cSld>
  <p:clrMapOvr>
    <a:overrideClrMapping bg1="dk1" tx1="lt1" bg2="dk2" tx2="lt2" accent1="accent1" accent2="accent2" accent3="accent3" accent4="accent4" accent5="accent5" accent6="accent6" hlink="hlink" folHlink="folHlink"/>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7.jpeg"/></Relationships>
</file>

<file path=ppt/theme/_rels/them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image" Target="../media/image8.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7.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8.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968</TotalTime>
  <Words>18527</Words>
  <Application>Microsoft Office PowerPoint</Application>
  <PresentationFormat>Widescreen</PresentationFormat>
  <Paragraphs>1010</Paragraphs>
  <Slides>98</Slides>
  <Notes>18</Notes>
  <HiddenSlides>0</HiddenSlides>
  <MMClips>0</MMClips>
  <ScaleCrop>false</ScaleCrop>
  <HeadingPairs>
    <vt:vector size="6" baseType="variant">
      <vt:variant>
        <vt:lpstr>Fonts Used</vt:lpstr>
      </vt:variant>
      <vt:variant>
        <vt:i4>15</vt:i4>
      </vt:variant>
      <vt:variant>
        <vt:lpstr>Theme</vt:lpstr>
      </vt:variant>
      <vt:variant>
        <vt:i4>8</vt:i4>
      </vt:variant>
      <vt:variant>
        <vt:lpstr>Slide Titles</vt:lpstr>
      </vt:variant>
      <vt:variant>
        <vt:i4>98</vt:i4>
      </vt:variant>
    </vt:vector>
  </HeadingPairs>
  <TitlesOfParts>
    <vt:vector size="121" baseType="lpstr">
      <vt:lpstr>Aharoni</vt:lpstr>
      <vt:lpstr>Algerian</vt:lpstr>
      <vt:lpstr>Amasis MT Pro</vt:lpstr>
      <vt:lpstr>Amasis MT Pro Medium</vt:lpstr>
      <vt:lpstr>Arial</vt:lpstr>
      <vt:lpstr>Book Antiqua</vt:lpstr>
      <vt:lpstr>Calibri</vt:lpstr>
      <vt:lpstr>Calibri Light</vt:lpstr>
      <vt:lpstr>Garamond</vt:lpstr>
      <vt:lpstr>Lucida Sans</vt:lpstr>
      <vt:lpstr>Mangal</vt:lpstr>
      <vt:lpstr>Verdana</vt:lpstr>
      <vt:lpstr>Wingdings</vt:lpstr>
      <vt:lpstr>Wingdings 2</vt:lpstr>
      <vt:lpstr>Wingdings 3</vt:lpstr>
      <vt:lpstr>Office Theme</vt:lpstr>
      <vt:lpstr>Organic</vt:lpstr>
      <vt:lpstr>1_Office Theme</vt:lpstr>
      <vt:lpstr>2_Office Theme</vt:lpstr>
      <vt:lpstr>3_Office Theme</vt:lpstr>
      <vt:lpstr>Apex</vt:lpstr>
      <vt:lpstr>Hardcover</vt:lpstr>
      <vt:lpstr>4_Office Theme</vt:lpstr>
      <vt:lpstr>BREAST FEEDING,  BEST  FEEDING</vt:lpstr>
      <vt:lpstr> </vt:lpstr>
      <vt:lpstr>BREASTFEEDING</vt:lpstr>
      <vt:lpstr>PowerPoint Presentation</vt:lpstr>
      <vt:lpstr> Nutritional superiority</vt:lpstr>
      <vt:lpstr>Carbohydrates </vt:lpstr>
      <vt:lpstr>Proteins </vt:lpstr>
      <vt:lpstr>Fats </vt:lpstr>
      <vt:lpstr>Vitamins and Minerals </vt:lpstr>
      <vt:lpstr>Water and electrolytes  </vt:lpstr>
      <vt:lpstr>Immunological superiority   </vt:lpstr>
      <vt:lpstr>Other benefits  </vt:lpstr>
      <vt:lpstr>BENEFITS TO THE MOTHER</vt:lpstr>
      <vt:lpstr>ANATOMY AND PHYSIOLOGY </vt:lpstr>
      <vt:lpstr>BREAST ANATOMY</vt:lpstr>
      <vt:lpstr>STRUCTURE OF THE BREAST </vt:lpstr>
      <vt:lpstr> </vt:lpstr>
      <vt:lpstr>PowerPoint Presentation</vt:lpstr>
      <vt:lpstr>BLOOD SUPPLY </vt:lpstr>
      <vt:lpstr>PowerPoint Presentation</vt:lpstr>
      <vt:lpstr>PHYSIOLOGY OF BREASTFEEDING</vt:lpstr>
      <vt:lpstr>PROLACTIN REFLEX</vt:lpstr>
      <vt:lpstr>OXYTOCIN REFLEX</vt:lpstr>
      <vt:lpstr>FACTORS WHICH REDUCE MILK PRODUCTION </vt:lpstr>
      <vt:lpstr>PowerPoint Presentation</vt:lpstr>
      <vt:lpstr>REFLEXES IN THE BABY</vt:lpstr>
      <vt:lpstr>PowerPoint Presentation</vt:lpstr>
      <vt:lpstr>Suckling reflex</vt:lpstr>
      <vt:lpstr>Swallowing reflex</vt:lpstr>
      <vt:lpstr>COMPOSITION OF BREAST MILK (TERM INFANTS)</vt:lpstr>
      <vt:lpstr>Variation in composition during different Stages of lactation</vt:lpstr>
      <vt:lpstr>TYPES OF BREAST MILK</vt:lpstr>
      <vt:lpstr>TECHNIQUES OF BREAST FEEDING</vt:lpstr>
      <vt:lpstr>TRADITIONAL OR CRADLE HOLD</vt:lpstr>
      <vt:lpstr>CROSS CRADLE HOLD</vt:lpstr>
      <vt:lpstr>FOOTBALL OR CLUTCH HOLD</vt:lpstr>
      <vt:lpstr>The football hold is a good position when:</vt:lpstr>
      <vt:lpstr>SIDE-LYING POSITION</vt:lpstr>
      <vt:lpstr>LATCHING ON</vt:lpstr>
      <vt:lpstr>SIGNS OF CORRECT LATCH ON </vt:lpstr>
      <vt:lpstr>SIGNS OF CORRECT LATCH ON</vt:lpstr>
      <vt:lpstr>How to take the baby off your breast after breastfeeding??</vt:lpstr>
      <vt:lpstr>BURPING </vt:lpstr>
      <vt:lpstr>CONTRAINDICATIONS &amp; ALTERNATIVES OF BREAST FEEDING</vt:lpstr>
      <vt:lpstr>Breast Feeding may not be the best interest of the baby in following conditons:</vt:lpstr>
      <vt:lpstr>PowerPoint Presentation</vt:lpstr>
      <vt:lpstr>PowerPoint Presentation</vt:lpstr>
      <vt:lpstr>BENEFITS OUTWEIGHING THE RISKS</vt:lpstr>
      <vt:lpstr>PowerPoint Presentation</vt:lpstr>
      <vt:lpstr>ALTERNATIVES OF BREAST FEEDING</vt:lpstr>
      <vt:lpstr>EXPRESSED BREASTMILK</vt:lpstr>
      <vt:lpstr>WET NURSE  (Donor Milk): </vt:lpstr>
      <vt:lpstr>ARTIFICIAL /FORMULA FEEDING</vt:lpstr>
      <vt:lpstr>DIFFERENT FORMS OF FORMULA: </vt:lpstr>
      <vt:lpstr>READY TO USE: </vt:lpstr>
      <vt:lpstr>Liquid Concentrate Formula: </vt:lpstr>
      <vt:lpstr>POWDERED FORMULA </vt:lpstr>
      <vt:lpstr>TYPES OF FORMULA</vt:lpstr>
      <vt:lpstr>ADVANTAGE OF FORMULA FEEDING </vt:lpstr>
      <vt:lpstr>DISADVANTAGE OF FORMULA FEEDING</vt:lpstr>
      <vt:lpstr>MYTHS ABOUT BREASTFEEDING</vt:lpstr>
      <vt:lpstr>MYTHBUSTERS</vt:lpstr>
      <vt:lpstr>COLOSTRUM</vt:lpstr>
      <vt:lpstr>IF BABIES FEED A LOT…</vt:lpstr>
      <vt:lpstr>FORMULA FED BABIES…</vt:lpstr>
      <vt:lpstr>BREASTFEEDING…</vt:lpstr>
      <vt:lpstr>NEVER WAKE A SLEEPING…</vt:lpstr>
      <vt:lpstr>BREASTFEEDING PREVENTS YOU..</vt:lpstr>
      <vt:lpstr>YOU CAN’T BREASTFEED…</vt:lpstr>
      <vt:lpstr>TRUTH</vt:lpstr>
      <vt:lpstr>TRUTH</vt:lpstr>
      <vt:lpstr>PROBLEMS IN BREASTFEEDING</vt:lpstr>
      <vt:lpstr>INVERTED NIPPLE </vt:lpstr>
      <vt:lpstr>SORE NIPPLE</vt:lpstr>
      <vt:lpstr>BREAST ENGORGEMENT</vt:lpstr>
      <vt:lpstr>BREAST ENGORGEMENT</vt:lpstr>
      <vt:lpstr> PLUGGED DUCTS </vt:lpstr>
      <vt:lpstr>MASTITIS AND BREAST ABSCESS</vt:lpstr>
      <vt:lpstr>INADEQUATE MILK INTAKE</vt:lpstr>
      <vt:lpstr>BREASTFEEDING JAUNDICE</vt:lpstr>
      <vt:lpstr>BREAST MILK JAUNDICE</vt:lpstr>
      <vt:lpstr>SPECIAL SITUATIONS</vt:lpstr>
      <vt:lpstr>SPECIAL SITUATIONS</vt:lpstr>
      <vt:lpstr>SPECIAL SITUATIONS</vt:lpstr>
      <vt:lpstr>AT A GLANCE </vt:lpstr>
      <vt:lpstr>ADVANTAGES OF BREAST FEEDING</vt:lpstr>
      <vt:lpstr>ANATOMY  AND PHYSIOLOGY</vt:lpstr>
      <vt:lpstr>PowerPoint Presentation</vt:lpstr>
      <vt:lpstr>CONTRAINDICATIONS OF BREASTFEEDING</vt:lpstr>
      <vt:lpstr>PowerPoint Presentation</vt:lpstr>
      <vt:lpstr>PowerPoint Presentation</vt:lpstr>
      <vt:lpstr>PowerPoint Presentation</vt:lpstr>
      <vt:lpstr>PowerPoint Presentation</vt:lpstr>
      <vt:lpstr>PowerPoint Presentation</vt:lpstr>
      <vt:lpstr>PowerPoint Presentation</vt:lpstr>
      <vt:lpstr>BREASTFEED FOR FUTURE</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PROBLEMS IN BREASTFEEDING</dc:title>
  <dc:creator>Suman Subedi</dc:creator>
  <cp:lastModifiedBy>Sahasrabda Sai Pradhan</cp:lastModifiedBy>
  <cp:revision>69</cp:revision>
  <dcterms:created xsi:type="dcterms:W3CDTF">2015-06-17T15:32:57Z</dcterms:created>
  <dcterms:modified xsi:type="dcterms:W3CDTF">2025-07-24T04:14:40Z</dcterms:modified>
</cp:coreProperties>
</file>